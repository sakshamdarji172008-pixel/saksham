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notesMasterIdLst>
    <p:notesMasterId r:id="rId2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notesMaster" Target="notesMasters/notesMaster1.xml"/><Relationship Id="rId22" Type="http://schemas.openxmlformats.org/officeDocument/2006/relationships/presProps" Target="presProps.xml"/><Relationship Id="rId23" Type="http://schemas.openxmlformats.org/officeDocument/2006/relationships/viewProps" Target="viewProps.xml"/><Relationship Id="rId24" Type="http://schemas.openxmlformats.org/officeDocument/2006/relationships/theme" Target="theme/theme1.xml"/><Relationship Id="rId2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1.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slideLayout" Target="../slideLayouts/slideLayout1.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slideLayout" Target="../slideLayouts/slideLayout1.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1.png"/><Relationship Id="rId3" Type="http://schemas.openxmlformats.org/officeDocument/2006/relationships/slideLayout" Target="../slideLayouts/slideLayout1.xml"/><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slideLayout" Target="../slideLayouts/slideLayout1.xml"/><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slideLayout" Target="../slideLayouts/slideLayout1.xml"/><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image" Target="../media/image-18-3.png"/><Relationship Id="rId4" Type="http://schemas.openxmlformats.org/officeDocument/2006/relationships/slideLayout" Target="../slideLayouts/slideLayout1.xml"/><Relationship Id="rId5"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1C2618"/>
          </a:solidFill>
          <a:ln/>
        </p:spPr>
      </p:sp>
      <p:sp>
        <p:nvSpPr>
          <p:cNvPr id="3" name="Shape 1"/>
          <p:cNvSpPr/>
          <p:nvPr/>
        </p:nvSpPr>
        <p:spPr>
          <a:xfrm>
            <a:off x="0" y="0"/>
            <a:ext cx="4206240" cy="6858000"/>
          </a:xfrm>
          <a:prstGeom prst="rect">
            <a:avLst/>
          </a:prstGeom>
          <a:solidFill>
            <a:srgbClr val="2E3B24"/>
          </a:solidFill>
          <a:ln/>
        </p:spPr>
      </p:sp>
      <p:sp>
        <p:nvSpPr>
          <p:cNvPr id="4" name="Shape 2"/>
          <p:cNvSpPr/>
          <p:nvPr/>
        </p:nvSpPr>
        <p:spPr>
          <a:xfrm>
            <a:off x="8503920" y="1280160"/>
            <a:ext cx="3291840" cy="3291840"/>
          </a:xfrm>
          <a:prstGeom prst="ellipse">
            <a:avLst/>
          </a:prstGeom>
          <a:solidFill>
            <a:srgbClr val="44532F"/>
          </a:solidFill>
          <a:ln/>
        </p:spPr>
      </p:sp>
      <p:pic>
        <p:nvPicPr>
          <p:cNvPr id="5" name="Image 0" descr="/home/claude/ppt/icons/star.png">    </p:cNvPr>
          <p:cNvPicPr>
            <a:picLocks noChangeAspect="1"/>
          </p:cNvPicPr>
          <p:nvPr/>
        </p:nvPicPr>
        <p:blipFill>
          <a:blip r:embed="rId1"/>
          <a:stretch>
            <a:fillRect/>
          </a:stretch>
        </p:blipFill>
        <p:spPr>
          <a:xfrm>
            <a:off x="9129370" y="1905610"/>
            <a:ext cx="2040941" cy="2040941"/>
          </a:xfrm>
          <a:prstGeom prst="rect">
            <a:avLst/>
          </a:prstGeom>
        </p:spPr>
      </p:pic>
      <p:sp>
        <p:nvSpPr>
          <p:cNvPr id="6" name="Text 3"/>
          <p:cNvSpPr/>
          <p:nvPr/>
        </p:nvSpPr>
        <p:spPr>
          <a:xfrm>
            <a:off x="640080" y="1051560"/>
            <a:ext cx="3291840" cy="457200"/>
          </a:xfrm>
          <a:prstGeom prst="rect">
            <a:avLst/>
          </a:prstGeom>
          <a:noFill/>
          <a:ln/>
        </p:spPr>
        <p:txBody>
          <a:bodyPr wrap="square" rtlCol="0" anchor="ctr"/>
          <a:lstStyle/>
          <a:p>
            <a:pPr indent="0" marL="0">
              <a:buNone/>
            </a:pPr>
            <a:r>
              <a:rPr lang="en-US" sz="1600" i="1" dirty="0">
                <a:solidFill>
                  <a:srgbClr val="B8912F"/>
                </a:solidFill>
                <a:latin typeface="Cambria" pitchFamily="34" charset="0"/>
                <a:ea typeface="Cambria" pitchFamily="34" charset="-122"/>
                <a:cs typeface="Cambria" pitchFamily="34" charset="-120"/>
              </a:rPr>
              <a:t>भारतीय सशस्त्र सेना</a:t>
            </a:r>
            <a:endParaRPr lang="en-US" sz="1600" dirty="0"/>
          </a:p>
        </p:txBody>
      </p:sp>
      <p:sp>
        <p:nvSpPr>
          <p:cNvPr id="7" name="Text 4"/>
          <p:cNvSpPr/>
          <p:nvPr/>
        </p:nvSpPr>
        <p:spPr>
          <a:xfrm>
            <a:off x="594360" y="2423160"/>
            <a:ext cx="7498080" cy="2011680"/>
          </a:xfrm>
          <a:prstGeom prst="rect">
            <a:avLst/>
          </a:prstGeom>
          <a:noFill/>
          <a:ln/>
        </p:spPr>
        <p:txBody>
          <a:bodyPr wrap="square" rtlCol="0" anchor="ctr"/>
          <a:lstStyle/>
          <a:p>
            <a:pPr indent="0" marL="0">
              <a:lnSpc>
                <a:spcPct val="102000"/>
              </a:lnSpc>
              <a:buNone/>
            </a:pPr>
            <a:r>
              <a:rPr lang="en-US" sz="5400" b="1" dirty="0">
                <a:solidFill>
                  <a:srgbClr val="F7F3E8"/>
                </a:solidFill>
                <a:latin typeface="Cambria" pitchFamily="34" charset="0"/>
                <a:ea typeface="Cambria" pitchFamily="34" charset="-122"/>
                <a:cs typeface="Cambria" pitchFamily="34" charset="-120"/>
              </a:rPr>
              <a:t>INDIAN</a:t>
            </a:r>
            <a:endParaRPr lang="en-US" sz="5400" dirty="0"/>
          </a:p>
          <a:p>
            <a:pPr indent="0" marL="0">
              <a:lnSpc>
                <a:spcPct val="102000"/>
              </a:lnSpc>
              <a:buNone/>
            </a:pPr>
            <a:r>
              <a:rPr lang="en-US" sz="5400" b="1" dirty="0">
                <a:solidFill>
                  <a:srgbClr val="F7F3E8"/>
                </a:solidFill>
                <a:latin typeface="Cambria" pitchFamily="34" charset="0"/>
                <a:ea typeface="Cambria" pitchFamily="34" charset="-122"/>
                <a:cs typeface="Cambria" pitchFamily="34" charset="-120"/>
              </a:rPr>
              <a:t>ARMED FORCES</a:t>
            </a:r>
            <a:endParaRPr lang="en-US" sz="5400" dirty="0"/>
          </a:p>
        </p:txBody>
      </p:sp>
      <p:sp>
        <p:nvSpPr>
          <p:cNvPr id="8" name="Shape 5"/>
          <p:cNvSpPr/>
          <p:nvPr/>
        </p:nvSpPr>
        <p:spPr>
          <a:xfrm>
            <a:off x="658368" y="4251960"/>
            <a:ext cx="2194560" cy="0"/>
          </a:xfrm>
          <a:prstGeom prst="line">
            <a:avLst/>
          </a:prstGeom>
          <a:noFill/>
          <a:ln w="25400">
            <a:solidFill>
              <a:srgbClr val="B8912F"/>
            </a:solidFill>
            <a:prstDash val="solid"/>
          </a:ln>
        </p:spPr>
      </p:sp>
      <p:sp>
        <p:nvSpPr>
          <p:cNvPr id="9" name="Text 6"/>
          <p:cNvSpPr/>
          <p:nvPr/>
        </p:nvSpPr>
        <p:spPr>
          <a:xfrm>
            <a:off x="640080" y="4434840"/>
            <a:ext cx="7315200" cy="457200"/>
          </a:xfrm>
          <a:prstGeom prst="rect">
            <a:avLst/>
          </a:prstGeom>
          <a:noFill/>
          <a:ln/>
        </p:spPr>
        <p:txBody>
          <a:bodyPr wrap="square" rtlCol="0" anchor="ctr"/>
          <a:lstStyle/>
          <a:p>
            <a:pPr indent="0" marL="0">
              <a:buNone/>
            </a:pPr>
            <a:r>
              <a:rPr lang="en-US" sz="1600" dirty="0">
                <a:solidFill>
                  <a:srgbClr val="C9B896"/>
                </a:solidFill>
                <a:latin typeface="Calibri" pitchFamily="34" charset="0"/>
                <a:ea typeface="Calibri" pitchFamily="34" charset="-122"/>
                <a:cs typeface="Calibri" pitchFamily="34" charset="-120"/>
              </a:rPr>
              <a:t>Structure  ·  Ranks  ·  Special Forces  ·  Major Wars</a:t>
            </a:r>
            <a:endParaRPr lang="en-US" sz="1600" dirty="0"/>
          </a:p>
        </p:txBody>
      </p:sp>
      <p:sp>
        <p:nvSpPr>
          <p:cNvPr id="10" name="Text 7"/>
          <p:cNvSpPr/>
          <p:nvPr/>
        </p:nvSpPr>
        <p:spPr>
          <a:xfrm>
            <a:off x="640080" y="5212080"/>
            <a:ext cx="7589520" cy="822960"/>
          </a:xfrm>
          <a:prstGeom prst="rect">
            <a:avLst/>
          </a:prstGeom>
          <a:noFill/>
          <a:ln/>
        </p:spPr>
        <p:txBody>
          <a:bodyPr wrap="square" rtlCol="0" anchor="ctr"/>
          <a:lstStyle/>
          <a:p>
            <a:pPr indent="0" marL="0">
              <a:lnSpc>
                <a:spcPct val="120000"/>
              </a:lnSpc>
              <a:buNone/>
            </a:pPr>
            <a:r>
              <a:rPr lang="en-US" sz="1250" i="1" dirty="0">
                <a:solidFill>
                  <a:srgbClr val="C9B896"/>
                </a:solidFill>
                <a:latin typeface="Calibri" pitchFamily="34" charset="0"/>
                <a:ea typeface="Calibri" pitchFamily="34" charset="-122"/>
                <a:cs typeface="Calibri" pitchFamily="34" charset="-120"/>
              </a:rPr>
              <a:t>A comprehensive briefing on the Army, Navy, Air Force,</a:t>
            </a:r>
            <a:endParaRPr lang="en-US" sz="1250" dirty="0"/>
          </a:p>
          <a:p>
            <a:pPr indent="0" marL="0">
              <a:lnSpc>
                <a:spcPct val="120000"/>
              </a:lnSpc>
              <a:buNone/>
            </a:pPr>
            <a:r>
              <a:rPr lang="en-US" sz="1250" i="1" dirty="0">
                <a:solidFill>
                  <a:srgbClr val="C9B896"/>
                </a:solidFill>
                <a:latin typeface="Calibri" pitchFamily="34" charset="0"/>
                <a:ea typeface="Calibri" pitchFamily="34" charset="-122"/>
                <a:cs typeface="Calibri" pitchFamily="34" charset="-120"/>
              </a:rPr>
              <a:t>their rank structures, elite special-forces units, and the wars that shaped modern India.</a:t>
            </a:r>
            <a:endParaRPr lang="en-US" sz="1250" dirty="0"/>
          </a:p>
        </p:txBody>
      </p:sp>
      <p:sp>
        <p:nvSpPr>
          <p:cNvPr id="11" name="Text 8"/>
          <p:cNvSpPr/>
          <p:nvPr/>
        </p:nvSpPr>
        <p:spPr>
          <a:xfrm>
            <a:off x="457200" y="6473952"/>
            <a:ext cx="7315200" cy="274320"/>
          </a:xfrm>
          <a:prstGeom prst="rect">
            <a:avLst/>
          </a:prstGeom>
          <a:noFill/>
          <a:ln/>
        </p:spPr>
        <p:txBody>
          <a:bodyPr wrap="square" rtlCol="0" anchor="ctr"/>
          <a:lstStyle/>
          <a:p>
            <a:pPr indent="0" marL="0">
              <a:buNone/>
            </a:pPr>
            <a:r>
              <a:rPr lang="en-US" sz="1000" i="1" dirty="0">
                <a:solidFill>
                  <a:srgbClr val="C9B896"/>
                </a:solidFill>
                <a:latin typeface="Calibri" pitchFamily="34" charset="0"/>
                <a:ea typeface="Calibri" pitchFamily="34" charset="-122"/>
                <a:cs typeface="Calibri" pitchFamily="34" charset="-120"/>
              </a:rPr>
              <a:t>Indian Armed Forces  |  Confidential Briefing Deck</a:t>
            </a:r>
            <a:endParaRPr lang="en-US" sz="1000" dirty="0"/>
          </a:p>
        </p:txBody>
      </p:sp>
      <p:sp>
        <p:nvSpPr>
          <p:cNvPr id="12" name="Text 9"/>
          <p:cNvSpPr/>
          <p:nvPr/>
        </p:nvSpPr>
        <p:spPr>
          <a:xfrm>
            <a:off x="11274552" y="6473952"/>
            <a:ext cx="457200" cy="274320"/>
          </a:xfrm>
          <a:prstGeom prst="rect">
            <a:avLst/>
          </a:prstGeom>
          <a:noFill/>
          <a:ln/>
        </p:spPr>
        <p:txBody>
          <a:bodyPr wrap="square" rtlCol="0" anchor="ctr"/>
          <a:lstStyle/>
          <a:p>
            <a:pPr algn="r" indent="0" marL="0">
              <a:buNone/>
            </a:pP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F7F3E8"/>
          </a:solidFill>
          <a:ln/>
        </p:spPr>
      </p:sp>
      <p:sp>
        <p:nvSpPr>
          <p:cNvPr id="3" name="Text 1"/>
          <p:cNvSpPr/>
          <p:nvPr/>
        </p:nvSpPr>
        <p:spPr>
          <a:xfrm>
            <a:off x="566928" y="137160"/>
            <a:ext cx="7315200" cy="274320"/>
          </a:xfrm>
          <a:prstGeom prst="rect">
            <a:avLst/>
          </a:prstGeom>
          <a:noFill/>
          <a:ln/>
        </p:spPr>
        <p:txBody>
          <a:bodyPr wrap="square" rtlCol="0" anchor="ctr"/>
          <a:lstStyle/>
          <a:p>
            <a:pPr indent="0" marL="0">
              <a:buNone/>
            </a:pPr>
            <a:r>
              <a:rPr lang="en-US" sz="1200" b="1" spc="200" kern="0" dirty="0">
                <a:solidFill>
                  <a:srgbClr val="B8912F"/>
                </a:solidFill>
                <a:latin typeface="Calibri" pitchFamily="34" charset="0"/>
                <a:ea typeface="Calibri" pitchFamily="34" charset="-122"/>
                <a:cs typeface="Calibri" pitchFamily="34" charset="-120"/>
              </a:rPr>
              <a:t>COMMAND STRUCTURE</a:t>
            </a:r>
            <a:endParaRPr lang="en-US" sz="1200" dirty="0"/>
          </a:p>
        </p:txBody>
      </p:sp>
      <p:sp>
        <p:nvSpPr>
          <p:cNvPr id="4" name="Text 2"/>
          <p:cNvSpPr/>
          <p:nvPr/>
        </p:nvSpPr>
        <p:spPr>
          <a:xfrm>
            <a:off x="548640" y="365760"/>
            <a:ext cx="11091672" cy="685800"/>
          </a:xfrm>
          <a:prstGeom prst="rect">
            <a:avLst/>
          </a:prstGeom>
          <a:noFill/>
          <a:ln/>
        </p:spPr>
        <p:txBody>
          <a:bodyPr wrap="square" rtlCol="0" anchor="ctr"/>
          <a:lstStyle/>
          <a:p>
            <a:pPr indent="0" marL="0">
              <a:buNone/>
            </a:pPr>
            <a:r>
              <a:rPr lang="en-US" sz="3000" b="1" dirty="0">
                <a:solidFill>
                  <a:srgbClr val="23281C"/>
                </a:solidFill>
                <a:latin typeface="Cambria" pitchFamily="34" charset="0"/>
                <a:ea typeface="Cambria" pitchFamily="34" charset="-122"/>
                <a:cs typeface="Cambria" pitchFamily="34" charset="-120"/>
              </a:rPr>
              <a:t>One Nation, Three Services</a:t>
            </a:r>
            <a:endParaRPr lang="en-US" sz="3000" dirty="0"/>
          </a:p>
        </p:txBody>
      </p:sp>
      <p:sp>
        <p:nvSpPr>
          <p:cNvPr id="5" name="Text 3"/>
          <p:cNvSpPr/>
          <p:nvPr/>
        </p:nvSpPr>
        <p:spPr>
          <a:xfrm>
            <a:off x="566928" y="960120"/>
            <a:ext cx="10607040" cy="457200"/>
          </a:xfrm>
          <a:prstGeom prst="rect">
            <a:avLst/>
          </a:prstGeom>
          <a:noFill/>
          <a:ln/>
        </p:spPr>
        <p:txBody>
          <a:bodyPr wrap="square" rtlCol="0" anchor="ctr"/>
          <a:lstStyle/>
          <a:p>
            <a:pPr indent="0" marL="0">
              <a:buNone/>
            </a:pPr>
            <a:r>
              <a:rPr lang="en-US" sz="1300" dirty="0">
                <a:solidFill>
                  <a:srgbClr val="4A5548"/>
                </a:solidFill>
                <a:latin typeface="Calibri" pitchFamily="34" charset="0"/>
                <a:ea typeface="Calibri" pitchFamily="34" charset="-122"/>
                <a:cs typeface="Calibri" pitchFamily="34" charset="-120"/>
              </a:rPr>
              <a:t>The President of India is the Supreme Commander of the Armed Forces; operational control runs through the Ministry of Defence and the Chief of Defence Staff.</a:t>
            </a:r>
            <a:endParaRPr lang="en-US" sz="1300" dirty="0"/>
          </a:p>
        </p:txBody>
      </p:sp>
      <p:sp>
        <p:nvSpPr>
          <p:cNvPr id="6" name="Shape 4"/>
          <p:cNvSpPr/>
          <p:nvPr/>
        </p:nvSpPr>
        <p:spPr>
          <a:xfrm>
            <a:off x="4480560" y="1600200"/>
            <a:ext cx="3200400" cy="566928"/>
          </a:xfrm>
          <a:prstGeom prst="roundRect">
            <a:avLst>
              <a:gd name="adj" fmla="val 12903"/>
            </a:avLst>
          </a:prstGeom>
          <a:solidFill>
            <a:srgbClr val="23281C"/>
          </a:solidFill>
          <a:ln/>
        </p:spPr>
      </p:sp>
      <p:sp>
        <p:nvSpPr>
          <p:cNvPr id="7" name="Text 5"/>
          <p:cNvSpPr/>
          <p:nvPr/>
        </p:nvSpPr>
        <p:spPr>
          <a:xfrm>
            <a:off x="4480560" y="1600200"/>
            <a:ext cx="3200400" cy="566928"/>
          </a:xfrm>
          <a:prstGeom prst="rect">
            <a:avLst/>
          </a:prstGeom>
          <a:noFill/>
          <a:ln/>
        </p:spPr>
        <p:txBody>
          <a:bodyPr wrap="square" rtlCol="0" anchor="ctr"/>
          <a:lstStyle/>
          <a:p>
            <a:pPr algn="ctr" indent="0" marL="0">
              <a:buNone/>
            </a:pPr>
            <a:r>
              <a:rPr lang="en-US" sz="1100" b="1" dirty="0">
                <a:solidFill>
                  <a:srgbClr val="F7F3E8"/>
                </a:solidFill>
                <a:latin typeface="Calibri" pitchFamily="34" charset="0"/>
                <a:ea typeface="Calibri" pitchFamily="34" charset="-122"/>
                <a:cs typeface="Calibri" pitchFamily="34" charset="-120"/>
              </a:rPr>
              <a:t>PRESIDENT OF INDIA — Supreme Commander</a:t>
            </a:r>
            <a:endParaRPr lang="en-US" sz="1100" dirty="0"/>
          </a:p>
        </p:txBody>
      </p:sp>
      <p:sp>
        <p:nvSpPr>
          <p:cNvPr id="8" name="Shape 6"/>
          <p:cNvSpPr/>
          <p:nvPr/>
        </p:nvSpPr>
        <p:spPr>
          <a:xfrm>
            <a:off x="4937760" y="2286000"/>
            <a:ext cx="2286000" cy="457200"/>
          </a:xfrm>
          <a:prstGeom prst="roundRect">
            <a:avLst>
              <a:gd name="adj" fmla="val 14000"/>
            </a:avLst>
          </a:prstGeom>
          <a:solidFill>
            <a:srgbClr val="4A5548"/>
          </a:solidFill>
          <a:ln/>
        </p:spPr>
      </p:sp>
      <p:sp>
        <p:nvSpPr>
          <p:cNvPr id="9" name="Text 7"/>
          <p:cNvSpPr/>
          <p:nvPr/>
        </p:nvSpPr>
        <p:spPr>
          <a:xfrm>
            <a:off x="4937760" y="2286000"/>
            <a:ext cx="2286000" cy="457200"/>
          </a:xfrm>
          <a:prstGeom prst="rect">
            <a:avLst/>
          </a:prstGeom>
          <a:noFill/>
          <a:ln/>
        </p:spPr>
        <p:txBody>
          <a:bodyPr wrap="square" rtlCol="0" anchor="ctr"/>
          <a:lstStyle/>
          <a:p>
            <a:pPr algn="ctr" indent="0" marL="0">
              <a:buNone/>
            </a:pPr>
            <a:r>
              <a:rPr lang="en-US" sz="1050" b="1" dirty="0">
                <a:solidFill>
                  <a:srgbClr val="F7F3E8"/>
                </a:solidFill>
                <a:latin typeface="Calibri" pitchFamily="34" charset="0"/>
                <a:ea typeface="Calibri" pitchFamily="34" charset="-122"/>
                <a:cs typeface="Calibri" pitchFamily="34" charset="-120"/>
              </a:rPr>
              <a:t>Chief of Defence Staff (CDS)</a:t>
            </a:r>
            <a:endParaRPr lang="en-US" sz="1050" dirty="0"/>
          </a:p>
        </p:txBody>
      </p:sp>
      <p:sp>
        <p:nvSpPr>
          <p:cNvPr id="10" name="Shape 8"/>
          <p:cNvSpPr/>
          <p:nvPr/>
        </p:nvSpPr>
        <p:spPr>
          <a:xfrm>
            <a:off x="6080760" y="2743200"/>
            <a:ext cx="0" cy="320040"/>
          </a:xfrm>
          <a:prstGeom prst="line">
            <a:avLst/>
          </a:prstGeom>
          <a:noFill/>
          <a:ln w="19050">
            <a:solidFill>
              <a:srgbClr val="4A5548"/>
            </a:solidFill>
            <a:prstDash val="solid"/>
          </a:ln>
        </p:spPr>
      </p:sp>
      <p:sp>
        <p:nvSpPr>
          <p:cNvPr id="11" name="Shape 9"/>
          <p:cNvSpPr/>
          <p:nvPr/>
        </p:nvSpPr>
        <p:spPr>
          <a:xfrm>
            <a:off x="2286000" y="3063240"/>
            <a:ext cx="0" cy="228600"/>
          </a:xfrm>
          <a:prstGeom prst="line">
            <a:avLst/>
          </a:prstGeom>
          <a:noFill/>
          <a:ln w="15240">
            <a:solidFill>
              <a:srgbClr val="4A5548"/>
            </a:solidFill>
            <a:prstDash val="solid"/>
          </a:ln>
        </p:spPr>
      </p:sp>
      <p:sp>
        <p:nvSpPr>
          <p:cNvPr id="12" name="Shape 10"/>
          <p:cNvSpPr/>
          <p:nvPr/>
        </p:nvSpPr>
        <p:spPr>
          <a:xfrm>
            <a:off x="548640" y="3291840"/>
            <a:ext cx="3474720" cy="2331720"/>
          </a:xfrm>
          <a:prstGeom prst="roundRect">
            <a:avLst>
              <a:gd name="adj" fmla="val 3529"/>
            </a:avLst>
          </a:prstGeom>
          <a:solidFill>
            <a:srgbClr val="FFFFFF"/>
          </a:solidFill>
          <a:ln w="12700">
            <a:solidFill>
              <a:srgbClr val="DFD6BE"/>
            </a:solidFill>
            <a:prstDash val="solid"/>
          </a:ln>
          <a:effectLst>
            <a:outerShdw sx="100000" sy="100000" kx="0" ky="0" algn="bl" rotWithShape="0" blurRad="76200" dist="25400" dir="5400000">
              <a:srgbClr val="000000">
                <a:alpha val="18000"/>
              </a:srgbClr>
            </a:outerShdw>
          </a:effectLst>
        </p:spPr>
      </p:sp>
      <p:sp>
        <p:nvSpPr>
          <p:cNvPr id="13" name="Shape 11"/>
          <p:cNvSpPr/>
          <p:nvPr/>
        </p:nvSpPr>
        <p:spPr>
          <a:xfrm>
            <a:off x="804672" y="3520440"/>
            <a:ext cx="685800" cy="685800"/>
          </a:xfrm>
          <a:prstGeom prst="ellipse">
            <a:avLst/>
          </a:prstGeom>
          <a:solidFill>
            <a:srgbClr val="2E3B24"/>
          </a:solidFill>
          <a:ln/>
        </p:spPr>
      </p:sp>
      <p:pic>
        <p:nvPicPr>
          <p:cNvPr id="14" name="Image 0" descr="/home/claude/ppt/icons/usershield.png">    </p:cNvPr>
          <p:cNvPicPr>
            <a:picLocks noChangeAspect="1"/>
          </p:cNvPicPr>
          <p:nvPr/>
        </p:nvPicPr>
        <p:blipFill>
          <a:blip r:embed="rId1"/>
          <a:stretch>
            <a:fillRect/>
          </a:stretch>
        </p:blipFill>
        <p:spPr>
          <a:xfrm>
            <a:off x="958977" y="3674745"/>
            <a:ext cx="377190" cy="377190"/>
          </a:xfrm>
          <a:prstGeom prst="rect">
            <a:avLst/>
          </a:prstGeom>
        </p:spPr>
      </p:pic>
      <p:sp>
        <p:nvSpPr>
          <p:cNvPr id="15" name="Text 12"/>
          <p:cNvSpPr/>
          <p:nvPr/>
        </p:nvSpPr>
        <p:spPr>
          <a:xfrm>
            <a:off x="1600200" y="3520440"/>
            <a:ext cx="2286000" cy="365760"/>
          </a:xfrm>
          <a:prstGeom prst="rect">
            <a:avLst/>
          </a:prstGeom>
          <a:noFill/>
          <a:ln/>
        </p:spPr>
        <p:txBody>
          <a:bodyPr wrap="square" rtlCol="0" anchor="ctr"/>
          <a:lstStyle/>
          <a:p>
            <a:pPr indent="0" marL="0">
              <a:buNone/>
            </a:pPr>
            <a:r>
              <a:rPr lang="en-US" sz="1500" b="1" dirty="0">
                <a:solidFill>
                  <a:srgbClr val="23281C"/>
                </a:solidFill>
                <a:latin typeface="Cambria" pitchFamily="34" charset="0"/>
                <a:ea typeface="Cambria" pitchFamily="34" charset="-122"/>
                <a:cs typeface="Cambria" pitchFamily="34" charset="-120"/>
              </a:rPr>
              <a:t>INDIAN ARMY</a:t>
            </a:r>
            <a:endParaRPr lang="en-US" sz="1500" dirty="0"/>
          </a:p>
        </p:txBody>
      </p:sp>
      <p:sp>
        <p:nvSpPr>
          <p:cNvPr id="16" name="Text 13"/>
          <p:cNvSpPr/>
          <p:nvPr/>
        </p:nvSpPr>
        <p:spPr>
          <a:xfrm>
            <a:off x="1600200" y="3858768"/>
            <a:ext cx="2286000" cy="365760"/>
          </a:xfrm>
          <a:prstGeom prst="rect">
            <a:avLst/>
          </a:prstGeom>
          <a:noFill/>
          <a:ln/>
        </p:spPr>
        <p:txBody>
          <a:bodyPr wrap="square" rtlCol="0" anchor="ctr"/>
          <a:lstStyle/>
          <a:p>
            <a:pPr indent="0" marL="0">
              <a:buNone/>
            </a:pPr>
            <a:r>
              <a:rPr lang="en-US" sz="1000" i="1" dirty="0">
                <a:solidFill>
                  <a:srgbClr val="4A5548"/>
                </a:solidFill>
                <a:latin typeface="Calibri" pitchFamily="34" charset="0"/>
                <a:ea typeface="Calibri" pitchFamily="34" charset="-122"/>
                <a:cs typeface="Calibri" pitchFamily="34" charset="-120"/>
              </a:rPr>
              <a:t>Chief of the Army Staff</a:t>
            </a:r>
            <a:endParaRPr lang="en-US" sz="1000" dirty="0"/>
          </a:p>
        </p:txBody>
      </p:sp>
      <p:sp>
        <p:nvSpPr>
          <p:cNvPr id="17" name="Shape 14"/>
          <p:cNvSpPr/>
          <p:nvPr/>
        </p:nvSpPr>
        <p:spPr>
          <a:xfrm>
            <a:off x="804672" y="4434840"/>
            <a:ext cx="3017520" cy="0"/>
          </a:xfrm>
          <a:prstGeom prst="line">
            <a:avLst/>
          </a:prstGeom>
          <a:noFill/>
          <a:ln w="12700">
            <a:solidFill>
              <a:srgbClr val="E5DEC8"/>
            </a:solidFill>
            <a:prstDash val="solid"/>
          </a:ln>
        </p:spPr>
      </p:sp>
      <p:sp>
        <p:nvSpPr>
          <p:cNvPr id="18" name="Text 15"/>
          <p:cNvSpPr/>
          <p:nvPr/>
        </p:nvSpPr>
        <p:spPr>
          <a:xfrm>
            <a:off x="804672" y="4572000"/>
            <a:ext cx="3017520" cy="914400"/>
          </a:xfrm>
          <a:prstGeom prst="rect">
            <a:avLst/>
          </a:prstGeom>
          <a:noFill/>
          <a:ln/>
        </p:spPr>
        <p:txBody>
          <a:bodyPr wrap="square" rtlCol="0" anchor="ctr"/>
          <a:lstStyle/>
          <a:p>
            <a:pPr indent="0" marL="0">
              <a:lnSpc>
                <a:spcPct val="125000"/>
              </a:lnSpc>
              <a:buNone/>
            </a:pPr>
            <a:r>
              <a:rPr lang="en-US" sz="1150" dirty="0">
                <a:solidFill>
                  <a:srgbClr val="4A5548"/>
                </a:solidFill>
                <a:latin typeface="Calibri" pitchFamily="34" charset="0"/>
                <a:ea typeface="Calibri" pitchFamily="34" charset="-122"/>
                <a:cs typeface="Calibri" pitchFamily="34" charset="-120"/>
              </a:rPr>
              <a:t>1,237,000+ active</a:t>
            </a:r>
            <a:endParaRPr lang="en-US" sz="1150" dirty="0"/>
          </a:p>
          <a:p>
            <a:pPr indent="0" marL="0">
              <a:lnSpc>
                <a:spcPct val="125000"/>
              </a:lnSpc>
              <a:buNone/>
            </a:pPr>
            <a:r>
              <a:rPr lang="en-US" sz="1150" dirty="0">
                <a:solidFill>
                  <a:srgbClr val="4A5548"/>
                </a:solidFill>
                <a:latin typeface="Calibri" pitchFamily="34" charset="0"/>
                <a:ea typeface="Calibri" pitchFamily="34" charset="-122"/>
                <a:cs typeface="Calibri" pitchFamily="34" charset="-120"/>
              </a:rPr>
              <a:t>World's 2nd-largest army</a:t>
            </a:r>
            <a:endParaRPr lang="en-US" sz="1150" dirty="0"/>
          </a:p>
        </p:txBody>
      </p:sp>
      <p:sp>
        <p:nvSpPr>
          <p:cNvPr id="19" name="Shape 16"/>
          <p:cNvSpPr/>
          <p:nvPr/>
        </p:nvSpPr>
        <p:spPr>
          <a:xfrm>
            <a:off x="6309360" y="3063240"/>
            <a:ext cx="0" cy="228600"/>
          </a:xfrm>
          <a:prstGeom prst="line">
            <a:avLst/>
          </a:prstGeom>
          <a:noFill/>
          <a:ln w="15240">
            <a:solidFill>
              <a:srgbClr val="4A5548"/>
            </a:solidFill>
            <a:prstDash val="solid"/>
          </a:ln>
        </p:spPr>
      </p:sp>
      <p:sp>
        <p:nvSpPr>
          <p:cNvPr id="20" name="Shape 17"/>
          <p:cNvSpPr/>
          <p:nvPr/>
        </p:nvSpPr>
        <p:spPr>
          <a:xfrm>
            <a:off x="4572000" y="3291840"/>
            <a:ext cx="3474720" cy="2331720"/>
          </a:xfrm>
          <a:prstGeom prst="roundRect">
            <a:avLst>
              <a:gd name="adj" fmla="val 3529"/>
            </a:avLst>
          </a:prstGeom>
          <a:solidFill>
            <a:srgbClr val="FFFFFF"/>
          </a:solidFill>
          <a:ln w="12700">
            <a:solidFill>
              <a:srgbClr val="DFD6BE"/>
            </a:solidFill>
            <a:prstDash val="solid"/>
          </a:ln>
          <a:effectLst>
            <a:outerShdw sx="100000" sy="100000" kx="0" ky="0" algn="bl" rotWithShape="0" blurRad="76200" dist="25400" dir="5400000">
              <a:srgbClr val="000000">
                <a:alpha val="18000"/>
              </a:srgbClr>
            </a:outerShdw>
          </a:effectLst>
        </p:spPr>
      </p:sp>
      <p:sp>
        <p:nvSpPr>
          <p:cNvPr id="21" name="Shape 18"/>
          <p:cNvSpPr/>
          <p:nvPr/>
        </p:nvSpPr>
        <p:spPr>
          <a:xfrm>
            <a:off x="4828032" y="3520440"/>
            <a:ext cx="685800" cy="685800"/>
          </a:xfrm>
          <a:prstGeom prst="ellipse">
            <a:avLst/>
          </a:prstGeom>
          <a:solidFill>
            <a:srgbClr val="44532F"/>
          </a:solidFill>
          <a:ln/>
        </p:spPr>
      </p:sp>
      <p:pic>
        <p:nvPicPr>
          <p:cNvPr id="22" name="Image 1" descr="/home/claude/ppt/icons/anchor.png">    </p:cNvPr>
          <p:cNvPicPr>
            <a:picLocks noChangeAspect="1"/>
          </p:cNvPicPr>
          <p:nvPr/>
        </p:nvPicPr>
        <p:blipFill>
          <a:blip r:embed="rId2"/>
          <a:stretch>
            <a:fillRect/>
          </a:stretch>
        </p:blipFill>
        <p:spPr>
          <a:xfrm>
            <a:off x="4982337" y="3674745"/>
            <a:ext cx="377190" cy="377190"/>
          </a:xfrm>
          <a:prstGeom prst="rect">
            <a:avLst/>
          </a:prstGeom>
        </p:spPr>
      </p:pic>
      <p:sp>
        <p:nvSpPr>
          <p:cNvPr id="23" name="Text 19"/>
          <p:cNvSpPr/>
          <p:nvPr/>
        </p:nvSpPr>
        <p:spPr>
          <a:xfrm>
            <a:off x="5623560" y="3520440"/>
            <a:ext cx="2286000" cy="365760"/>
          </a:xfrm>
          <a:prstGeom prst="rect">
            <a:avLst/>
          </a:prstGeom>
          <a:noFill/>
          <a:ln/>
        </p:spPr>
        <p:txBody>
          <a:bodyPr wrap="square" rtlCol="0" anchor="ctr"/>
          <a:lstStyle/>
          <a:p>
            <a:pPr indent="0" marL="0">
              <a:buNone/>
            </a:pPr>
            <a:r>
              <a:rPr lang="en-US" sz="1500" b="1" dirty="0">
                <a:solidFill>
                  <a:srgbClr val="23281C"/>
                </a:solidFill>
                <a:latin typeface="Cambria" pitchFamily="34" charset="0"/>
                <a:ea typeface="Cambria" pitchFamily="34" charset="-122"/>
                <a:cs typeface="Cambria" pitchFamily="34" charset="-120"/>
              </a:rPr>
              <a:t>INDIAN NAVY</a:t>
            </a:r>
            <a:endParaRPr lang="en-US" sz="1500" dirty="0"/>
          </a:p>
        </p:txBody>
      </p:sp>
      <p:sp>
        <p:nvSpPr>
          <p:cNvPr id="24" name="Text 20"/>
          <p:cNvSpPr/>
          <p:nvPr/>
        </p:nvSpPr>
        <p:spPr>
          <a:xfrm>
            <a:off x="5623560" y="3858768"/>
            <a:ext cx="2286000" cy="365760"/>
          </a:xfrm>
          <a:prstGeom prst="rect">
            <a:avLst/>
          </a:prstGeom>
          <a:noFill/>
          <a:ln/>
        </p:spPr>
        <p:txBody>
          <a:bodyPr wrap="square" rtlCol="0" anchor="ctr"/>
          <a:lstStyle/>
          <a:p>
            <a:pPr indent="0" marL="0">
              <a:buNone/>
            </a:pPr>
            <a:r>
              <a:rPr lang="en-US" sz="1000" i="1" dirty="0">
                <a:solidFill>
                  <a:srgbClr val="4A5548"/>
                </a:solidFill>
                <a:latin typeface="Calibri" pitchFamily="34" charset="0"/>
                <a:ea typeface="Calibri" pitchFamily="34" charset="-122"/>
                <a:cs typeface="Calibri" pitchFamily="34" charset="-120"/>
              </a:rPr>
              <a:t>Chief of the Naval Staff</a:t>
            </a:r>
            <a:endParaRPr lang="en-US" sz="1000" dirty="0"/>
          </a:p>
        </p:txBody>
      </p:sp>
      <p:sp>
        <p:nvSpPr>
          <p:cNvPr id="25" name="Shape 21"/>
          <p:cNvSpPr/>
          <p:nvPr/>
        </p:nvSpPr>
        <p:spPr>
          <a:xfrm>
            <a:off x="4828032" y="4434840"/>
            <a:ext cx="3017520" cy="0"/>
          </a:xfrm>
          <a:prstGeom prst="line">
            <a:avLst/>
          </a:prstGeom>
          <a:noFill/>
          <a:ln w="12700">
            <a:solidFill>
              <a:srgbClr val="E5DEC8"/>
            </a:solidFill>
            <a:prstDash val="solid"/>
          </a:ln>
        </p:spPr>
      </p:sp>
      <p:sp>
        <p:nvSpPr>
          <p:cNvPr id="26" name="Text 22"/>
          <p:cNvSpPr/>
          <p:nvPr/>
        </p:nvSpPr>
        <p:spPr>
          <a:xfrm>
            <a:off x="4828032" y="4572000"/>
            <a:ext cx="3017520" cy="914400"/>
          </a:xfrm>
          <a:prstGeom prst="rect">
            <a:avLst/>
          </a:prstGeom>
          <a:noFill/>
          <a:ln/>
        </p:spPr>
        <p:txBody>
          <a:bodyPr wrap="square" rtlCol="0" anchor="ctr"/>
          <a:lstStyle/>
          <a:p>
            <a:pPr indent="0" marL="0">
              <a:lnSpc>
                <a:spcPct val="125000"/>
              </a:lnSpc>
              <a:buNone/>
            </a:pPr>
            <a:r>
              <a:rPr lang="en-US" sz="1150" dirty="0">
                <a:solidFill>
                  <a:srgbClr val="4A5548"/>
                </a:solidFill>
                <a:latin typeface="Calibri" pitchFamily="34" charset="0"/>
                <a:ea typeface="Calibri" pitchFamily="34" charset="-122"/>
                <a:cs typeface="Calibri" pitchFamily="34" charset="-120"/>
              </a:rPr>
              <a:t>67,000+ active</a:t>
            </a:r>
            <a:endParaRPr lang="en-US" sz="1150" dirty="0"/>
          </a:p>
          <a:p>
            <a:pPr indent="0" marL="0">
              <a:lnSpc>
                <a:spcPct val="125000"/>
              </a:lnSpc>
              <a:buNone/>
            </a:pPr>
            <a:r>
              <a:rPr lang="en-US" sz="1150" dirty="0">
                <a:solidFill>
                  <a:srgbClr val="4A5548"/>
                </a:solidFill>
                <a:latin typeface="Calibri" pitchFamily="34" charset="0"/>
                <a:ea typeface="Calibri" pitchFamily="34" charset="-122"/>
                <a:cs typeface="Calibri" pitchFamily="34" charset="-120"/>
              </a:rPr>
              <a:t>Guards 7,500 km coastline</a:t>
            </a:r>
            <a:endParaRPr lang="en-US" sz="1150" dirty="0"/>
          </a:p>
        </p:txBody>
      </p:sp>
      <p:sp>
        <p:nvSpPr>
          <p:cNvPr id="27" name="Shape 23"/>
          <p:cNvSpPr/>
          <p:nvPr/>
        </p:nvSpPr>
        <p:spPr>
          <a:xfrm>
            <a:off x="10332720" y="3063240"/>
            <a:ext cx="0" cy="228600"/>
          </a:xfrm>
          <a:prstGeom prst="line">
            <a:avLst/>
          </a:prstGeom>
          <a:noFill/>
          <a:ln w="15240">
            <a:solidFill>
              <a:srgbClr val="4A5548"/>
            </a:solidFill>
            <a:prstDash val="solid"/>
          </a:ln>
        </p:spPr>
      </p:sp>
      <p:sp>
        <p:nvSpPr>
          <p:cNvPr id="28" name="Shape 24"/>
          <p:cNvSpPr/>
          <p:nvPr/>
        </p:nvSpPr>
        <p:spPr>
          <a:xfrm>
            <a:off x="8595360" y="3291840"/>
            <a:ext cx="3474720" cy="2331720"/>
          </a:xfrm>
          <a:prstGeom prst="roundRect">
            <a:avLst>
              <a:gd name="adj" fmla="val 3529"/>
            </a:avLst>
          </a:prstGeom>
          <a:solidFill>
            <a:srgbClr val="FFFFFF"/>
          </a:solidFill>
          <a:ln w="12700">
            <a:solidFill>
              <a:srgbClr val="DFD6BE"/>
            </a:solidFill>
            <a:prstDash val="solid"/>
          </a:ln>
          <a:effectLst>
            <a:outerShdw sx="100000" sy="100000" kx="0" ky="0" algn="bl" rotWithShape="0" blurRad="76200" dist="25400" dir="5400000">
              <a:srgbClr val="000000">
                <a:alpha val="18000"/>
              </a:srgbClr>
            </a:outerShdw>
          </a:effectLst>
        </p:spPr>
      </p:sp>
      <p:sp>
        <p:nvSpPr>
          <p:cNvPr id="29" name="Shape 25"/>
          <p:cNvSpPr/>
          <p:nvPr/>
        </p:nvSpPr>
        <p:spPr>
          <a:xfrm>
            <a:off x="8851392" y="3520440"/>
            <a:ext cx="685800" cy="685800"/>
          </a:xfrm>
          <a:prstGeom prst="ellipse">
            <a:avLst/>
          </a:prstGeom>
          <a:solidFill>
            <a:srgbClr val="B8912F"/>
          </a:solidFill>
          <a:ln/>
        </p:spPr>
      </p:sp>
      <p:pic>
        <p:nvPicPr>
          <p:cNvPr id="30" name="Image 2" descr="/home/claude/ppt/icons/jet.png">    </p:cNvPr>
          <p:cNvPicPr>
            <a:picLocks noChangeAspect="1"/>
          </p:cNvPicPr>
          <p:nvPr/>
        </p:nvPicPr>
        <p:blipFill>
          <a:blip r:embed="rId3"/>
          <a:stretch>
            <a:fillRect/>
          </a:stretch>
        </p:blipFill>
        <p:spPr>
          <a:xfrm>
            <a:off x="9005697" y="3674745"/>
            <a:ext cx="377190" cy="377190"/>
          </a:xfrm>
          <a:prstGeom prst="rect">
            <a:avLst/>
          </a:prstGeom>
        </p:spPr>
      </p:pic>
      <p:sp>
        <p:nvSpPr>
          <p:cNvPr id="31" name="Text 26"/>
          <p:cNvSpPr/>
          <p:nvPr/>
        </p:nvSpPr>
        <p:spPr>
          <a:xfrm>
            <a:off x="9646920" y="3520440"/>
            <a:ext cx="2286000" cy="365760"/>
          </a:xfrm>
          <a:prstGeom prst="rect">
            <a:avLst/>
          </a:prstGeom>
          <a:noFill/>
          <a:ln/>
        </p:spPr>
        <p:txBody>
          <a:bodyPr wrap="square" rtlCol="0" anchor="ctr"/>
          <a:lstStyle/>
          <a:p>
            <a:pPr indent="0" marL="0">
              <a:buNone/>
            </a:pPr>
            <a:r>
              <a:rPr lang="en-US" sz="1500" b="1" dirty="0">
                <a:solidFill>
                  <a:srgbClr val="23281C"/>
                </a:solidFill>
                <a:latin typeface="Cambria" pitchFamily="34" charset="0"/>
                <a:ea typeface="Cambria" pitchFamily="34" charset="-122"/>
                <a:cs typeface="Cambria" pitchFamily="34" charset="-120"/>
              </a:rPr>
              <a:t>INDIAN AIR FORCE</a:t>
            </a:r>
            <a:endParaRPr lang="en-US" sz="1500" dirty="0"/>
          </a:p>
        </p:txBody>
      </p:sp>
      <p:sp>
        <p:nvSpPr>
          <p:cNvPr id="32" name="Text 27"/>
          <p:cNvSpPr/>
          <p:nvPr/>
        </p:nvSpPr>
        <p:spPr>
          <a:xfrm>
            <a:off x="9646920" y="3858768"/>
            <a:ext cx="2286000" cy="365760"/>
          </a:xfrm>
          <a:prstGeom prst="rect">
            <a:avLst/>
          </a:prstGeom>
          <a:noFill/>
          <a:ln/>
        </p:spPr>
        <p:txBody>
          <a:bodyPr wrap="square" rtlCol="0" anchor="ctr"/>
          <a:lstStyle/>
          <a:p>
            <a:pPr indent="0" marL="0">
              <a:buNone/>
            </a:pPr>
            <a:r>
              <a:rPr lang="en-US" sz="1000" i="1" dirty="0">
                <a:solidFill>
                  <a:srgbClr val="4A5548"/>
                </a:solidFill>
                <a:latin typeface="Calibri" pitchFamily="34" charset="0"/>
                <a:ea typeface="Calibri" pitchFamily="34" charset="-122"/>
                <a:cs typeface="Calibri" pitchFamily="34" charset="-120"/>
              </a:rPr>
              <a:t>Chief of the Air Staff</a:t>
            </a:r>
            <a:endParaRPr lang="en-US" sz="1000" dirty="0"/>
          </a:p>
        </p:txBody>
      </p:sp>
      <p:sp>
        <p:nvSpPr>
          <p:cNvPr id="33" name="Shape 28"/>
          <p:cNvSpPr/>
          <p:nvPr/>
        </p:nvSpPr>
        <p:spPr>
          <a:xfrm>
            <a:off x="8851392" y="4434840"/>
            <a:ext cx="3017520" cy="0"/>
          </a:xfrm>
          <a:prstGeom prst="line">
            <a:avLst/>
          </a:prstGeom>
          <a:noFill/>
          <a:ln w="12700">
            <a:solidFill>
              <a:srgbClr val="E5DEC8"/>
            </a:solidFill>
            <a:prstDash val="solid"/>
          </a:ln>
        </p:spPr>
      </p:sp>
      <p:sp>
        <p:nvSpPr>
          <p:cNvPr id="34" name="Text 29"/>
          <p:cNvSpPr/>
          <p:nvPr/>
        </p:nvSpPr>
        <p:spPr>
          <a:xfrm>
            <a:off x="8851392" y="4572000"/>
            <a:ext cx="3017520" cy="914400"/>
          </a:xfrm>
          <a:prstGeom prst="rect">
            <a:avLst/>
          </a:prstGeom>
          <a:noFill/>
          <a:ln/>
        </p:spPr>
        <p:txBody>
          <a:bodyPr wrap="square" rtlCol="0" anchor="ctr"/>
          <a:lstStyle/>
          <a:p>
            <a:pPr indent="0" marL="0">
              <a:lnSpc>
                <a:spcPct val="125000"/>
              </a:lnSpc>
              <a:buNone/>
            </a:pPr>
            <a:r>
              <a:rPr lang="en-US" sz="1150" dirty="0">
                <a:solidFill>
                  <a:srgbClr val="4A5548"/>
                </a:solidFill>
                <a:latin typeface="Calibri" pitchFamily="34" charset="0"/>
                <a:ea typeface="Calibri" pitchFamily="34" charset="-122"/>
                <a:cs typeface="Calibri" pitchFamily="34" charset="-120"/>
              </a:rPr>
              <a:t>170,000+ active</a:t>
            </a:r>
            <a:endParaRPr lang="en-US" sz="1150" dirty="0"/>
          </a:p>
          <a:p>
            <a:pPr indent="0" marL="0">
              <a:lnSpc>
                <a:spcPct val="125000"/>
              </a:lnSpc>
              <a:buNone/>
            </a:pPr>
            <a:r>
              <a:rPr lang="en-US" sz="1150" dirty="0">
                <a:solidFill>
                  <a:srgbClr val="4A5548"/>
                </a:solidFill>
                <a:latin typeface="Calibri" pitchFamily="34" charset="0"/>
                <a:ea typeface="Calibri" pitchFamily="34" charset="-122"/>
                <a:cs typeface="Calibri" pitchFamily="34" charset="-120"/>
              </a:rPr>
              <a:t>4th-largest air force</a:t>
            </a:r>
            <a:endParaRPr lang="en-US" sz="1150" dirty="0"/>
          </a:p>
        </p:txBody>
      </p:sp>
      <p:sp>
        <p:nvSpPr>
          <p:cNvPr id="35" name="Text 30"/>
          <p:cNvSpPr/>
          <p:nvPr/>
        </p:nvSpPr>
        <p:spPr>
          <a:xfrm>
            <a:off x="566928" y="5806440"/>
            <a:ext cx="11064240" cy="457200"/>
          </a:xfrm>
          <a:prstGeom prst="rect">
            <a:avLst/>
          </a:prstGeom>
          <a:noFill/>
          <a:ln/>
        </p:spPr>
        <p:txBody>
          <a:bodyPr wrap="square" rtlCol="0" anchor="ctr"/>
          <a:lstStyle/>
          <a:p>
            <a:pPr indent="0" marL="0">
              <a:buNone/>
            </a:pPr>
            <a:r>
              <a:rPr lang="en-US" sz="1050" i="1" dirty="0">
                <a:solidFill>
                  <a:srgbClr val="4A5548"/>
                </a:solidFill>
                <a:latin typeface="Calibri" pitchFamily="34" charset="0"/>
                <a:ea typeface="Calibri" pitchFamily="34" charset="-122"/>
                <a:cs typeface="Calibri" pitchFamily="34" charset="-120"/>
              </a:rPr>
              <a:t>Also part of national defence: Indian Coast Guard  ·  Strategic Forces Command  ·  Central Armed Police Forces  ·  Assam Rifles  ·  Special Frontier Force</a:t>
            </a:r>
            <a:endParaRPr lang="en-US" sz="1050" dirty="0"/>
          </a:p>
        </p:txBody>
      </p:sp>
      <p:sp>
        <p:nvSpPr>
          <p:cNvPr id="36" name="Text 31"/>
          <p:cNvSpPr/>
          <p:nvPr/>
        </p:nvSpPr>
        <p:spPr>
          <a:xfrm>
            <a:off x="457200" y="6473952"/>
            <a:ext cx="7315200" cy="274320"/>
          </a:xfrm>
          <a:prstGeom prst="rect">
            <a:avLst/>
          </a:prstGeom>
          <a:noFill/>
          <a:ln/>
        </p:spPr>
        <p:txBody>
          <a:bodyPr wrap="square" rtlCol="0" anchor="ctr"/>
          <a:lstStyle/>
          <a:p>
            <a:pPr indent="0" marL="0">
              <a:buNone/>
            </a:pPr>
            <a:r>
              <a:rPr lang="en-US" sz="1000" i="1" dirty="0">
                <a:solidFill>
                  <a:srgbClr val="4A5548"/>
                </a:solidFill>
                <a:latin typeface="Calibri" pitchFamily="34" charset="0"/>
                <a:ea typeface="Calibri" pitchFamily="34" charset="-122"/>
                <a:cs typeface="Calibri" pitchFamily="34" charset="-120"/>
              </a:rPr>
              <a:t>Indian Armed Forces</a:t>
            </a:r>
            <a:endParaRPr lang="en-US" sz="1000" dirty="0"/>
          </a:p>
        </p:txBody>
      </p:sp>
      <p:sp>
        <p:nvSpPr>
          <p:cNvPr id="37" name="Text 32"/>
          <p:cNvSpPr/>
          <p:nvPr/>
        </p:nvSpPr>
        <p:spPr>
          <a:xfrm>
            <a:off x="11274552" y="6473952"/>
            <a:ext cx="457200" cy="274320"/>
          </a:xfrm>
          <a:prstGeom prst="rect">
            <a:avLst/>
          </a:prstGeom>
          <a:noFill/>
          <a:ln/>
        </p:spPr>
        <p:txBody>
          <a:bodyPr wrap="square" rtlCol="0" anchor="ctr"/>
          <a:lstStyle/>
          <a:p>
            <a:pPr algn="r" indent="0" marL="0">
              <a:buNone/>
            </a:pPr>
            <a:r>
              <a:rPr lang="en-US" sz="1000" dirty="0">
                <a:solidFill>
                  <a:srgbClr val="4A5548"/>
                </a:solidFill>
                <a:latin typeface="Calibri" pitchFamily="34" charset="0"/>
                <a:ea typeface="Calibri" pitchFamily="34" charset="-122"/>
                <a:cs typeface="Calibri" pitchFamily="34" charset="-120"/>
              </a:rPr>
              <a:t>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2E3B24"/>
          </a:solidFill>
          <a:ln/>
        </p:spPr>
      </p:sp>
      <p:sp>
        <p:nvSpPr>
          <p:cNvPr id="3" name="Shape 1"/>
          <p:cNvSpPr/>
          <p:nvPr/>
        </p:nvSpPr>
        <p:spPr>
          <a:xfrm>
            <a:off x="0" y="0"/>
            <a:ext cx="12188952" cy="1417320"/>
          </a:xfrm>
          <a:prstGeom prst="rect">
            <a:avLst/>
          </a:prstGeom>
          <a:solidFill>
            <a:srgbClr val="1C2618"/>
          </a:solidFill>
          <a:ln/>
        </p:spPr>
      </p:sp>
      <p:sp>
        <p:nvSpPr>
          <p:cNvPr id="4" name="Shape 2"/>
          <p:cNvSpPr/>
          <p:nvPr/>
        </p:nvSpPr>
        <p:spPr>
          <a:xfrm>
            <a:off x="548640" y="320040"/>
            <a:ext cx="777240" cy="777240"/>
          </a:xfrm>
          <a:prstGeom prst="ellipse">
            <a:avLst/>
          </a:prstGeom>
          <a:solidFill>
            <a:srgbClr val="B8912F"/>
          </a:solidFill>
          <a:ln/>
        </p:spPr>
      </p:sp>
      <p:pic>
        <p:nvPicPr>
          <p:cNvPr id="5" name="Image 0" descr="/home/claude/ppt/icons/usershield.png">    </p:cNvPr>
          <p:cNvPicPr>
            <a:picLocks noChangeAspect="1"/>
          </p:cNvPicPr>
          <p:nvPr/>
        </p:nvPicPr>
        <p:blipFill>
          <a:blip r:embed="rId1"/>
          <a:stretch>
            <a:fillRect/>
          </a:stretch>
        </p:blipFill>
        <p:spPr>
          <a:xfrm>
            <a:off x="723519" y="494919"/>
            <a:ext cx="427482" cy="427482"/>
          </a:xfrm>
          <a:prstGeom prst="rect">
            <a:avLst/>
          </a:prstGeom>
        </p:spPr>
      </p:pic>
      <p:sp>
        <p:nvSpPr>
          <p:cNvPr id="6" name="Text 3"/>
          <p:cNvSpPr/>
          <p:nvPr/>
        </p:nvSpPr>
        <p:spPr>
          <a:xfrm>
            <a:off x="1463040" y="320040"/>
            <a:ext cx="7315200" cy="502920"/>
          </a:xfrm>
          <a:prstGeom prst="rect">
            <a:avLst/>
          </a:prstGeom>
          <a:noFill/>
          <a:ln/>
        </p:spPr>
        <p:txBody>
          <a:bodyPr wrap="square" rtlCol="0" anchor="ctr"/>
          <a:lstStyle/>
          <a:p>
            <a:pPr indent="0" marL="0">
              <a:buNone/>
            </a:pPr>
            <a:r>
              <a:rPr lang="en-US" sz="3000" b="1" dirty="0">
                <a:solidFill>
                  <a:srgbClr val="F7F3E8"/>
                </a:solidFill>
                <a:latin typeface="Cambria" pitchFamily="34" charset="0"/>
                <a:ea typeface="Cambria" pitchFamily="34" charset="-122"/>
                <a:cs typeface="Cambria" pitchFamily="34" charset="-120"/>
              </a:rPr>
              <a:t>INDIAN ARMY</a:t>
            </a:r>
            <a:endParaRPr lang="en-US" sz="3000" dirty="0"/>
          </a:p>
        </p:txBody>
      </p:sp>
      <p:sp>
        <p:nvSpPr>
          <p:cNvPr id="7" name="Text 4"/>
          <p:cNvSpPr/>
          <p:nvPr/>
        </p:nvSpPr>
        <p:spPr>
          <a:xfrm>
            <a:off x="1463040" y="822960"/>
            <a:ext cx="7315200" cy="365760"/>
          </a:xfrm>
          <a:prstGeom prst="rect">
            <a:avLst/>
          </a:prstGeom>
          <a:noFill/>
          <a:ln/>
        </p:spPr>
        <p:txBody>
          <a:bodyPr wrap="square" rtlCol="0" anchor="ctr"/>
          <a:lstStyle/>
          <a:p>
            <a:pPr indent="0" marL="0">
              <a:buNone/>
            </a:pPr>
            <a:r>
              <a:rPr lang="en-US" sz="1250" i="1" dirty="0">
                <a:solidFill>
                  <a:srgbClr val="B8912F"/>
                </a:solidFill>
                <a:latin typeface="Calibri" pitchFamily="34" charset="0"/>
                <a:ea typeface="Calibri" pitchFamily="34" charset="-122"/>
                <a:cs typeface="Calibri" pitchFamily="34" charset="-120"/>
              </a:rPr>
              <a:t>Bhoomi Sena  ·  "Service Before Self"</a:t>
            </a:r>
            <a:endParaRPr lang="en-US" sz="1250" dirty="0"/>
          </a:p>
        </p:txBody>
      </p:sp>
      <p:sp>
        <p:nvSpPr>
          <p:cNvPr id="8" name="Text 5"/>
          <p:cNvSpPr/>
          <p:nvPr/>
        </p:nvSpPr>
        <p:spPr>
          <a:xfrm>
            <a:off x="548640" y="1691640"/>
            <a:ext cx="2651760" cy="594360"/>
          </a:xfrm>
          <a:prstGeom prst="rect">
            <a:avLst/>
          </a:prstGeom>
          <a:noFill/>
          <a:ln/>
        </p:spPr>
        <p:txBody>
          <a:bodyPr wrap="square" rtlCol="0" anchor="ctr"/>
          <a:lstStyle/>
          <a:p>
            <a:pPr indent="0" marL="0">
              <a:buNone/>
            </a:pPr>
            <a:r>
              <a:rPr lang="en-US" sz="3000" b="1" dirty="0">
                <a:solidFill>
                  <a:srgbClr val="D9B84F"/>
                </a:solidFill>
                <a:latin typeface="Cambria" pitchFamily="34" charset="0"/>
                <a:ea typeface="Cambria" pitchFamily="34" charset="-122"/>
                <a:cs typeface="Cambria" pitchFamily="34" charset="-120"/>
              </a:rPr>
              <a:t>1.23M+</a:t>
            </a:r>
            <a:endParaRPr lang="en-US" sz="3000" dirty="0"/>
          </a:p>
        </p:txBody>
      </p:sp>
      <p:sp>
        <p:nvSpPr>
          <p:cNvPr id="9" name="Text 6"/>
          <p:cNvSpPr/>
          <p:nvPr/>
        </p:nvSpPr>
        <p:spPr>
          <a:xfrm>
            <a:off x="548640" y="2286000"/>
            <a:ext cx="2651760" cy="457200"/>
          </a:xfrm>
          <a:prstGeom prst="rect">
            <a:avLst/>
          </a:prstGeom>
          <a:noFill/>
          <a:ln/>
        </p:spPr>
        <p:txBody>
          <a:bodyPr wrap="square" rtlCol="0" anchor="ctr"/>
          <a:lstStyle/>
          <a:p>
            <a:pPr indent="0" marL="0">
              <a:buNone/>
            </a:pPr>
            <a:r>
              <a:rPr lang="en-US" sz="1100" dirty="0">
                <a:solidFill>
                  <a:srgbClr val="C9B896"/>
                </a:solidFill>
                <a:latin typeface="Calibri" pitchFamily="34" charset="0"/>
                <a:ea typeface="Calibri" pitchFamily="34" charset="-122"/>
                <a:cs typeface="Calibri" pitchFamily="34" charset="-120"/>
              </a:rPr>
              <a:t>Active personnel</a:t>
            </a:r>
            <a:endParaRPr lang="en-US" sz="1100" dirty="0"/>
          </a:p>
        </p:txBody>
      </p:sp>
      <p:sp>
        <p:nvSpPr>
          <p:cNvPr id="10" name="Text 7"/>
          <p:cNvSpPr/>
          <p:nvPr/>
        </p:nvSpPr>
        <p:spPr>
          <a:xfrm>
            <a:off x="3383280" y="1691640"/>
            <a:ext cx="2651760" cy="594360"/>
          </a:xfrm>
          <a:prstGeom prst="rect">
            <a:avLst/>
          </a:prstGeom>
          <a:noFill/>
          <a:ln/>
        </p:spPr>
        <p:txBody>
          <a:bodyPr wrap="square" rtlCol="0" anchor="ctr"/>
          <a:lstStyle/>
          <a:p>
            <a:pPr indent="0" marL="0">
              <a:buNone/>
            </a:pPr>
            <a:r>
              <a:rPr lang="en-US" sz="3000" b="1" dirty="0">
                <a:solidFill>
                  <a:srgbClr val="D9B84F"/>
                </a:solidFill>
                <a:latin typeface="Cambria" pitchFamily="34" charset="0"/>
                <a:ea typeface="Cambria" pitchFamily="34" charset="-122"/>
                <a:cs typeface="Cambria" pitchFamily="34" charset="-120"/>
              </a:rPr>
              <a:t>960K+</a:t>
            </a:r>
            <a:endParaRPr lang="en-US" sz="3000" dirty="0"/>
          </a:p>
        </p:txBody>
      </p:sp>
      <p:sp>
        <p:nvSpPr>
          <p:cNvPr id="11" name="Text 8"/>
          <p:cNvSpPr/>
          <p:nvPr/>
        </p:nvSpPr>
        <p:spPr>
          <a:xfrm>
            <a:off x="3383280" y="2286000"/>
            <a:ext cx="2651760" cy="457200"/>
          </a:xfrm>
          <a:prstGeom prst="rect">
            <a:avLst/>
          </a:prstGeom>
          <a:noFill/>
          <a:ln/>
        </p:spPr>
        <p:txBody>
          <a:bodyPr wrap="square" rtlCol="0" anchor="ctr"/>
          <a:lstStyle/>
          <a:p>
            <a:pPr indent="0" marL="0">
              <a:buNone/>
            </a:pPr>
            <a:r>
              <a:rPr lang="en-US" sz="1100" dirty="0">
                <a:solidFill>
                  <a:srgbClr val="C9B896"/>
                </a:solidFill>
                <a:latin typeface="Calibri" pitchFamily="34" charset="0"/>
                <a:ea typeface="Calibri" pitchFamily="34" charset="-122"/>
                <a:cs typeface="Calibri" pitchFamily="34" charset="-120"/>
              </a:rPr>
              <a:t>Reserve (Territorial Army)</a:t>
            </a:r>
            <a:endParaRPr lang="en-US" sz="1100" dirty="0"/>
          </a:p>
        </p:txBody>
      </p:sp>
      <p:sp>
        <p:nvSpPr>
          <p:cNvPr id="12" name="Text 9"/>
          <p:cNvSpPr/>
          <p:nvPr/>
        </p:nvSpPr>
        <p:spPr>
          <a:xfrm>
            <a:off x="6217920" y="1691640"/>
            <a:ext cx="2651760" cy="594360"/>
          </a:xfrm>
          <a:prstGeom prst="rect">
            <a:avLst/>
          </a:prstGeom>
          <a:noFill/>
          <a:ln/>
        </p:spPr>
        <p:txBody>
          <a:bodyPr wrap="square" rtlCol="0" anchor="ctr"/>
          <a:lstStyle/>
          <a:p>
            <a:pPr indent="0" marL="0">
              <a:buNone/>
            </a:pPr>
            <a:r>
              <a:rPr lang="en-US" sz="3000" b="1" dirty="0">
                <a:solidFill>
                  <a:srgbClr val="D9B84F"/>
                </a:solidFill>
                <a:latin typeface="Cambria" pitchFamily="34" charset="0"/>
                <a:ea typeface="Cambria" pitchFamily="34" charset="-122"/>
                <a:cs typeface="Cambria" pitchFamily="34" charset="-120"/>
              </a:rPr>
              <a:t>1895</a:t>
            </a:r>
            <a:endParaRPr lang="en-US" sz="3000" dirty="0"/>
          </a:p>
        </p:txBody>
      </p:sp>
      <p:sp>
        <p:nvSpPr>
          <p:cNvPr id="13" name="Text 10"/>
          <p:cNvSpPr/>
          <p:nvPr/>
        </p:nvSpPr>
        <p:spPr>
          <a:xfrm>
            <a:off x="6217920" y="2286000"/>
            <a:ext cx="2651760" cy="457200"/>
          </a:xfrm>
          <a:prstGeom prst="rect">
            <a:avLst/>
          </a:prstGeom>
          <a:noFill/>
          <a:ln/>
        </p:spPr>
        <p:txBody>
          <a:bodyPr wrap="square" rtlCol="0" anchor="ctr"/>
          <a:lstStyle/>
          <a:p>
            <a:pPr indent="0" marL="0">
              <a:buNone/>
            </a:pPr>
            <a:r>
              <a:rPr lang="en-US" sz="1100" dirty="0">
                <a:solidFill>
                  <a:srgbClr val="C9B896"/>
                </a:solidFill>
                <a:latin typeface="Calibri" pitchFamily="34" charset="0"/>
                <a:ea typeface="Calibri" pitchFamily="34" charset="-122"/>
                <a:cs typeface="Calibri" pitchFamily="34" charset="-120"/>
              </a:rPr>
              <a:t>Year established</a:t>
            </a:r>
            <a:endParaRPr lang="en-US" sz="1100" dirty="0"/>
          </a:p>
        </p:txBody>
      </p:sp>
      <p:sp>
        <p:nvSpPr>
          <p:cNvPr id="14" name="Text 11"/>
          <p:cNvSpPr/>
          <p:nvPr/>
        </p:nvSpPr>
        <p:spPr>
          <a:xfrm>
            <a:off x="9052560" y="1691640"/>
            <a:ext cx="2651760" cy="594360"/>
          </a:xfrm>
          <a:prstGeom prst="rect">
            <a:avLst/>
          </a:prstGeom>
          <a:noFill/>
          <a:ln/>
        </p:spPr>
        <p:txBody>
          <a:bodyPr wrap="square" rtlCol="0" anchor="ctr"/>
          <a:lstStyle/>
          <a:p>
            <a:pPr indent="0" marL="0">
              <a:buNone/>
            </a:pPr>
            <a:r>
              <a:rPr lang="en-US" sz="3000" b="1" dirty="0">
                <a:solidFill>
                  <a:srgbClr val="D9B84F"/>
                </a:solidFill>
                <a:latin typeface="Cambria" pitchFamily="34" charset="0"/>
                <a:ea typeface="Cambria" pitchFamily="34" charset="-122"/>
                <a:cs typeface="Cambria" pitchFamily="34" charset="-120"/>
              </a:rPr>
              <a:t>7</a:t>
            </a:r>
            <a:endParaRPr lang="en-US" sz="3000" dirty="0"/>
          </a:p>
        </p:txBody>
      </p:sp>
      <p:sp>
        <p:nvSpPr>
          <p:cNvPr id="15" name="Text 12"/>
          <p:cNvSpPr/>
          <p:nvPr/>
        </p:nvSpPr>
        <p:spPr>
          <a:xfrm>
            <a:off x="9052560" y="2286000"/>
            <a:ext cx="2651760" cy="457200"/>
          </a:xfrm>
          <a:prstGeom prst="rect">
            <a:avLst/>
          </a:prstGeom>
          <a:noFill/>
          <a:ln/>
        </p:spPr>
        <p:txBody>
          <a:bodyPr wrap="square" rtlCol="0" anchor="ctr"/>
          <a:lstStyle/>
          <a:p>
            <a:pPr indent="0" marL="0">
              <a:buNone/>
            </a:pPr>
            <a:r>
              <a:rPr lang="en-US" sz="1100" dirty="0">
                <a:solidFill>
                  <a:srgbClr val="C9B896"/>
                </a:solidFill>
                <a:latin typeface="Calibri" pitchFamily="34" charset="0"/>
                <a:ea typeface="Calibri" pitchFamily="34" charset="-122"/>
                <a:cs typeface="Calibri" pitchFamily="34" charset="-120"/>
              </a:rPr>
              <a:t>Operational Commands</a:t>
            </a:r>
            <a:endParaRPr lang="en-US" sz="1100" dirty="0"/>
          </a:p>
        </p:txBody>
      </p:sp>
      <p:sp>
        <p:nvSpPr>
          <p:cNvPr id="16" name="Shape 13"/>
          <p:cNvSpPr/>
          <p:nvPr/>
        </p:nvSpPr>
        <p:spPr>
          <a:xfrm>
            <a:off x="548640" y="2880360"/>
            <a:ext cx="11064240" cy="0"/>
          </a:xfrm>
          <a:prstGeom prst="line">
            <a:avLst/>
          </a:prstGeom>
          <a:noFill/>
          <a:ln w="12700">
            <a:solidFill>
              <a:srgbClr val="44532F"/>
            </a:solidFill>
            <a:prstDash val="solid"/>
          </a:ln>
        </p:spPr>
      </p:sp>
      <p:sp>
        <p:nvSpPr>
          <p:cNvPr id="17" name="Text 14"/>
          <p:cNvSpPr/>
          <p:nvPr/>
        </p:nvSpPr>
        <p:spPr>
          <a:xfrm>
            <a:off x="548640" y="3108960"/>
            <a:ext cx="5486400" cy="320040"/>
          </a:xfrm>
          <a:prstGeom prst="rect">
            <a:avLst/>
          </a:prstGeom>
          <a:noFill/>
          <a:ln/>
        </p:spPr>
        <p:txBody>
          <a:bodyPr wrap="square" rtlCol="0" anchor="ctr"/>
          <a:lstStyle/>
          <a:p>
            <a:pPr indent="0" marL="0">
              <a:buNone/>
            </a:pPr>
            <a:r>
              <a:rPr lang="en-US" sz="1300" b="1" spc="100" kern="0" dirty="0">
                <a:solidFill>
                  <a:srgbClr val="B8912F"/>
                </a:solidFill>
                <a:latin typeface="Calibri" pitchFamily="34" charset="0"/>
                <a:ea typeface="Calibri" pitchFamily="34" charset="-122"/>
                <a:cs typeface="Calibri" pitchFamily="34" charset="-120"/>
              </a:rPr>
              <a:t>COMPOSITION</a:t>
            </a:r>
            <a:endParaRPr lang="en-US" sz="1300" dirty="0"/>
          </a:p>
        </p:txBody>
      </p:sp>
      <p:sp>
        <p:nvSpPr>
          <p:cNvPr id="18" name="Text 15"/>
          <p:cNvSpPr/>
          <p:nvPr/>
        </p:nvSpPr>
        <p:spPr>
          <a:xfrm>
            <a:off x="548640" y="3474720"/>
            <a:ext cx="5486400" cy="3017520"/>
          </a:xfrm>
          <a:prstGeom prst="rect">
            <a:avLst/>
          </a:prstGeom>
          <a:noFill/>
          <a:ln/>
        </p:spPr>
        <p:txBody>
          <a:bodyPr wrap="square" rtlCol="0" anchor="ctr"/>
          <a:lstStyle/>
          <a:p>
            <a:pPr marL="342900" indent="-342900">
              <a:lnSpc>
                <a:spcPct val="130000"/>
              </a:lnSpc>
              <a:spcAft>
                <a:spcPts val="800"/>
              </a:spcAft>
              <a:buSzPct val="100000"/>
              <a:buChar char="•"/>
            </a:pPr>
            <a:r>
              <a:rPr lang="en-US" sz="1150" dirty="0">
                <a:solidFill>
                  <a:srgbClr val="F7F3E8"/>
                </a:solidFill>
                <a:latin typeface="Calibri" pitchFamily="34" charset="0"/>
                <a:ea typeface="Calibri" pitchFamily="34" charset="-122"/>
                <a:cs typeface="Calibri" pitchFamily="34" charset="-120"/>
              </a:rPr>
              <a:t>World's second-largest standing army; primary land warfare force.</a:t>
            </a:r>
            <a:endParaRPr lang="en-US" sz="1150" dirty="0"/>
          </a:p>
          <a:p>
            <a:pPr marL="342900" indent="-342900">
              <a:lnSpc>
                <a:spcPct val="130000"/>
              </a:lnSpc>
              <a:spcAft>
                <a:spcPts val="800"/>
              </a:spcAft>
              <a:buSzPct val="100000"/>
              <a:buChar char="•"/>
            </a:pPr>
            <a:r>
              <a:rPr lang="en-US" sz="1150" dirty="0">
                <a:solidFill>
                  <a:srgbClr val="F7F3E8"/>
                </a:solidFill>
                <a:latin typeface="Calibri" pitchFamily="34" charset="0"/>
                <a:ea typeface="Calibri" pitchFamily="34" charset="-122"/>
                <a:cs typeface="Calibri" pitchFamily="34" charset="-120"/>
              </a:rPr>
              <a:t>Organised into Regiments — Gorkha, Rajput, Sikh, Maratha, Punjab, Dogra, Jat, Kumaon, Garhwal, Madras, Mahar and more.</a:t>
            </a:r>
            <a:endParaRPr lang="en-US" sz="1150" dirty="0"/>
          </a:p>
          <a:p>
            <a:pPr marL="342900" indent="-342900">
              <a:lnSpc>
                <a:spcPct val="130000"/>
              </a:lnSpc>
              <a:spcAft>
                <a:spcPts val="800"/>
              </a:spcAft>
              <a:buSzPct val="100000"/>
              <a:buChar char="•"/>
            </a:pPr>
            <a:r>
              <a:rPr lang="en-US" sz="1150" dirty="0">
                <a:solidFill>
                  <a:srgbClr val="F7F3E8"/>
                </a:solidFill>
                <a:latin typeface="Calibri" pitchFamily="34" charset="0"/>
                <a:ea typeface="Calibri" pitchFamily="34" charset="-122"/>
                <a:cs typeface="Calibri" pitchFamily="34" charset="-120"/>
              </a:rPr>
              <a:t>Arms &amp; Services: Infantry, Armoured Corps, Artillery, Army Aviation, Engineers, Signals, Mechanised Infantry, Army Air Defence.</a:t>
            </a:r>
            <a:endParaRPr lang="en-US" sz="1150" dirty="0"/>
          </a:p>
          <a:p>
            <a:pPr marL="342900" indent="-342900">
              <a:lnSpc>
                <a:spcPct val="130000"/>
              </a:lnSpc>
              <a:spcAft>
                <a:spcPts val="800"/>
              </a:spcAft>
              <a:buSzPct val="100000"/>
              <a:buChar char="•"/>
            </a:pPr>
            <a:r>
              <a:rPr lang="en-US" sz="1150" dirty="0">
                <a:solidFill>
                  <a:srgbClr val="F7F3E8"/>
                </a:solidFill>
                <a:latin typeface="Calibri" pitchFamily="34" charset="0"/>
                <a:ea typeface="Calibri" pitchFamily="34" charset="-122"/>
                <a:cs typeface="Calibri" pitchFamily="34" charset="-120"/>
              </a:rPr>
              <a:t>Commands: Northern, Western, Eastern, Southern, Central, South Western, and Army Training Command (ARTRAC).</a:t>
            </a:r>
            <a:endParaRPr lang="en-US" sz="1150" dirty="0"/>
          </a:p>
        </p:txBody>
      </p:sp>
      <p:sp>
        <p:nvSpPr>
          <p:cNvPr id="19" name="Text 16"/>
          <p:cNvSpPr/>
          <p:nvPr/>
        </p:nvSpPr>
        <p:spPr>
          <a:xfrm>
            <a:off x="6355080" y="3108960"/>
            <a:ext cx="5303520" cy="320040"/>
          </a:xfrm>
          <a:prstGeom prst="rect">
            <a:avLst/>
          </a:prstGeom>
          <a:noFill/>
          <a:ln/>
        </p:spPr>
        <p:txBody>
          <a:bodyPr wrap="square" rtlCol="0" anchor="ctr"/>
          <a:lstStyle/>
          <a:p>
            <a:pPr indent="0" marL="0">
              <a:buNone/>
            </a:pPr>
            <a:r>
              <a:rPr lang="en-US" sz="1300" b="1" spc="100" kern="0" dirty="0">
                <a:solidFill>
                  <a:srgbClr val="B8912F"/>
                </a:solidFill>
                <a:latin typeface="Calibri" pitchFamily="34" charset="0"/>
                <a:ea typeface="Calibri" pitchFamily="34" charset="-122"/>
                <a:cs typeface="Calibri" pitchFamily="34" charset="-120"/>
              </a:rPr>
              <a:t>KEY EQUIPMENT</a:t>
            </a:r>
            <a:endParaRPr lang="en-US" sz="1300" dirty="0"/>
          </a:p>
        </p:txBody>
      </p:sp>
      <p:sp>
        <p:nvSpPr>
          <p:cNvPr id="20" name="Text 17"/>
          <p:cNvSpPr/>
          <p:nvPr/>
        </p:nvSpPr>
        <p:spPr>
          <a:xfrm>
            <a:off x="6355080" y="3474720"/>
            <a:ext cx="5303520" cy="3017520"/>
          </a:xfrm>
          <a:prstGeom prst="rect">
            <a:avLst/>
          </a:prstGeom>
          <a:noFill/>
          <a:ln/>
        </p:spPr>
        <p:txBody>
          <a:bodyPr wrap="square" rtlCol="0" anchor="ctr"/>
          <a:lstStyle/>
          <a:p>
            <a:pPr marL="342900" indent="-342900">
              <a:lnSpc>
                <a:spcPct val="130000"/>
              </a:lnSpc>
              <a:spcAft>
                <a:spcPts val="800"/>
              </a:spcAft>
              <a:buSzPct val="100000"/>
              <a:buChar char="•"/>
            </a:pPr>
            <a:r>
              <a:rPr lang="en-US" sz="1150" dirty="0">
                <a:solidFill>
                  <a:srgbClr val="F7F3E8"/>
                </a:solidFill>
                <a:latin typeface="Calibri" pitchFamily="34" charset="0"/>
                <a:ea typeface="Calibri" pitchFamily="34" charset="-122"/>
                <a:cs typeface="Calibri" pitchFamily="34" charset="-120"/>
              </a:rPr>
              <a:t>Main Battle Tanks: T-90 Bhishma, T-72 Ajeya, Arjun Mk-1A</a:t>
            </a:r>
            <a:endParaRPr lang="en-US" sz="1150" dirty="0"/>
          </a:p>
          <a:p>
            <a:pPr marL="342900" indent="-342900">
              <a:lnSpc>
                <a:spcPct val="130000"/>
              </a:lnSpc>
              <a:spcAft>
                <a:spcPts val="800"/>
              </a:spcAft>
              <a:buSzPct val="100000"/>
              <a:buChar char="•"/>
            </a:pPr>
            <a:r>
              <a:rPr lang="en-US" sz="1150" dirty="0">
                <a:solidFill>
                  <a:srgbClr val="F7F3E8"/>
                </a:solidFill>
                <a:latin typeface="Calibri" pitchFamily="34" charset="0"/>
                <a:ea typeface="Calibri" pitchFamily="34" charset="-122"/>
                <a:cs typeface="Calibri" pitchFamily="34" charset="-120"/>
              </a:rPr>
              <a:t>Artillery: K9 Vajra-T, Dhanush, Pinaka Multi-Barrel Rocket System</a:t>
            </a:r>
            <a:endParaRPr lang="en-US" sz="1150" dirty="0"/>
          </a:p>
          <a:p>
            <a:pPr marL="342900" indent="-342900">
              <a:lnSpc>
                <a:spcPct val="130000"/>
              </a:lnSpc>
              <a:spcAft>
                <a:spcPts val="800"/>
              </a:spcAft>
              <a:buSzPct val="100000"/>
              <a:buChar char="•"/>
            </a:pPr>
            <a:r>
              <a:rPr lang="en-US" sz="1150" dirty="0">
                <a:solidFill>
                  <a:srgbClr val="F7F3E8"/>
                </a:solidFill>
                <a:latin typeface="Calibri" pitchFamily="34" charset="0"/>
                <a:ea typeface="Calibri" pitchFamily="34" charset="-122"/>
                <a:cs typeface="Calibri" pitchFamily="34" charset="-120"/>
              </a:rPr>
              <a:t>Missiles: BrahMos, Akash air-defence, Agni &amp; Prithvi (Strategic Forces)</a:t>
            </a:r>
            <a:endParaRPr lang="en-US" sz="1150" dirty="0"/>
          </a:p>
          <a:p>
            <a:pPr marL="342900" indent="-342900">
              <a:lnSpc>
                <a:spcPct val="130000"/>
              </a:lnSpc>
              <a:spcAft>
                <a:spcPts val="800"/>
              </a:spcAft>
              <a:buSzPct val="100000"/>
              <a:buChar char="•"/>
            </a:pPr>
            <a:r>
              <a:rPr lang="en-US" sz="1150" dirty="0">
                <a:solidFill>
                  <a:srgbClr val="F7F3E8"/>
                </a:solidFill>
                <a:latin typeface="Calibri" pitchFamily="34" charset="0"/>
                <a:ea typeface="Calibri" pitchFamily="34" charset="-122"/>
                <a:cs typeface="Calibri" pitchFamily="34" charset="-120"/>
              </a:rPr>
              <a:t>Infantry weapons: SIG716, AK-203, INSAS; Army Aviation Corps operates Rudra &amp; Prachand attack helicopters</a:t>
            </a:r>
            <a:endParaRPr lang="en-US" sz="1150" dirty="0"/>
          </a:p>
        </p:txBody>
      </p:sp>
      <p:sp>
        <p:nvSpPr>
          <p:cNvPr id="21" name="Text 18"/>
          <p:cNvSpPr/>
          <p:nvPr/>
        </p:nvSpPr>
        <p:spPr>
          <a:xfrm>
            <a:off x="457200" y="6473952"/>
            <a:ext cx="7315200" cy="274320"/>
          </a:xfrm>
          <a:prstGeom prst="rect">
            <a:avLst/>
          </a:prstGeom>
          <a:noFill/>
          <a:ln/>
        </p:spPr>
        <p:txBody>
          <a:bodyPr wrap="square" rtlCol="0" anchor="ctr"/>
          <a:lstStyle/>
          <a:p>
            <a:pPr indent="0" marL="0">
              <a:buNone/>
            </a:pPr>
            <a:r>
              <a:rPr lang="en-US" sz="1000" i="1" dirty="0">
                <a:solidFill>
                  <a:srgbClr val="C9B896"/>
                </a:solidFill>
                <a:latin typeface="Calibri" pitchFamily="34" charset="0"/>
                <a:ea typeface="Calibri" pitchFamily="34" charset="-122"/>
                <a:cs typeface="Calibri" pitchFamily="34" charset="-120"/>
              </a:rPr>
              <a:t>Indian Armed Forces  |  Indian Army</a:t>
            </a:r>
            <a:endParaRPr lang="en-US" sz="1000" dirty="0"/>
          </a:p>
        </p:txBody>
      </p:sp>
      <p:sp>
        <p:nvSpPr>
          <p:cNvPr id="22" name="Text 19"/>
          <p:cNvSpPr/>
          <p:nvPr/>
        </p:nvSpPr>
        <p:spPr>
          <a:xfrm>
            <a:off x="11274552" y="6473952"/>
            <a:ext cx="457200" cy="274320"/>
          </a:xfrm>
          <a:prstGeom prst="rect">
            <a:avLst/>
          </a:prstGeom>
          <a:noFill/>
          <a:ln/>
        </p:spPr>
        <p:txBody>
          <a:bodyPr wrap="square" rtlCol="0" anchor="ctr"/>
          <a:lstStyle/>
          <a:p>
            <a:pPr algn="r" indent="0" marL="0">
              <a:buNone/>
            </a:pPr>
            <a:r>
              <a:rPr lang="en-US" sz="1000" dirty="0">
                <a:solidFill>
                  <a:srgbClr val="C9B896"/>
                </a:solidFill>
                <a:latin typeface="Calibri" pitchFamily="34" charset="0"/>
                <a:ea typeface="Calibri" pitchFamily="34" charset="-122"/>
                <a:cs typeface="Calibri" pitchFamily="34" charset="-120"/>
              </a:rPr>
              <a:t>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EFE8D6"/>
          </a:solidFill>
          <a:ln/>
        </p:spPr>
      </p:sp>
      <p:sp>
        <p:nvSpPr>
          <p:cNvPr id="3" name="Text 1"/>
          <p:cNvSpPr/>
          <p:nvPr/>
        </p:nvSpPr>
        <p:spPr>
          <a:xfrm>
            <a:off x="566928" y="137160"/>
            <a:ext cx="7315200" cy="274320"/>
          </a:xfrm>
          <a:prstGeom prst="rect">
            <a:avLst/>
          </a:prstGeom>
          <a:noFill/>
          <a:ln/>
        </p:spPr>
        <p:txBody>
          <a:bodyPr wrap="square" rtlCol="0" anchor="ctr"/>
          <a:lstStyle/>
          <a:p>
            <a:pPr indent="0" marL="0">
              <a:buNone/>
            </a:pPr>
            <a:r>
              <a:rPr lang="en-US" sz="1200" b="1" spc="200" kern="0" dirty="0">
                <a:solidFill>
                  <a:srgbClr val="B8912F"/>
                </a:solidFill>
                <a:latin typeface="Calibri" pitchFamily="34" charset="0"/>
                <a:ea typeface="Calibri" pitchFamily="34" charset="-122"/>
                <a:cs typeface="Calibri" pitchFamily="34" charset="-120"/>
              </a:rPr>
              <a:t>INDIAN ARMY</a:t>
            </a:r>
            <a:endParaRPr lang="en-US" sz="1200" dirty="0"/>
          </a:p>
        </p:txBody>
      </p:sp>
      <p:sp>
        <p:nvSpPr>
          <p:cNvPr id="4" name="Text 2"/>
          <p:cNvSpPr/>
          <p:nvPr/>
        </p:nvSpPr>
        <p:spPr>
          <a:xfrm>
            <a:off x="548640" y="365760"/>
            <a:ext cx="11091672" cy="685800"/>
          </a:xfrm>
          <a:prstGeom prst="rect">
            <a:avLst/>
          </a:prstGeom>
          <a:noFill/>
          <a:ln/>
        </p:spPr>
        <p:txBody>
          <a:bodyPr wrap="square" rtlCol="0" anchor="ctr"/>
          <a:lstStyle/>
          <a:p>
            <a:pPr indent="0" marL="0">
              <a:buNone/>
            </a:pPr>
            <a:r>
              <a:rPr lang="en-US" sz="3000" b="1" dirty="0">
                <a:solidFill>
                  <a:srgbClr val="23281C"/>
                </a:solidFill>
                <a:latin typeface="Cambria" pitchFamily="34" charset="0"/>
                <a:ea typeface="Cambria" pitchFamily="34" charset="-122"/>
                <a:cs typeface="Cambria" pitchFamily="34" charset="-120"/>
              </a:rPr>
              <a:t>Officer Ranks — Highest to Lowest</a:t>
            </a:r>
            <a:endParaRPr lang="en-US" sz="3000" dirty="0"/>
          </a:p>
        </p:txBody>
      </p:sp>
      <p:sp>
        <p:nvSpPr>
          <p:cNvPr id="5" name="Shape 3"/>
          <p:cNvSpPr/>
          <p:nvPr/>
        </p:nvSpPr>
        <p:spPr>
          <a:xfrm>
            <a:off x="10607040" y="320040"/>
            <a:ext cx="822960" cy="822960"/>
          </a:xfrm>
          <a:prstGeom prst="ellipse">
            <a:avLst/>
          </a:prstGeom>
          <a:solidFill>
            <a:srgbClr val="2E3B24"/>
          </a:solidFill>
          <a:ln/>
        </p:spPr>
      </p:sp>
      <p:pic>
        <p:nvPicPr>
          <p:cNvPr id="6" name="Image 0" descr="/home/claude/ppt/icons/star.png">    </p:cNvPr>
          <p:cNvPicPr>
            <a:picLocks noChangeAspect="1"/>
          </p:cNvPicPr>
          <p:nvPr/>
        </p:nvPicPr>
        <p:blipFill>
          <a:blip r:embed="rId1"/>
          <a:stretch>
            <a:fillRect/>
          </a:stretch>
        </p:blipFill>
        <p:spPr>
          <a:xfrm>
            <a:off x="10792206" y="505206"/>
            <a:ext cx="452628" cy="452628"/>
          </a:xfrm>
          <a:prstGeom prst="rect">
            <a:avLst/>
          </a:prstGeom>
        </p:spPr>
      </p:pic>
      <p:sp>
        <p:nvSpPr>
          <p:cNvPr id="7" name="Shape 4"/>
          <p:cNvSpPr/>
          <p:nvPr/>
        </p:nvSpPr>
        <p:spPr>
          <a:xfrm>
            <a:off x="548640" y="1371600"/>
            <a:ext cx="6949440" cy="402336"/>
          </a:xfrm>
          <a:prstGeom prst="rect">
            <a:avLst/>
          </a:prstGeom>
          <a:solidFill>
            <a:srgbClr val="2E3B24"/>
          </a:solidFill>
          <a:ln/>
        </p:spPr>
      </p:sp>
      <p:sp>
        <p:nvSpPr>
          <p:cNvPr id="8" name="Text 5"/>
          <p:cNvSpPr/>
          <p:nvPr/>
        </p:nvSpPr>
        <p:spPr>
          <a:xfrm>
            <a:off x="603504" y="1371600"/>
            <a:ext cx="365760" cy="402336"/>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9" name="Text 6"/>
          <p:cNvSpPr/>
          <p:nvPr/>
        </p:nvSpPr>
        <p:spPr>
          <a:xfrm>
            <a:off x="1005840" y="1371600"/>
            <a:ext cx="6400800" cy="402336"/>
          </a:xfrm>
          <a:prstGeom prst="rect">
            <a:avLst/>
          </a:prstGeom>
          <a:noFill/>
          <a:ln/>
        </p:spPr>
        <p:txBody>
          <a:bodyPr wrap="square"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Field Marshal</a:t>
            </a:r>
            <a:endParaRPr lang="en-US" sz="1250" dirty="0"/>
          </a:p>
        </p:txBody>
      </p:sp>
      <p:sp>
        <p:nvSpPr>
          <p:cNvPr id="10" name="Text 7"/>
          <p:cNvSpPr/>
          <p:nvPr/>
        </p:nvSpPr>
        <p:spPr>
          <a:xfrm>
            <a:off x="7662672" y="1371600"/>
            <a:ext cx="5120640" cy="402336"/>
          </a:xfrm>
          <a:prstGeom prst="rect">
            <a:avLst/>
          </a:prstGeom>
          <a:noFill/>
          <a:ln/>
        </p:spPr>
        <p:txBody>
          <a:bodyPr wrap="square" rtlCol="0" anchor="ctr"/>
          <a:lstStyle/>
          <a:p>
            <a:pPr indent="0" marL="0">
              <a:buNone/>
            </a:pPr>
            <a:r>
              <a:rPr lang="en-US" sz="1050" i="1" dirty="0">
                <a:solidFill>
                  <a:srgbClr val="4A5548"/>
                </a:solidFill>
                <a:latin typeface="Calibri" pitchFamily="34" charset="0"/>
                <a:ea typeface="Calibri" pitchFamily="34" charset="-122"/>
                <a:cs typeface="Calibri" pitchFamily="34" charset="-120"/>
              </a:rPr>
              <a:t>5-star · ceremonial, war-time only — held by just 2 officers ever</a:t>
            </a:r>
            <a:endParaRPr lang="en-US" sz="1050" dirty="0"/>
          </a:p>
        </p:txBody>
      </p:sp>
      <p:sp>
        <p:nvSpPr>
          <p:cNvPr id="11" name="Shape 8"/>
          <p:cNvSpPr/>
          <p:nvPr/>
        </p:nvSpPr>
        <p:spPr>
          <a:xfrm>
            <a:off x="548640" y="1856232"/>
            <a:ext cx="6502400" cy="402336"/>
          </a:xfrm>
          <a:prstGeom prst="rect">
            <a:avLst/>
          </a:prstGeom>
          <a:solidFill>
            <a:srgbClr val="44532F"/>
          </a:solidFill>
          <a:ln/>
        </p:spPr>
      </p:sp>
      <p:sp>
        <p:nvSpPr>
          <p:cNvPr id="12" name="Text 9"/>
          <p:cNvSpPr/>
          <p:nvPr/>
        </p:nvSpPr>
        <p:spPr>
          <a:xfrm>
            <a:off x="603504" y="1856232"/>
            <a:ext cx="365760" cy="402336"/>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13" name="Text 10"/>
          <p:cNvSpPr/>
          <p:nvPr/>
        </p:nvSpPr>
        <p:spPr>
          <a:xfrm>
            <a:off x="1005840" y="1856232"/>
            <a:ext cx="5953760" cy="402336"/>
          </a:xfrm>
          <a:prstGeom prst="rect">
            <a:avLst/>
          </a:prstGeom>
          <a:noFill/>
          <a:ln/>
        </p:spPr>
        <p:txBody>
          <a:bodyPr wrap="square"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General</a:t>
            </a:r>
            <a:endParaRPr lang="en-US" sz="1250" dirty="0"/>
          </a:p>
        </p:txBody>
      </p:sp>
      <p:sp>
        <p:nvSpPr>
          <p:cNvPr id="14" name="Text 11"/>
          <p:cNvSpPr/>
          <p:nvPr/>
        </p:nvSpPr>
        <p:spPr>
          <a:xfrm>
            <a:off x="7215632" y="1856232"/>
            <a:ext cx="5120640" cy="402336"/>
          </a:xfrm>
          <a:prstGeom prst="rect">
            <a:avLst/>
          </a:prstGeom>
          <a:noFill/>
          <a:ln/>
        </p:spPr>
        <p:txBody>
          <a:bodyPr wrap="square" rtlCol="0" anchor="ctr"/>
          <a:lstStyle/>
          <a:p>
            <a:pPr indent="0" marL="0">
              <a:buNone/>
            </a:pPr>
            <a:r>
              <a:rPr lang="en-US" sz="1050" i="1" dirty="0">
                <a:solidFill>
                  <a:srgbClr val="4A5548"/>
                </a:solidFill>
                <a:latin typeface="Calibri" pitchFamily="34" charset="0"/>
                <a:ea typeface="Calibri" pitchFamily="34" charset="-122"/>
                <a:cs typeface="Calibri" pitchFamily="34" charset="-120"/>
              </a:rPr>
              <a:t>4-star · Chief of the Army Staff (COAS)</a:t>
            </a:r>
            <a:endParaRPr lang="en-US" sz="1050" dirty="0"/>
          </a:p>
        </p:txBody>
      </p:sp>
      <p:sp>
        <p:nvSpPr>
          <p:cNvPr id="15" name="Shape 12"/>
          <p:cNvSpPr/>
          <p:nvPr/>
        </p:nvSpPr>
        <p:spPr>
          <a:xfrm>
            <a:off x="548640" y="2340864"/>
            <a:ext cx="6055360" cy="402336"/>
          </a:xfrm>
          <a:prstGeom prst="rect">
            <a:avLst/>
          </a:prstGeom>
          <a:solidFill>
            <a:srgbClr val="2E3B24"/>
          </a:solidFill>
          <a:ln/>
        </p:spPr>
      </p:sp>
      <p:sp>
        <p:nvSpPr>
          <p:cNvPr id="16" name="Text 13"/>
          <p:cNvSpPr/>
          <p:nvPr/>
        </p:nvSpPr>
        <p:spPr>
          <a:xfrm>
            <a:off x="603504" y="2340864"/>
            <a:ext cx="365760" cy="402336"/>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17" name="Text 14"/>
          <p:cNvSpPr/>
          <p:nvPr/>
        </p:nvSpPr>
        <p:spPr>
          <a:xfrm>
            <a:off x="1005840" y="2340864"/>
            <a:ext cx="5506720" cy="402336"/>
          </a:xfrm>
          <a:prstGeom prst="rect">
            <a:avLst/>
          </a:prstGeom>
          <a:noFill/>
          <a:ln/>
        </p:spPr>
        <p:txBody>
          <a:bodyPr wrap="square"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Lieutenant General</a:t>
            </a:r>
            <a:endParaRPr lang="en-US" sz="1250" dirty="0"/>
          </a:p>
        </p:txBody>
      </p:sp>
      <p:sp>
        <p:nvSpPr>
          <p:cNvPr id="18" name="Text 15"/>
          <p:cNvSpPr/>
          <p:nvPr/>
        </p:nvSpPr>
        <p:spPr>
          <a:xfrm>
            <a:off x="6768592" y="2340864"/>
            <a:ext cx="5120640" cy="402336"/>
          </a:xfrm>
          <a:prstGeom prst="rect">
            <a:avLst/>
          </a:prstGeom>
          <a:noFill/>
          <a:ln/>
        </p:spPr>
        <p:txBody>
          <a:bodyPr wrap="square" rtlCol="0" anchor="ctr"/>
          <a:lstStyle/>
          <a:p>
            <a:pPr indent="0" marL="0">
              <a:buNone/>
            </a:pPr>
            <a:r>
              <a:rPr lang="en-US" sz="1050" i="1" dirty="0">
                <a:solidFill>
                  <a:srgbClr val="4A5548"/>
                </a:solidFill>
                <a:latin typeface="Calibri" pitchFamily="34" charset="0"/>
                <a:ea typeface="Calibri" pitchFamily="34" charset="-122"/>
                <a:cs typeface="Calibri" pitchFamily="34" charset="-120"/>
              </a:rPr>
              <a:t>3-star · Army/Corps Commander</a:t>
            </a:r>
            <a:endParaRPr lang="en-US" sz="1050" dirty="0"/>
          </a:p>
        </p:txBody>
      </p:sp>
      <p:sp>
        <p:nvSpPr>
          <p:cNvPr id="19" name="Shape 16"/>
          <p:cNvSpPr/>
          <p:nvPr/>
        </p:nvSpPr>
        <p:spPr>
          <a:xfrm>
            <a:off x="548640" y="2825496"/>
            <a:ext cx="5608320" cy="402336"/>
          </a:xfrm>
          <a:prstGeom prst="rect">
            <a:avLst/>
          </a:prstGeom>
          <a:solidFill>
            <a:srgbClr val="44532F"/>
          </a:solidFill>
          <a:ln/>
        </p:spPr>
      </p:sp>
      <p:sp>
        <p:nvSpPr>
          <p:cNvPr id="20" name="Text 17"/>
          <p:cNvSpPr/>
          <p:nvPr/>
        </p:nvSpPr>
        <p:spPr>
          <a:xfrm>
            <a:off x="603504" y="2825496"/>
            <a:ext cx="365760" cy="402336"/>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21" name="Text 18"/>
          <p:cNvSpPr/>
          <p:nvPr/>
        </p:nvSpPr>
        <p:spPr>
          <a:xfrm>
            <a:off x="1005840" y="2825496"/>
            <a:ext cx="5059680" cy="402336"/>
          </a:xfrm>
          <a:prstGeom prst="rect">
            <a:avLst/>
          </a:prstGeom>
          <a:noFill/>
          <a:ln/>
        </p:spPr>
        <p:txBody>
          <a:bodyPr wrap="square"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Major General</a:t>
            </a:r>
            <a:endParaRPr lang="en-US" sz="1250" dirty="0"/>
          </a:p>
        </p:txBody>
      </p:sp>
      <p:sp>
        <p:nvSpPr>
          <p:cNvPr id="22" name="Text 19"/>
          <p:cNvSpPr/>
          <p:nvPr/>
        </p:nvSpPr>
        <p:spPr>
          <a:xfrm>
            <a:off x="6321552" y="2825496"/>
            <a:ext cx="5120640" cy="402336"/>
          </a:xfrm>
          <a:prstGeom prst="rect">
            <a:avLst/>
          </a:prstGeom>
          <a:noFill/>
          <a:ln/>
        </p:spPr>
        <p:txBody>
          <a:bodyPr wrap="square" rtlCol="0" anchor="ctr"/>
          <a:lstStyle/>
          <a:p>
            <a:pPr indent="0" marL="0">
              <a:buNone/>
            </a:pPr>
            <a:r>
              <a:rPr lang="en-US" sz="1050" i="1" dirty="0">
                <a:solidFill>
                  <a:srgbClr val="4A5548"/>
                </a:solidFill>
                <a:latin typeface="Calibri" pitchFamily="34" charset="0"/>
                <a:ea typeface="Calibri" pitchFamily="34" charset="-122"/>
                <a:cs typeface="Calibri" pitchFamily="34" charset="-120"/>
              </a:rPr>
              <a:t>2-star · Division Commander (GOC)</a:t>
            </a:r>
            <a:endParaRPr lang="en-US" sz="1050" dirty="0"/>
          </a:p>
        </p:txBody>
      </p:sp>
      <p:sp>
        <p:nvSpPr>
          <p:cNvPr id="23" name="Shape 20"/>
          <p:cNvSpPr/>
          <p:nvPr/>
        </p:nvSpPr>
        <p:spPr>
          <a:xfrm>
            <a:off x="548640" y="3310128"/>
            <a:ext cx="5161280" cy="402336"/>
          </a:xfrm>
          <a:prstGeom prst="rect">
            <a:avLst/>
          </a:prstGeom>
          <a:solidFill>
            <a:srgbClr val="2E3B24"/>
          </a:solidFill>
          <a:ln/>
        </p:spPr>
      </p:sp>
      <p:sp>
        <p:nvSpPr>
          <p:cNvPr id="24" name="Text 21"/>
          <p:cNvSpPr/>
          <p:nvPr/>
        </p:nvSpPr>
        <p:spPr>
          <a:xfrm>
            <a:off x="603504" y="3310128"/>
            <a:ext cx="365760" cy="402336"/>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25" name="Text 22"/>
          <p:cNvSpPr/>
          <p:nvPr/>
        </p:nvSpPr>
        <p:spPr>
          <a:xfrm>
            <a:off x="1005840" y="3310128"/>
            <a:ext cx="4612640" cy="402336"/>
          </a:xfrm>
          <a:prstGeom prst="rect">
            <a:avLst/>
          </a:prstGeom>
          <a:noFill/>
          <a:ln/>
        </p:spPr>
        <p:txBody>
          <a:bodyPr wrap="square"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Brigadier</a:t>
            </a:r>
            <a:endParaRPr lang="en-US" sz="1250" dirty="0"/>
          </a:p>
        </p:txBody>
      </p:sp>
      <p:sp>
        <p:nvSpPr>
          <p:cNvPr id="26" name="Text 23"/>
          <p:cNvSpPr/>
          <p:nvPr/>
        </p:nvSpPr>
        <p:spPr>
          <a:xfrm>
            <a:off x="5874512" y="3310128"/>
            <a:ext cx="5120640" cy="402336"/>
          </a:xfrm>
          <a:prstGeom prst="rect">
            <a:avLst/>
          </a:prstGeom>
          <a:noFill/>
          <a:ln/>
        </p:spPr>
        <p:txBody>
          <a:bodyPr wrap="square" rtlCol="0" anchor="ctr"/>
          <a:lstStyle/>
          <a:p>
            <a:pPr indent="0" marL="0">
              <a:buNone/>
            </a:pPr>
            <a:r>
              <a:rPr lang="en-US" sz="1050" i="1" dirty="0">
                <a:solidFill>
                  <a:srgbClr val="4A5548"/>
                </a:solidFill>
                <a:latin typeface="Calibri" pitchFamily="34" charset="0"/>
                <a:ea typeface="Calibri" pitchFamily="34" charset="-122"/>
                <a:cs typeface="Calibri" pitchFamily="34" charset="-120"/>
              </a:rPr>
              <a:t>1-star · Brigade Commander</a:t>
            </a:r>
            <a:endParaRPr lang="en-US" sz="1050" dirty="0"/>
          </a:p>
        </p:txBody>
      </p:sp>
      <p:sp>
        <p:nvSpPr>
          <p:cNvPr id="27" name="Shape 24"/>
          <p:cNvSpPr/>
          <p:nvPr/>
        </p:nvSpPr>
        <p:spPr>
          <a:xfrm>
            <a:off x="548640" y="3794760"/>
            <a:ext cx="4714240" cy="402336"/>
          </a:xfrm>
          <a:prstGeom prst="rect">
            <a:avLst/>
          </a:prstGeom>
          <a:solidFill>
            <a:srgbClr val="44532F"/>
          </a:solidFill>
          <a:ln/>
        </p:spPr>
      </p:sp>
      <p:sp>
        <p:nvSpPr>
          <p:cNvPr id="28" name="Text 25"/>
          <p:cNvSpPr/>
          <p:nvPr/>
        </p:nvSpPr>
        <p:spPr>
          <a:xfrm>
            <a:off x="603504" y="3794760"/>
            <a:ext cx="365760" cy="402336"/>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6</a:t>
            </a:r>
            <a:endParaRPr lang="en-US" sz="1100" dirty="0"/>
          </a:p>
        </p:txBody>
      </p:sp>
      <p:sp>
        <p:nvSpPr>
          <p:cNvPr id="29" name="Text 26"/>
          <p:cNvSpPr/>
          <p:nvPr/>
        </p:nvSpPr>
        <p:spPr>
          <a:xfrm>
            <a:off x="1005840" y="3794760"/>
            <a:ext cx="4165600" cy="402336"/>
          </a:xfrm>
          <a:prstGeom prst="rect">
            <a:avLst/>
          </a:prstGeom>
          <a:noFill/>
          <a:ln/>
        </p:spPr>
        <p:txBody>
          <a:bodyPr wrap="square"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Colonel</a:t>
            </a:r>
            <a:endParaRPr lang="en-US" sz="1250" dirty="0"/>
          </a:p>
        </p:txBody>
      </p:sp>
      <p:sp>
        <p:nvSpPr>
          <p:cNvPr id="30" name="Text 27"/>
          <p:cNvSpPr/>
          <p:nvPr/>
        </p:nvSpPr>
        <p:spPr>
          <a:xfrm>
            <a:off x="5427472" y="3794760"/>
            <a:ext cx="5120640" cy="402336"/>
          </a:xfrm>
          <a:prstGeom prst="rect">
            <a:avLst/>
          </a:prstGeom>
          <a:noFill/>
          <a:ln/>
        </p:spPr>
        <p:txBody>
          <a:bodyPr wrap="square" rtlCol="0" anchor="ctr"/>
          <a:lstStyle/>
          <a:p>
            <a:pPr indent="0" marL="0">
              <a:buNone/>
            </a:pPr>
            <a:r>
              <a:rPr lang="en-US" sz="1050" i="1" dirty="0">
                <a:solidFill>
                  <a:srgbClr val="4A5548"/>
                </a:solidFill>
                <a:latin typeface="Calibri" pitchFamily="34" charset="0"/>
                <a:ea typeface="Calibri" pitchFamily="34" charset="-122"/>
                <a:cs typeface="Calibri" pitchFamily="34" charset="-120"/>
              </a:rPr>
              <a:t>Senior staff / Commanding Officer</a:t>
            </a:r>
            <a:endParaRPr lang="en-US" sz="1050" dirty="0"/>
          </a:p>
        </p:txBody>
      </p:sp>
      <p:sp>
        <p:nvSpPr>
          <p:cNvPr id="31" name="Shape 28"/>
          <p:cNvSpPr/>
          <p:nvPr/>
        </p:nvSpPr>
        <p:spPr>
          <a:xfrm>
            <a:off x="548640" y="4279392"/>
            <a:ext cx="4267200" cy="402336"/>
          </a:xfrm>
          <a:prstGeom prst="rect">
            <a:avLst/>
          </a:prstGeom>
          <a:solidFill>
            <a:srgbClr val="2E3B24"/>
          </a:solidFill>
          <a:ln/>
        </p:spPr>
      </p:sp>
      <p:sp>
        <p:nvSpPr>
          <p:cNvPr id="32" name="Text 29"/>
          <p:cNvSpPr/>
          <p:nvPr/>
        </p:nvSpPr>
        <p:spPr>
          <a:xfrm>
            <a:off x="603504" y="4279392"/>
            <a:ext cx="365760" cy="402336"/>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7</a:t>
            </a:r>
            <a:endParaRPr lang="en-US" sz="1100" dirty="0"/>
          </a:p>
        </p:txBody>
      </p:sp>
      <p:sp>
        <p:nvSpPr>
          <p:cNvPr id="33" name="Text 30"/>
          <p:cNvSpPr/>
          <p:nvPr/>
        </p:nvSpPr>
        <p:spPr>
          <a:xfrm>
            <a:off x="1005840" y="4279392"/>
            <a:ext cx="3718560" cy="402336"/>
          </a:xfrm>
          <a:prstGeom prst="rect">
            <a:avLst/>
          </a:prstGeom>
          <a:noFill/>
          <a:ln/>
        </p:spPr>
        <p:txBody>
          <a:bodyPr wrap="square"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Lieutenant Colonel</a:t>
            </a:r>
            <a:endParaRPr lang="en-US" sz="1250" dirty="0"/>
          </a:p>
        </p:txBody>
      </p:sp>
      <p:sp>
        <p:nvSpPr>
          <p:cNvPr id="34" name="Text 31"/>
          <p:cNvSpPr/>
          <p:nvPr/>
        </p:nvSpPr>
        <p:spPr>
          <a:xfrm>
            <a:off x="4980432" y="4279392"/>
            <a:ext cx="5120640" cy="402336"/>
          </a:xfrm>
          <a:prstGeom prst="rect">
            <a:avLst/>
          </a:prstGeom>
          <a:noFill/>
          <a:ln/>
        </p:spPr>
        <p:txBody>
          <a:bodyPr wrap="square" rtlCol="0" anchor="ctr"/>
          <a:lstStyle/>
          <a:p>
            <a:pPr indent="0" marL="0">
              <a:buNone/>
            </a:pPr>
            <a:r>
              <a:rPr lang="en-US" sz="1050" i="1" dirty="0">
                <a:solidFill>
                  <a:srgbClr val="4A5548"/>
                </a:solidFill>
                <a:latin typeface="Calibri" pitchFamily="34" charset="0"/>
                <a:ea typeface="Calibri" pitchFamily="34" charset="-122"/>
                <a:cs typeface="Calibri" pitchFamily="34" charset="-120"/>
              </a:rPr>
              <a:t>Commanding Officer, battalion</a:t>
            </a:r>
            <a:endParaRPr lang="en-US" sz="1050" dirty="0"/>
          </a:p>
        </p:txBody>
      </p:sp>
      <p:sp>
        <p:nvSpPr>
          <p:cNvPr id="35" name="Shape 32"/>
          <p:cNvSpPr/>
          <p:nvPr/>
        </p:nvSpPr>
        <p:spPr>
          <a:xfrm>
            <a:off x="548640" y="4764024"/>
            <a:ext cx="3820160" cy="402336"/>
          </a:xfrm>
          <a:prstGeom prst="rect">
            <a:avLst/>
          </a:prstGeom>
          <a:solidFill>
            <a:srgbClr val="44532F"/>
          </a:solidFill>
          <a:ln/>
        </p:spPr>
      </p:sp>
      <p:sp>
        <p:nvSpPr>
          <p:cNvPr id="36" name="Text 33"/>
          <p:cNvSpPr/>
          <p:nvPr/>
        </p:nvSpPr>
        <p:spPr>
          <a:xfrm>
            <a:off x="603504" y="4764024"/>
            <a:ext cx="365760" cy="402336"/>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8</a:t>
            </a:r>
            <a:endParaRPr lang="en-US" sz="1100" dirty="0"/>
          </a:p>
        </p:txBody>
      </p:sp>
      <p:sp>
        <p:nvSpPr>
          <p:cNvPr id="37" name="Text 34"/>
          <p:cNvSpPr/>
          <p:nvPr/>
        </p:nvSpPr>
        <p:spPr>
          <a:xfrm>
            <a:off x="1005840" y="4764024"/>
            <a:ext cx="3271520" cy="402336"/>
          </a:xfrm>
          <a:prstGeom prst="rect">
            <a:avLst/>
          </a:prstGeom>
          <a:noFill/>
          <a:ln/>
        </p:spPr>
        <p:txBody>
          <a:bodyPr wrap="square"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Major</a:t>
            </a:r>
            <a:endParaRPr lang="en-US" sz="1250" dirty="0"/>
          </a:p>
        </p:txBody>
      </p:sp>
      <p:sp>
        <p:nvSpPr>
          <p:cNvPr id="38" name="Text 35"/>
          <p:cNvSpPr/>
          <p:nvPr/>
        </p:nvSpPr>
        <p:spPr>
          <a:xfrm>
            <a:off x="4533392" y="4764024"/>
            <a:ext cx="5120640" cy="402336"/>
          </a:xfrm>
          <a:prstGeom prst="rect">
            <a:avLst/>
          </a:prstGeom>
          <a:noFill/>
          <a:ln/>
        </p:spPr>
        <p:txBody>
          <a:bodyPr wrap="square" rtlCol="0" anchor="ctr"/>
          <a:lstStyle/>
          <a:p>
            <a:pPr indent="0" marL="0">
              <a:buNone/>
            </a:pPr>
            <a:r>
              <a:rPr lang="en-US" sz="1050" i="1" dirty="0">
                <a:solidFill>
                  <a:srgbClr val="4A5548"/>
                </a:solidFill>
                <a:latin typeface="Calibri" pitchFamily="34" charset="0"/>
                <a:ea typeface="Calibri" pitchFamily="34" charset="-122"/>
                <a:cs typeface="Calibri" pitchFamily="34" charset="-120"/>
              </a:rPr>
              <a:t>Company/Squadron 2IC</a:t>
            </a:r>
            <a:endParaRPr lang="en-US" sz="1050" dirty="0"/>
          </a:p>
        </p:txBody>
      </p:sp>
      <p:sp>
        <p:nvSpPr>
          <p:cNvPr id="39" name="Shape 36"/>
          <p:cNvSpPr/>
          <p:nvPr/>
        </p:nvSpPr>
        <p:spPr>
          <a:xfrm>
            <a:off x="548640" y="5248656"/>
            <a:ext cx="3373120" cy="402336"/>
          </a:xfrm>
          <a:prstGeom prst="rect">
            <a:avLst/>
          </a:prstGeom>
          <a:solidFill>
            <a:srgbClr val="2E3B24"/>
          </a:solidFill>
          <a:ln/>
        </p:spPr>
      </p:sp>
      <p:sp>
        <p:nvSpPr>
          <p:cNvPr id="40" name="Text 37"/>
          <p:cNvSpPr/>
          <p:nvPr/>
        </p:nvSpPr>
        <p:spPr>
          <a:xfrm>
            <a:off x="603504" y="5248656"/>
            <a:ext cx="365760" cy="402336"/>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9</a:t>
            </a:r>
            <a:endParaRPr lang="en-US" sz="1100" dirty="0"/>
          </a:p>
        </p:txBody>
      </p:sp>
      <p:sp>
        <p:nvSpPr>
          <p:cNvPr id="41" name="Text 38"/>
          <p:cNvSpPr/>
          <p:nvPr/>
        </p:nvSpPr>
        <p:spPr>
          <a:xfrm>
            <a:off x="1005840" y="5248656"/>
            <a:ext cx="2824480" cy="402336"/>
          </a:xfrm>
          <a:prstGeom prst="rect">
            <a:avLst/>
          </a:prstGeom>
          <a:noFill/>
          <a:ln/>
        </p:spPr>
        <p:txBody>
          <a:bodyPr wrap="square"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Captain</a:t>
            </a:r>
            <a:endParaRPr lang="en-US" sz="1250" dirty="0"/>
          </a:p>
        </p:txBody>
      </p:sp>
      <p:sp>
        <p:nvSpPr>
          <p:cNvPr id="42" name="Text 39"/>
          <p:cNvSpPr/>
          <p:nvPr/>
        </p:nvSpPr>
        <p:spPr>
          <a:xfrm>
            <a:off x="4086352" y="5248656"/>
            <a:ext cx="5120640" cy="402336"/>
          </a:xfrm>
          <a:prstGeom prst="rect">
            <a:avLst/>
          </a:prstGeom>
          <a:noFill/>
          <a:ln/>
        </p:spPr>
        <p:txBody>
          <a:bodyPr wrap="square" rtlCol="0" anchor="ctr"/>
          <a:lstStyle/>
          <a:p>
            <a:pPr indent="0" marL="0">
              <a:buNone/>
            </a:pPr>
            <a:r>
              <a:rPr lang="en-US" sz="1050" i="1" dirty="0">
                <a:solidFill>
                  <a:srgbClr val="4A5548"/>
                </a:solidFill>
                <a:latin typeface="Calibri" pitchFamily="34" charset="0"/>
                <a:ea typeface="Calibri" pitchFamily="34" charset="-122"/>
                <a:cs typeface="Calibri" pitchFamily="34" charset="-120"/>
              </a:rPr>
              <a:t>Company officer</a:t>
            </a:r>
            <a:endParaRPr lang="en-US" sz="1050" dirty="0"/>
          </a:p>
        </p:txBody>
      </p:sp>
      <p:sp>
        <p:nvSpPr>
          <p:cNvPr id="43" name="Shape 40"/>
          <p:cNvSpPr/>
          <p:nvPr/>
        </p:nvSpPr>
        <p:spPr>
          <a:xfrm>
            <a:off x="548640" y="5733288"/>
            <a:ext cx="2926080" cy="402336"/>
          </a:xfrm>
          <a:prstGeom prst="rect">
            <a:avLst/>
          </a:prstGeom>
          <a:solidFill>
            <a:srgbClr val="44532F"/>
          </a:solidFill>
          <a:ln/>
        </p:spPr>
      </p:sp>
      <p:sp>
        <p:nvSpPr>
          <p:cNvPr id="44" name="Text 41"/>
          <p:cNvSpPr/>
          <p:nvPr/>
        </p:nvSpPr>
        <p:spPr>
          <a:xfrm>
            <a:off x="603504" y="5733288"/>
            <a:ext cx="365760" cy="402336"/>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10</a:t>
            </a:r>
            <a:endParaRPr lang="en-US" sz="1100" dirty="0"/>
          </a:p>
        </p:txBody>
      </p:sp>
      <p:sp>
        <p:nvSpPr>
          <p:cNvPr id="45" name="Text 42"/>
          <p:cNvSpPr/>
          <p:nvPr/>
        </p:nvSpPr>
        <p:spPr>
          <a:xfrm>
            <a:off x="1005840" y="5733288"/>
            <a:ext cx="2377440" cy="402336"/>
          </a:xfrm>
          <a:prstGeom prst="rect">
            <a:avLst/>
          </a:prstGeom>
          <a:noFill/>
          <a:ln/>
        </p:spPr>
        <p:txBody>
          <a:bodyPr wrap="square"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Lieutenant</a:t>
            </a:r>
            <a:endParaRPr lang="en-US" sz="1250" dirty="0"/>
          </a:p>
        </p:txBody>
      </p:sp>
      <p:sp>
        <p:nvSpPr>
          <p:cNvPr id="46" name="Text 43"/>
          <p:cNvSpPr/>
          <p:nvPr/>
        </p:nvSpPr>
        <p:spPr>
          <a:xfrm>
            <a:off x="3639312" y="5733288"/>
            <a:ext cx="5120640" cy="402336"/>
          </a:xfrm>
          <a:prstGeom prst="rect">
            <a:avLst/>
          </a:prstGeom>
          <a:noFill/>
          <a:ln/>
        </p:spPr>
        <p:txBody>
          <a:bodyPr wrap="square" rtlCol="0" anchor="ctr"/>
          <a:lstStyle/>
          <a:p>
            <a:pPr indent="0" marL="0">
              <a:buNone/>
            </a:pPr>
            <a:r>
              <a:rPr lang="en-US" sz="1050" i="1" dirty="0">
                <a:solidFill>
                  <a:srgbClr val="4A5548"/>
                </a:solidFill>
                <a:latin typeface="Calibri" pitchFamily="34" charset="0"/>
                <a:ea typeface="Calibri" pitchFamily="34" charset="-122"/>
                <a:cs typeface="Calibri" pitchFamily="34" charset="-120"/>
              </a:rPr>
              <a:t>Entry commissioned rank</a:t>
            </a:r>
            <a:endParaRPr lang="en-US" sz="1050" dirty="0"/>
          </a:p>
        </p:txBody>
      </p:sp>
      <p:sp>
        <p:nvSpPr>
          <p:cNvPr id="47" name="Text 44"/>
          <p:cNvSpPr/>
          <p:nvPr/>
        </p:nvSpPr>
        <p:spPr>
          <a:xfrm>
            <a:off x="457200" y="6473952"/>
            <a:ext cx="7315200" cy="274320"/>
          </a:xfrm>
          <a:prstGeom prst="rect">
            <a:avLst/>
          </a:prstGeom>
          <a:noFill/>
          <a:ln/>
        </p:spPr>
        <p:txBody>
          <a:bodyPr wrap="square" rtlCol="0" anchor="ctr"/>
          <a:lstStyle/>
          <a:p>
            <a:pPr indent="0" marL="0">
              <a:buNone/>
            </a:pPr>
            <a:r>
              <a:rPr lang="en-US" sz="1000" i="1" dirty="0">
                <a:solidFill>
                  <a:srgbClr val="4A5548"/>
                </a:solidFill>
                <a:latin typeface="Calibri" pitchFamily="34" charset="0"/>
                <a:ea typeface="Calibri" pitchFamily="34" charset="-122"/>
                <a:cs typeface="Calibri" pitchFamily="34" charset="-120"/>
              </a:rPr>
              <a:t>Indian Armed Forces  |  Indian Army</a:t>
            </a:r>
            <a:endParaRPr lang="en-US" sz="1000" dirty="0"/>
          </a:p>
        </p:txBody>
      </p:sp>
      <p:sp>
        <p:nvSpPr>
          <p:cNvPr id="48" name="Text 45"/>
          <p:cNvSpPr/>
          <p:nvPr/>
        </p:nvSpPr>
        <p:spPr>
          <a:xfrm>
            <a:off x="11274552" y="6473952"/>
            <a:ext cx="457200" cy="274320"/>
          </a:xfrm>
          <a:prstGeom prst="rect">
            <a:avLst/>
          </a:prstGeom>
          <a:noFill/>
          <a:ln/>
        </p:spPr>
        <p:txBody>
          <a:bodyPr wrap="square" rtlCol="0" anchor="ctr"/>
          <a:lstStyle/>
          <a:p>
            <a:pPr algn="r" indent="0" marL="0">
              <a:buNone/>
            </a:pPr>
            <a:r>
              <a:rPr lang="en-US" sz="1000" dirty="0">
                <a:solidFill>
                  <a:srgbClr val="4A5548"/>
                </a:solidFill>
                <a:latin typeface="Calibri" pitchFamily="34" charset="0"/>
                <a:ea typeface="Calibri" pitchFamily="34" charset="-122"/>
                <a:cs typeface="Calibri" pitchFamily="34" charset="-120"/>
              </a:rPr>
              <a:t>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EFE8D6"/>
          </a:solidFill>
          <a:ln/>
        </p:spPr>
      </p:sp>
      <p:sp>
        <p:nvSpPr>
          <p:cNvPr id="3" name="Text 1"/>
          <p:cNvSpPr/>
          <p:nvPr/>
        </p:nvSpPr>
        <p:spPr>
          <a:xfrm>
            <a:off x="566928" y="137160"/>
            <a:ext cx="7315200" cy="274320"/>
          </a:xfrm>
          <a:prstGeom prst="rect">
            <a:avLst/>
          </a:prstGeom>
          <a:noFill/>
          <a:ln/>
        </p:spPr>
        <p:txBody>
          <a:bodyPr wrap="square" rtlCol="0" anchor="ctr"/>
          <a:lstStyle/>
          <a:p>
            <a:pPr indent="0" marL="0">
              <a:buNone/>
            </a:pPr>
            <a:r>
              <a:rPr lang="en-US" sz="1200" b="1" spc="200" kern="0" dirty="0">
                <a:solidFill>
                  <a:srgbClr val="B8912F"/>
                </a:solidFill>
                <a:latin typeface="Calibri" pitchFamily="34" charset="0"/>
                <a:ea typeface="Calibri" pitchFamily="34" charset="-122"/>
                <a:cs typeface="Calibri" pitchFamily="34" charset="-120"/>
              </a:rPr>
              <a:t>INDIAN ARMY</a:t>
            </a:r>
            <a:endParaRPr lang="en-US" sz="1200" dirty="0"/>
          </a:p>
        </p:txBody>
      </p:sp>
      <p:sp>
        <p:nvSpPr>
          <p:cNvPr id="4" name="Text 2"/>
          <p:cNvSpPr/>
          <p:nvPr/>
        </p:nvSpPr>
        <p:spPr>
          <a:xfrm>
            <a:off x="548640" y="365760"/>
            <a:ext cx="11091672" cy="685800"/>
          </a:xfrm>
          <a:prstGeom prst="rect">
            <a:avLst/>
          </a:prstGeom>
          <a:noFill/>
          <a:ln/>
        </p:spPr>
        <p:txBody>
          <a:bodyPr wrap="square" rtlCol="0" anchor="ctr"/>
          <a:lstStyle/>
          <a:p>
            <a:pPr indent="0" marL="0">
              <a:buNone/>
            </a:pPr>
            <a:r>
              <a:rPr lang="en-US" sz="3000" b="1" dirty="0">
                <a:solidFill>
                  <a:srgbClr val="23281C"/>
                </a:solidFill>
                <a:latin typeface="Cambria" pitchFamily="34" charset="0"/>
                <a:ea typeface="Cambria" pitchFamily="34" charset="-122"/>
                <a:cs typeface="Cambria" pitchFamily="34" charset="-120"/>
              </a:rPr>
              <a:t>JCO &amp; Other Ranks (Enlisted)</a:t>
            </a:r>
            <a:endParaRPr lang="en-US" sz="3000" dirty="0"/>
          </a:p>
        </p:txBody>
      </p:sp>
      <p:sp>
        <p:nvSpPr>
          <p:cNvPr id="5" name="Shape 3"/>
          <p:cNvSpPr/>
          <p:nvPr/>
        </p:nvSpPr>
        <p:spPr>
          <a:xfrm>
            <a:off x="10607040" y="320040"/>
            <a:ext cx="822960" cy="822960"/>
          </a:xfrm>
          <a:prstGeom prst="ellipse">
            <a:avLst/>
          </a:prstGeom>
          <a:solidFill>
            <a:srgbClr val="B8912F"/>
          </a:solidFill>
          <a:ln/>
        </p:spPr>
      </p:sp>
      <p:pic>
        <p:nvPicPr>
          <p:cNvPr id="6" name="Image 0" descr="/home/claude/ppt/icons/medal.png">    </p:cNvPr>
          <p:cNvPicPr>
            <a:picLocks noChangeAspect="1"/>
          </p:cNvPicPr>
          <p:nvPr/>
        </p:nvPicPr>
        <p:blipFill>
          <a:blip r:embed="rId1"/>
          <a:stretch>
            <a:fillRect/>
          </a:stretch>
        </p:blipFill>
        <p:spPr>
          <a:xfrm>
            <a:off x="10792206" y="505206"/>
            <a:ext cx="452628" cy="452628"/>
          </a:xfrm>
          <a:prstGeom prst="rect">
            <a:avLst/>
          </a:prstGeom>
        </p:spPr>
      </p:pic>
      <p:sp>
        <p:nvSpPr>
          <p:cNvPr id="7" name="Text 4"/>
          <p:cNvSpPr/>
          <p:nvPr/>
        </p:nvSpPr>
        <p:spPr>
          <a:xfrm>
            <a:off x="548640" y="1234440"/>
            <a:ext cx="7315200" cy="320040"/>
          </a:xfrm>
          <a:prstGeom prst="rect">
            <a:avLst/>
          </a:prstGeom>
          <a:noFill/>
          <a:ln/>
        </p:spPr>
        <p:txBody>
          <a:bodyPr wrap="square" rtlCol="0" anchor="ctr"/>
          <a:lstStyle/>
          <a:p>
            <a:pPr indent="0" marL="0">
              <a:buNone/>
            </a:pPr>
            <a:r>
              <a:rPr lang="en-US" sz="1300" b="1" spc="100" kern="0" dirty="0">
                <a:solidFill>
                  <a:srgbClr val="6B2C2C"/>
                </a:solidFill>
                <a:latin typeface="Calibri" pitchFamily="34" charset="0"/>
                <a:ea typeface="Calibri" pitchFamily="34" charset="-122"/>
                <a:cs typeface="Calibri" pitchFamily="34" charset="-120"/>
              </a:rPr>
              <a:t>JUNIOR COMMISSIONED OFFICERS (JCOs)</a:t>
            </a:r>
            <a:endParaRPr lang="en-US" sz="1300" dirty="0"/>
          </a:p>
        </p:txBody>
      </p:sp>
      <p:sp>
        <p:nvSpPr>
          <p:cNvPr id="8" name="Shape 5"/>
          <p:cNvSpPr/>
          <p:nvPr/>
        </p:nvSpPr>
        <p:spPr>
          <a:xfrm>
            <a:off x="548640" y="1600200"/>
            <a:ext cx="6035040" cy="402336"/>
          </a:xfrm>
          <a:prstGeom prst="rect">
            <a:avLst/>
          </a:prstGeom>
          <a:solidFill>
            <a:srgbClr val="6B2C2C"/>
          </a:solidFill>
          <a:ln/>
        </p:spPr>
      </p:sp>
      <p:sp>
        <p:nvSpPr>
          <p:cNvPr id="9" name="Text 6"/>
          <p:cNvSpPr/>
          <p:nvPr/>
        </p:nvSpPr>
        <p:spPr>
          <a:xfrm>
            <a:off x="603504" y="1600200"/>
            <a:ext cx="365760" cy="402336"/>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0" name="Text 7"/>
          <p:cNvSpPr/>
          <p:nvPr/>
        </p:nvSpPr>
        <p:spPr>
          <a:xfrm>
            <a:off x="1005840" y="1600200"/>
            <a:ext cx="5486400" cy="402336"/>
          </a:xfrm>
          <a:prstGeom prst="rect">
            <a:avLst/>
          </a:prstGeom>
          <a:noFill/>
          <a:ln/>
        </p:spPr>
        <p:txBody>
          <a:bodyPr wrap="square"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Subedar Major</a:t>
            </a:r>
            <a:endParaRPr lang="en-US" sz="1250" dirty="0"/>
          </a:p>
        </p:txBody>
      </p:sp>
      <p:sp>
        <p:nvSpPr>
          <p:cNvPr id="11" name="Text 8"/>
          <p:cNvSpPr/>
          <p:nvPr/>
        </p:nvSpPr>
        <p:spPr>
          <a:xfrm>
            <a:off x="6748272" y="1600200"/>
            <a:ext cx="5120640" cy="402336"/>
          </a:xfrm>
          <a:prstGeom prst="rect">
            <a:avLst/>
          </a:prstGeom>
          <a:noFill/>
          <a:ln/>
        </p:spPr>
        <p:txBody>
          <a:bodyPr wrap="square" rtlCol="0" anchor="ctr"/>
          <a:lstStyle/>
          <a:p>
            <a:pPr indent="0" marL="0">
              <a:buNone/>
            </a:pPr>
            <a:r>
              <a:rPr lang="en-US" sz="1050" i="1" dirty="0">
                <a:solidFill>
                  <a:srgbClr val="4A5548"/>
                </a:solidFill>
                <a:latin typeface="Calibri" pitchFamily="34" charset="0"/>
                <a:ea typeface="Calibri" pitchFamily="34" charset="-122"/>
                <a:cs typeface="Calibri" pitchFamily="34" charset="-120"/>
              </a:rPr>
              <a:t>Senior-most JCO · (Risaldar Major in Cavalry)</a:t>
            </a:r>
            <a:endParaRPr lang="en-US" sz="1050" dirty="0"/>
          </a:p>
        </p:txBody>
      </p:sp>
      <p:sp>
        <p:nvSpPr>
          <p:cNvPr id="12" name="Shape 9"/>
          <p:cNvSpPr/>
          <p:nvPr/>
        </p:nvSpPr>
        <p:spPr>
          <a:xfrm>
            <a:off x="548640" y="2084832"/>
            <a:ext cx="5120640" cy="402336"/>
          </a:xfrm>
          <a:prstGeom prst="rect">
            <a:avLst/>
          </a:prstGeom>
          <a:solidFill>
            <a:srgbClr val="8A4343"/>
          </a:solidFill>
          <a:ln/>
        </p:spPr>
      </p:sp>
      <p:sp>
        <p:nvSpPr>
          <p:cNvPr id="13" name="Text 10"/>
          <p:cNvSpPr/>
          <p:nvPr/>
        </p:nvSpPr>
        <p:spPr>
          <a:xfrm>
            <a:off x="603504" y="2084832"/>
            <a:ext cx="365760" cy="402336"/>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14" name="Text 11"/>
          <p:cNvSpPr/>
          <p:nvPr/>
        </p:nvSpPr>
        <p:spPr>
          <a:xfrm>
            <a:off x="1005840" y="2084832"/>
            <a:ext cx="4572000" cy="402336"/>
          </a:xfrm>
          <a:prstGeom prst="rect">
            <a:avLst/>
          </a:prstGeom>
          <a:noFill/>
          <a:ln/>
        </p:spPr>
        <p:txBody>
          <a:bodyPr wrap="square"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Subedar</a:t>
            </a:r>
            <a:endParaRPr lang="en-US" sz="1250" dirty="0"/>
          </a:p>
        </p:txBody>
      </p:sp>
      <p:sp>
        <p:nvSpPr>
          <p:cNvPr id="15" name="Text 12"/>
          <p:cNvSpPr/>
          <p:nvPr/>
        </p:nvSpPr>
        <p:spPr>
          <a:xfrm>
            <a:off x="5833872" y="2084832"/>
            <a:ext cx="5120640" cy="402336"/>
          </a:xfrm>
          <a:prstGeom prst="rect">
            <a:avLst/>
          </a:prstGeom>
          <a:noFill/>
          <a:ln/>
        </p:spPr>
        <p:txBody>
          <a:bodyPr wrap="square" rtlCol="0" anchor="ctr"/>
          <a:lstStyle/>
          <a:p>
            <a:pPr indent="0" marL="0">
              <a:buNone/>
            </a:pPr>
            <a:r>
              <a:rPr lang="en-US" sz="1050" i="1" dirty="0">
                <a:solidFill>
                  <a:srgbClr val="4A5548"/>
                </a:solidFill>
                <a:latin typeface="Calibri" pitchFamily="34" charset="0"/>
                <a:ea typeface="Calibri" pitchFamily="34" charset="-122"/>
                <a:cs typeface="Calibri" pitchFamily="34" charset="-120"/>
              </a:rPr>
              <a:t>(Risaldar in Cavalry / Armoured Corps)</a:t>
            </a:r>
            <a:endParaRPr lang="en-US" sz="1050" dirty="0"/>
          </a:p>
        </p:txBody>
      </p:sp>
      <p:sp>
        <p:nvSpPr>
          <p:cNvPr id="16" name="Shape 13"/>
          <p:cNvSpPr/>
          <p:nvPr/>
        </p:nvSpPr>
        <p:spPr>
          <a:xfrm>
            <a:off x="548640" y="2569464"/>
            <a:ext cx="4206240" cy="402336"/>
          </a:xfrm>
          <a:prstGeom prst="rect">
            <a:avLst/>
          </a:prstGeom>
          <a:solidFill>
            <a:srgbClr val="6B2C2C"/>
          </a:solidFill>
          <a:ln/>
        </p:spPr>
      </p:sp>
      <p:sp>
        <p:nvSpPr>
          <p:cNvPr id="17" name="Text 14"/>
          <p:cNvSpPr/>
          <p:nvPr/>
        </p:nvSpPr>
        <p:spPr>
          <a:xfrm>
            <a:off x="603504" y="2569464"/>
            <a:ext cx="365760" cy="402336"/>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18" name="Text 15"/>
          <p:cNvSpPr/>
          <p:nvPr/>
        </p:nvSpPr>
        <p:spPr>
          <a:xfrm>
            <a:off x="1005840" y="2569464"/>
            <a:ext cx="3657600" cy="402336"/>
          </a:xfrm>
          <a:prstGeom prst="rect">
            <a:avLst/>
          </a:prstGeom>
          <a:noFill/>
          <a:ln/>
        </p:spPr>
        <p:txBody>
          <a:bodyPr wrap="square"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Naib Subedar</a:t>
            </a:r>
            <a:endParaRPr lang="en-US" sz="1250" dirty="0"/>
          </a:p>
        </p:txBody>
      </p:sp>
      <p:sp>
        <p:nvSpPr>
          <p:cNvPr id="19" name="Text 16"/>
          <p:cNvSpPr/>
          <p:nvPr/>
        </p:nvSpPr>
        <p:spPr>
          <a:xfrm>
            <a:off x="4919472" y="2569464"/>
            <a:ext cx="5120640" cy="402336"/>
          </a:xfrm>
          <a:prstGeom prst="rect">
            <a:avLst/>
          </a:prstGeom>
          <a:noFill/>
          <a:ln/>
        </p:spPr>
        <p:txBody>
          <a:bodyPr wrap="square" rtlCol="0" anchor="ctr"/>
          <a:lstStyle/>
          <a:p>
            <a:pPr indent="0" marL="0">
              <a:buNone/>
            </a:pPr>
            <a:r>
              <a:rPr lang="en-US" sz="1050" i="1" dirty="0">
                <a:solidFill>
                  <a:srgbClr val="4A5548"/>
                </a:solidFill>
                <a:latin typeface="Calibri" pitchFamily="34" charset="0"/>
                <a:ea typeface="Calibri" pitchFamily="34" charset="-122"/>
                <a:cs typeface="Calibri" pitchFamily="34" charset="-120"/>
              </a:rPr>
              <a:t>(Naib Risaldar in Cavalry)</a:t>
            </a:r>
            <a:endParaRPr lang="en-US" sz="1050" dirty="0"/>
          </a:p>
        </p:txBody>
      </p:sp>
      <p:sp>
        <p:nvSpPr>
          <p:cNvPr id="20" name="Text 17"/>
          <p:cNvSpPr/>
          <p:nvPr/>
        </p:nvSpPr>
        <p:spPr>
          <a:xfrm>
            <a:off x="548640" y="3246120"/>
            <a:ext cx="7315200" cy="320040"/>
          </a:xfrm>
          <a:prstGeom prst="rect">
            <a:avLst/>
          </a:prstGeom>
          <a:noFill/>
          <a:ln/>
        </p:spPr>
        <p:txBody>
          <a:bodyPr wrap="square" rtlCol="0" anchor="ctr"/>
          <a:lstStyle/>
          <a:p>
            <a:pPr indent="0" marL="0">
              <a:buNone/>
            </a:pPr>
            <a:r>
              <a:rPr lang="en-US" sz="1300" b="1" spc="100" kern="0" dirty="0">
                <a:solidFill>
                  <a:srgbClr val="2E3B24"/>
                </a:solidFill>
                <a:latin typeface="Calibri" pitchFamily="34" charset="0"/>
                <a:ea typeface="Calibri" pitchFamily="34" charset="-122"/>
                <a:cs typeface="Calibri" pitchFamily="34" charset="-120"/>
              </a:rPr>
              <a:t>OTHER RANKS (NCOs &amp; Enlisted)</a:t>
            </a:r>
            <a:endParaRPr lang="en-US" sz="1300" dirty="0"/>
          </a:p>
        </p:txBody>
      </p:sp>
      <p:sp>
        <p:nvSpPr>
          <p:cNvPr id="21" name="Shape 18"/>
          <p:cNvSpPr/>
          <p:nvPr/>
        </p:nvSpPr>
        <p:spPr>
          <a:xfrm>
            <a:off x="548640" y="3611880"/>
            <a:ext cx="6583680" cy="402336"/>
          </a:xfrm>
          <a:prstGeom prst="rect">
            <a:avLst/>
          </a:prstGeom>
          <a:solidFill>
            <a:srgbClr val="2E3B24"/>
          </a:solidFill>
          <a:ln/>
        </p:spPr>
      </p:sp>
      <p:sp>
        <p:nvSpPr>
          <p:cNvPr id="22" name="Text 19"/>
          <p:cNvSpPr/>
          <p:nvPr/>
        </p:nvSpPr>
        <p:spPr>
          <a:xfrm>
            <a:off x="603504" y="3611880"/>
            <a:ext cx="365760" cy="402336"/>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23" name="Text 20"/>
          <p:cNvSpPr/>
          <p:nvPr/>
        </p:nvSpPr>
        <p:spPr>
          <a:xfrm>
            <a:off x="1005840" y="3611880"/>
            <a:ext cx="6035040" cy="402336"/>
          </a:xfrm>
          <a:prstGeom prst="rect">
            <a:avLst/>
          </a:prstGeom>
          <a:noFill/>
          <a:ln/>
        </p:spPr>
        <p:txBody>
          <a:bodyPr wrap="square"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Havildar</a:t>
            </a:r>
            <a:endParaRPr lang="en-US" sz="1250" dirty="0"/>
          </a:p>
        </p:txBody>
      </p:sp>
      <p:sp>
        <p:nvSpPr>
          <p:cNvPr id="24" name="Text 21"/>
          <p:cNvSpPr/>
          <p:nvPr/>
        </p:nvSpPr>
        <p:spPr>
          <a:xfrm>
            <a:off x="7296912" y="3611880"/>
            <a:ext cx="5120640" cy="402336"/>
          </a:xfrm>
          <a:prstGeom prst="rect">
            <a:avLst/>
          </a:prstGeom>
          <a:noFill/>
          <a:ln/>
        </p:spPr>
        <p:txBody>
          <a:bodyPr wrap="square" rtlCol="0" anchor="ctr"/>
          <a:lstStyle/>
          <a:p>
            <a:pPr indent="0" marL="0">
              <a:buNone/>
            </a:pPr>
            <a:r>
              <a:rPr lang="en-US" sz="1050" i="1" dirty="0">
                <a:solidFill>
                  <a:srgbClr val="4A5548"/>
                </a:solidFill>
                <a:latin typeface="Calibri" pitchFamily="34" charset="0"/>
                <a:ea typeface="Calibri" pitchFamily="34" charset="-122"/>
                <a:cs typeface="Calibri" pitchFamily="34" charset="-120"/>
              </a:rPr>
              <a:t>Section commander · equiv. Sergeant</a:t>
            </a:r>
            <a:endParaRPr lang="en-US" sz="1050" dirty="0"/>
          </a:p>
        </p:txBody>
      </p:sp>
      <p:sp>
        <p:nvSpPr>
          <p:cNvPr id="25" name="Shape 22"/>
          <p:cNvSpPr/>
          <p:nvPr/>
        </p:nvSpPr>
        <p:spPr>
          <a:xfrm>
            <a:off x="548640" y="4096512"/>
            <a:ext cx="5730240" cy="402336"/>
          </a:xfrm>
          <a:prstGeom prst="rect">
            <a:avLst/>
          </a:prstGeom>
          <a:solidFill>
            <a:srgbClr val="44532F"/>
          </a:solidFill>
          <a:ln/>
        </p:spPr>
      </p:sp>
      <p:sp>
        <p:nvSpPr>
          <p:cNvPr id="26" name="Text 23"/>
          <p:cNvSpPr/>
          <p:nvPr/>
        </p:nvSpPr>
        <p:spPr>
          <a:xfrm>
            <a:off x="603504" y="4096512"/>
            <a:ext cx="365760" cy="402336"/>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27" name="Text 24"/>
          <p:cNvSpPr/>
          <p:nvPr/>
        </p:nvSpPr>
        <p:spPr>
          <a:xfrm>
            <a:off x="1005840" y="4096512"/>
            <a:ext cx="5181600" cy="402336"/>
          </a:xfrm>
          <a:prstGeom prst="rect">
            <a:avLst/>
          </a:prstGeom>
          <a:noFill/>
          <a:ln/>
        </p:spPr>
        <p:txBody>
          <a:bodyPr wrap="square"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Naik</a:t>
            </a:r>
            <a:endParaRPr lang="en-US" sz="1250" dirty="0"/>
          </a:p>
        </p:txBody>
      </p:sp>
      <p:sp>
        <p:nvSpPr>
          <p:cNvPr id="28" name="Text 25"/>
          <p:cNvSpPr/>
          <p:nvPr/>
        </p:nvSpPr>
        <p:spPr>
          <a:xfrm>
            <a:off x="6443472" y="4096512"/>
            <a:ext cx="5120640" cy="402336"/>
          </a:xfrm>
          <a:prstGeom prst="rect">
            <a:avLst/>
          </a:prstGeom>
          <a:noFill/>
          <a:ln/>
        </p:spPr>
        <p:txBody>
          <a:bodyPr wrap="square" rtlCol="0" anchor="ctr"/>
          <a:lstStyle/>
          <a:p>
            <a:pPr indent="0" marL="0">
              <a:buNone/>
            </a:pPr>
            <a:r>
              <a:rPr lang="en-US" sz="1050" i="1" dirty="0">
                <a:solidFill>
                  <a:srgbClr val="4A5548"/>
                </a:solidFill>
                <a:latin typeface="Calibri" pitchFamily="34" charset="0"/>
                <a:ea typeface="Calibri" pitchFamily="34" charset="-122"/>
                <a:cs typeface="Calibri" pitchFamily="34" charset="-120"/>
              </a:rPr>
              <a:t>equiv. Corporal</a:t>
            </a:r>
            <a:endParaRPr lang="en-US" sz="1050" dirty="0"/>
          </a:p>
        </p:txBody>
      </p:sp>
      <p:sp>
        <p:nvSpPr>
          <p:cNvPr id="29" name="Shape 26"/>
          <p:cNvSpPr/>
          <p:nvPr/>
        </p:nvSpPr>
        <p:spPr>
          <a:xfrm>
            <a:off x="548640" y="4581144"/>
            <a:ext cx="4876800" cy="402336"/>
          </a:xfrm>
          <a:prstGeom prst="rect">
            <a:avLst/>
          </a:prstGeom>
          <a:solidFill>
            <a:srgbClr val="2E3B24"/>
          </a:solidFill>
          <a:ln/>
        </p:spPr>
      </p:sp>
      <p:sp>
        <p:nvSpPr>
          <p:cNvPr id="30" name="Text 27"/>
          <p:cNvSpPr/>
          <p:nvPr/>
        </p:nvSpPr>
        <p:spPr>
          <a:xfrm>
            <a:off x="603504" y="4581144"/>
            <a:ext cx="365760" cy="402336"/>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31" name="Text 28"/>
          <p:cNvSpPr/>
          <p:nvPr/>
        </p:nvSpPr>
        <p:spPr>
          <a:xfrm>
            <a:off x="1005840" y="4581144"/>
            <a:ext cx="4328160" cy="402336"/>
          </a:xfrm>
          <a:prstGeom prst="rect">
            <a:avLst/>
          </a:prstGeom>
          <a:noFill/>
          <a:ln/>
        </p:spPr>
        <p:txBody>
          <a:bodyPr wrap="square"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Lance Naik</a:t>
            </a:r>
            <a:endParaRPr lang="en-US" sz="1250" dirty="0"/>
          </a:p>
        </p:txBody>
      </p:sp>
      <p:sp>
        <p:nvSpPr>
          <p:cNvPr id="32" name="Text 29"/>
          <p:cNvSpPr/>
          <p:nvPr/>
        </p:nvSpPr>
        <p:spPr>
          <a:xfrm>
            <a:off x="5590032" y="4581144"/>
            <a:ext cx="5120640" cy="402336"/>
          </a:xfrm>
          <a:prstGeom prst="rect">
            <a:avLst/>
          </a:prstGeom>
          <a:noFill/>
          <a:ln/>
        </p:spPr>
        <p:txBody>
          <a:bodyPr wrap="square" rtlCol="0" anchor="ctr"/>
          <a:lstStyle/>
          <a:p>
            <a:pPr indent="0" marL="0">
              <a:buNone/>
            </a:pPr>
            <a:r>
              <a:rPr lang="en-US" sz="1050" i="1" dirty="0">
                <a:solidFill>
                  <a:srgbClr val="4A5548"/>
                </a:solidFill>
                <a:latin typeface="Calibri" pitchFamily="34" charset="0"/>
                <a:ea typeface="Calibri" pitchFamily="34" charset="-122"/>
                <a:cs typeface="Calibri" pitchFamily="34" charset="-120"/>
              </a:rPr>
              <a:t>equiv. Lance Corporal</a:t>
            </a:r>
            <a:endParaRPr lang="en-US" sz="1050" dirty="0"/>
          </a:p>
        </p:txBody>
      </p:sp>
      <p:sp>
        <p:nvSpPr>
          <p:cNvPr id="33" name="Shape 30"/>
          <p:cNvSpPr/>
          <p:nvPr/>
        </p:nvSpPr>
        <p:spPr>
          <a:xfrm>
            <a:off x="548640" y="5065776"/>
            <a:ext cx="4023360" cy="402336"/>
          </a:xfrm>
          <a:prstGeom prst="rect">
            <a:avLst/>
          </a:prstGeom>
          <a:solidFill>
            <a:srgbClr val="44532F"/>
          </a:solidFill>
          <a:ln/>
        </p:spPr>
      </p:sp>
      <p:sp>
        <p:nvSpPr>
          <p:cNvPr id="34" name="Text 31"/>
          <p:cNvSpPr/>
          <p:nvPr/>
        </p:nvSpPr>
        <p:spPr>
          <a:xfrm>
            <a:off x="603504" y="5065776"/>
            <a:ext cx="365760" cy="402336"/>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35" name="Text 32"/>
          <p:cNvSpPr/>
          <p:nvPr/>
        </p:nvSpPr>
        <p:spPr>
          <a:xfrm>
            <a:off x="1005840" y="5065776"/>
            <a:ext cx="3474720" cy="402336"/>
          </a:xfrm>
          <a:prstGeom prst="rect">
            <a:avLst/>
          </a:prstGeom>
          <a:noFill/>
          <a:ln/>
        </p:spPr>
        <p:txBody>
          <a:bodyPr wrap="square"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Sepoy</a:t>
            </a:r>
            <a:endParaRPr lang="en-US" sz="1250" dirty="0"/>
          </a:p>
        </p:txBody>
      </p:sp>
      <p:sp>
        <p:nvSpPr>
          <p:cNvPr id="36" name="Text 33"/>
          <p:cNvSpPr/>
          <p:nvPr/>
        </p:nvSpPr>
        <p:spPr>
          <a:xfrm>
            <a:off x="4736592" y="5065776"/>
            <a:ext cx="5120640" cy="402336"/>
          </a:xfrm>
          <a:prstGeom prst="rect">
            <a:avLst/>
          </a:prstGeom>
          <a:noFill/>
          <a:ln/>
        </p:spPr>
        <p:txBody>
          <a:bodyPr wrap="square" rtlCol="0" anchor="ctr"/>
          <a:lstStyle/>
          <a:p>
            <a:pPr indent="0" marL="0">
              <a:buNone/>
            </a:pPr>
            <a:r>
              <a:rPr lang="en-US" sz="1050" i="1" dirty="0">
                <a:solidFill>
                  <a:srgbClr val="4A5548"/>
                </a:solidFill>
                <a:latin typeface="Calibri" pitchFamily="34" charset="0"/>
                <a:ea typeface="Calibri" pitchFamily="34" charset="-122"/>
                <a:cs typeface="Calibri" pitchFamily="34" charset="-120"/>
              </a:rPr>
              <a:t>Basic soldier rank · (Sowar in Cavalry, Gunner in Artillery)</a:t>
            </a:r>
            <a:endParaRPr lang="en-US" sz="1050" dirty="0"/>
          </a:p>
        </p:txBody>
      </p:sp>
      <p:sp>
        <p:nvSpPr>
          <p:cNvPr id="37" name="Shape 34"/>
          <p:cNvSpPr/>
          <p:nvPr/>
        </p:nvSpPr>
        <p:spPr>
          <a:xfrm>
            <a:off x="548640" y="5623560"/>
            <a:ext cx="11064240" cy="685800"/>
          </a:xfrm>
          <a:prstGeom prst="roundRect">
            <a:avLst>
              <a:gd name="adj" fmla="val 10667"/>
            </a:avLst>
          </a:prstGeom>
          <a:solidFill>
            <a:srgbClr val="FFFFFF"/>
          </a:solidFill>
          <a:ln w="12700">
            <a:solidFill>
              <a:srgbClr val="DFD6BE"/>
            </a:solidFill>
            <a:prstDash val="solid"/>
          </a:ln>
        </p:spPr>
      </p:sp>
      <p:sp>
        <p:nvSpPr>
          <p:cNvPr id="38" name="Text 35"/>
          <p:cNvSpPr/>
          <p:nvPr/>
        </p:nvSpPr>
        <p:spPr>
          <a:xfrm>
            <a:off x="777240" y="5623560"/>
            <a:ext cx="10607040" cy="685800"/>
          </a:xfrm>
          <a:prstGeom prst="rect">
            <a:avLst/>
          </a:prstGeom>
          <a:noFill/>
          <a:ln/>
        </p:spPr>
        <p:txBody>
          <a:bodyPr wrap="square" rtlCol="0" anchor="ctr"/>
          <a:lstStyle/>
          <a:p>
            <a:pPr indent="0" marL="0">
              <a:buNone/>
            </a:pPr>
            <a:r>
              <a:rPr lang="en-US" sz="1050" i="1" dirty="0">
                <a:solidFill>
                  <a:srgbClr val="4A5548"/>
                </a:solidFill>
                <a:latin typeface="Calibri" pitchFamily="34" charset="0"/>
                <a:ea typeface="Calibri" pitchFamily="34" charset="-122"/>
                <a:cs typeface="Calibri" pitchFamily="34" charset="-120"/>
              </a:rPr>
              <a:t>Note: JCOs hold the President's commission at a junior level and are addressed as "Sahib" — a distinct rank tier between commissioned officers and NCOs, unique to Indian/subcontinental armed forces.</a:t>
            </a:r>
            <a:endParaRPr lang="en-US" sz="1050" dirty="0"/>
          </a:p>
        </p:txBody>
      </p:sp>
      <p:sp>
        <p:nvSpPr>
          <p:cNvPr id="39" name="Text 36"/>
          <p:cNvSpPr/>
          <p:nvPr/>
        </p:nvSpPr>
        <p:spPr>
          <a:xfrm>
            <a:off x="457200" y="6473952"/>
            <a:ext cx="7315200" cy="274320"/>
          </a:xfrm>
          <a:prstGeom prst="rect">
            <a:avLst/>
          </a:prstGeom>
          <a:noFill/>
          <a:ln/>
        </p:spPr>
        <p:txBody>
          <a:bodyPr wrap="square" rtlCol="0" anchor="ctr"/>
          <a:lstStyle/>
          <a:p>
            <a:pPr indent="0" marL="0">
              <a:buNone/>
            </a:pPr>
            <a:r>
              <a:rPr lang="en-US" sz="1000" i="1" dirty="0">
                <a:solidFill>
                  <a:srgbClr val="4A5548"/>
                </a:solidFill>
                <a:latin typeface="Calibri" pitchFamily="34" charset="0"/>
                <a:ea typeface="Calibri" pitchFamily="34" charset="-122"/>
                <a:cs typeface="Calibri" pitchFamily="34" charset="-120"/>
              </a:rPr>
              <a:t>Indian Armed Forces  |  Indian Army</a:t>
            </a:r>
            <a:endParaRPr lang="en-US" sz="1000" dirty="0"/>
          </a:p>
        </p:txBody>
      </p:sp>
      <p:sp>
        <p:nvSpPr>
          <p:cNvPr id="40" name="Text 37"/>
          <p:cNvSpPr/>
          <p:nvPr/>
        </p:nvSpPr>
        <p:spPr>
          <a:xfrm>
            <a:off x="11274552" y="6473952"/>
            <a:ext cx="457200" cy="274320"/>
          </a:xfrm>
          <a:prstGeom prst="rect">
            <a:avLst/>
          </a:prstGeom>
          <a:noFill/>
          <a:ln/>
        </p:spPr>
        <p:txBody>
          <a:bodyPr wrap="square" rtlCol="0" anchor="ctr"/>
          <a:lstStyle/>
          <a:p>
            <a:pPr algn="r" indent="0" marL="0">
              <a:buNone/>
            </a:pPr>
            <a:r>
              <a:rPr lang="en-US" sz="1000" dirty="0">
                <a:solidFill>
                  <a:srgbClr val="4A5548"/>
                </a:solidFill>
                <a:latin typeface="Calibri" pitchFamily="34" charset="0"/>
                <a:ea typeface="Calibri" pitchFamily="34" charset="-122"/>
                <a:cs typeface="Calibri" pitchFamily="34" charset="-120"/>
              </a:rPr>
              <a:t>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0B3D5C"/>
          </a:solidFill>
          <a:ln/>
        </p:spPr>
      </p:sp>
      <p:sp>
        <p:nvSpPr>
          <p:cNvPr id="3" name="Shape 1"/>
          <p:cNvSpPr/>
          <p:nvPr/>
        </p:nvSpPr>
        <p:spPr>
          <a:xfrm>
            <a:off x="0" y="0"/>
            <a:ext cx="12188952" cy="1417320"/>
          </a:xfrm>
          <a:prstGeom prst="rect">
            <a:avLst/>
          </a:prstGeom>
          <a:solidFill>
            <a:srgbClr val="072A40"/>
          </a:solidFill>
          <a:ln/>
        </p:spPr>
      </p:sp>
      <p:sp>
        <p:nvSpPr>
          <p:cNvPr id="4" name="Shape 2"/>
          <p:cNvSpPr/>
          <p:nvPr/>
        </p:nvSpPr>
        <p:spPr>
          <a:xfrm>
            <a:off x="548640" y="320040"/>
            <a:ext cx="777240" cy="777240"/>
          </a:xfrm>
          <a:prstGeom prst="ellipse">
            <a:avLst/>
          </a:prstGeom>
          <a:solidFill>
            <a:srgbClr val="B8912F"/>
          </a:solidFill>
          <a:ln/>
        </p:spPr>
      </p:sp>
      <p:pic>
        <p:nvPicPr>
          <p:cNvPr id="5" name="Image 0" descr="/home/claude/ppt/icons/anchor.png">    </p:cNvPr>
          <p:cNvPicPr>
            <a:picLocks noChangeAspect="1"/>
          </p:cNvPicPr>
          <p:nvPr/>
        </p:nvPicPr>
        <p:blipFill>
          <a:blip r:embed="rId1"/>
          <a:stretch>
            <a:fillRect/>
          </a:stretch>
        </p:blipFill>
        <p:spPr>
          <a:xfrm>
            <a:off x="723519" y="494919"/>
            <a:ext cx="427482" cy="427482"/>
          </a:xfrm>
          <a:prstGeom prst="rect">
            <a:avLst/>
          </a:prstGeom>
        </p:spPr>
      </p:pic>
      <p:sp>
        <p:nvSpPr>
          <p:cNvPr id="6" name="Text 3"/>
          <p:cNvSpPr/>
          <p:nvPr/>
        </p:nvSpPr>
        <p:spPr>
          <a:xfrm>
            <a:off x="1463040" y="320040"/>
            <a:ext cx="7315200" cy="502920"/>
          </a:xfrm>
          <a:prstGeom prst="rect">
            <a:avLst/>
          </a:prstGeom>
          <a:noFill/>
          <a:ln/>
        </p:spPr>
        <p:txBody>
          <a:bodyPr wrap="square" rtlCol="0" anchor="ctr"/>
          <a:lstStyle/>
          <a:p>
            <a:pPr indent="0" marL="0">
              <a:buNone/>
            </a:pPr>
            <a:r>
              <a:rPr lang="en-US" sz="3000" b="1" dirty="0">
                <a:solidFill>
                  <a:srgbClr val="F7F3E8"/>
                </a:solidFill>
                <a:latin typeface="Cambria" pitchFamily="34" charset="0"/>
                <a:ea typeface="Cambria" pitchFamily="34" charset="-122"/>
                <a:cs typeface="Cambria" pitchFamily="34" charset="-120"/>
              </a:rPr>
              <a:t>INDIAN NAVY</a:t>
            </a:r>
            <a:endParaRPr lang="en-US" sz="3000" dirty="0"/>
          </a:p>
        </p:txBody>
      </p:sp>
      <p:sp>
        <p:nvSpPr>
          <p:cNvPr id="7" name="Text 4"/>
          <p:cNvSpPr/>
          <p:nvPr/>
        </p:nvSpPr>
        <p:spPr>
          <a:xfrm>
            <a:off x="1463040" y="822960"/>
            <a:ext cx="8229600" cy="365760"/>
          </a:xfrm>
          <a:prstGeom prst="rect">
            <a:avLst/>
          </a:prstGeom>
          <a:noFill/>
          <a:ln/>
        </p:spPr>
        <p:txBody>
          <a:bodyPr wrap="square" rtlCol="0" anchor="ctr"/>
          <a:lstStyle/>
          <a:p>
            <a:pPr indent="0" marL="0">
              <a:buNone/>
            </a:pPr>
            <a:r>
              <a:rPr lang="en-US" sz="1200" i="1" dirty="0">
                <a:solidFill>
                  <a:srgbClr val="B8912F"/>
                </a:solidFill>
                <a:latin typeface="Calibri" pitchFamily="34" charset="0"/>
                <a:ea typeface="Calibri" pitchFamily="34" charset="-122"/>
                <a:cs typeface="Calibri" pitchFamily="34" charset="-120"/>
              </a:rPr>
              <a:t>"Sham No Varunah" — May the Lord of the Water be Auspicious to Us</a:t>
            </a:r>
            <a:endParaRPr lang="en-US" sz="1200" dirty="0"/>
          </a:p>
        </p:txBody>
      </p:sp>
      <p:sp>
        <p:nvSpPr>
          <p:cNvPr id="8" name="Text 5"/>
          <p:cNvSpPr/>
          <p:nvPr/>
        </p:nvSpPr>
        <p:spPr>
          <a:xfrm>
            <a:off x="548640" y="1691640"/>
            <a:ext cx="2651760" cy="594360"/>
          </a:xfrm>
          <a:prstGeom prst="rect">
            <a:avLst/>
          </a:prstGeom>
          <a:noFill/>
          <a:ln/>
        </p:spPr>
        <p:txBody>
          <a:bodyPr wrap="square" rtlCol="0" anchor="ctr"/>
          <a:lstStyle/>
          <a:p>
            <a:pPr indent="0" marL="0">
              <a:buNone/>
            </a:pPr>
            <a:r>
              <a:rPr lang="en-US" sz="2800" b="1" dirty="0">
                <a:solidFill>
                  <a:srgbClr val="D9B84F"/>
                </a:solidFill>
                <a:latin typeface="Cambria" pitchFamily="34" charset="0"/>
                <a:ea typeface="Cambria" pitchFamily="34" charset="-122"/>
                <a:cs typeface="Cambria" pitchFamily="34" charset="-120"/>
              </a:rPr>
              <a:t>67,000+</a:t>
            </a:r>
            <a:endParaRPr lang="en-US" sz="2800" dirty="0"/>
          </a:p>
        </p:txBody>
      </p:sp>
      <p:sp>
        <p:nvSpPr>
          <p:cNvPr id="9" name="Text 6"/>
          <p:cNvSpPr/>
          <p:nvPr/>
        </p:nvSpPr>
        <p:spPr>
          <a:xfrm>
            <a:off x="548640" y="2286000"/>
            <a:ext cx="2651760" cy="457200"/>
          </a:xfrm>
          <a:prstGeom prst="rect">
            <a:avLst/>
          </a:prstGeom>
          <a:noFill/>
          <a:ln/>
        </p:spPr>
        <p:txBody>
          <a:bodyPr wrap="square" rtlCol="0" anchor="ctr"/>
          <a:lstStyle/>
          <a:p>
            <a:pPr indent="0" marL="0">
              <a:buNone/>
            </a:pPr>
            <a:r>
              <a:rPr lang="en-US" sz="1100" dirty="0">
                <a:solidFill>
                  <a:srgbClr val="BFE0EE"/>
                </a:solidFill>
                <a:latin typeface="Calibri" pitchFamily="34" charset="0"/>
                <a:ea typeface="Calibri" pitchFamily="34" charset="-122"/>
                <a:cs typeface="Calibri" pitchFamily="34" charset="-120"/>
              </a:rPr>
              <a:t>Active personnel</a:t>
            </a:r>
            <a:endParaRPr lang="en-US" sz="1100" dirty="0"/>
          </a:p>
        </p:txBody>
      </p:sp>
      <p:sp>
        <p:nvSpPr>
          <p:cNvPr id="10" name="Text 7"/>
          <p:cNvSpPr/>
          <p:nvPr/>
        </p:nvSpPr>
        <p:spPr>
          <a:xfrm>
            <a:off x="3383280" y="1691640"/>
            <a:ext cx="2651760" cy="594360"/>
          </a:xfrm>
          <a:prstGeom prst="rect">
            <a:avLst/>
          </a:prstGeom>
          <a:noFill/>
          <a:ln/>
        </p:spPr>
        <p:txBody>
          <a:bodyPr wrap="square" rtlCol="0" anchor="ctr"/>
          <a:lstStyle/>
          <a:p>
            <a:pPr indent="0" marL="0">
              <a:buNone/>
            </a:pPr>
            <a:r>
              <a:rPr lang="en-US" sz="2800" b="1" dirty="0">
                <a:solidFill>
                  <a:srgbClr val="D9B84F"/>
                </a:solidFill>
                <a:latin typeface="Cambria" pitchFamily="34" charset="0"/>
                <a:ea typeface="Cambria" pitchFamily="34" charset="-122"/>
                <a:cs typeface="Cambria" pitchFamily="34" charset="-120"/>
              </a:rPr>
              <a:t>150+</a:t>
            </a:r>
            <a:endParaRPr lang="en-US" sz="2800" dirty="0"/>
          </a:p>
        </p:txBody>
      </p:sp>
      <p:sp>
        <p:nvSpPr>
          <p:cNvPr id="11" name="Text 8"/>
          <p:cNvSpPr/>
          <p:nvPr/>
        </p:nvSpPr>
        <p:spPr>
          <a:xfrm>
            <a:off x="3383280" y="2286000"/>
            <a:ext cx="2651760" cy="457200"/>
          </a:xfrm>
          <a:prstGeom prst="rect">
            <a:avLst/>
          </a:prstGeom>
          <a:noFill/>
          <a:ln/>
        </p:spPr>
        <p:txBody>
          <a:bodyPr wrap="square" rtlCol="0" anchor="ctr"/>
          <a:lstStyle/>
          <a:p>
            <a:pPr indent="0" marL="0">
              <a:buNone/>
            </a:pPr>
            <a:r>
              <a:rPr lang="en-US" sz="1100" dirty="0">
                <a:solidFill>
                  <a:srgbClr val="BFE0EE"/>
                </a:solidFill>
                <a:latin typeface="Calibri" pitchFamily="34" charset="0"/>
                <a:ea typeface="Calibri" pitchFamily="34" charset="-122"/>
                <a:cs typeface="Calibri" pitchFamily="34" charset="-120"/>
              </a:rPr>
              <a:t>Ships &amp; submarines</a:t>
            </a:r>
            <a:endParaRPr lang="en-US" sz="1100" dirty="0"/>
          </a:p>
        </p:txBody>
      </p:sp>
      <p:sp>
        <p:nvSpPr>
          <p:cNvPr id="12" name="Text 9"/>
          <p:cNvSpPr/>
          <p:nvPr/>
        </p:nvSpPr>
        <p:spPr>
          <a:xfrm>
            <a:off x="6217920" y="1691640"/>
            <a:ext cx="2651760" cy="594360"/>
          </a:xfrm>
          <a:prstGeom prst="rect">
            <a:avLst/>
          </a:prstGeom>
          <a:noFill/>
          <a:ln/>
        </p:spPr>
        <p:txBody>
          <a:bodyPr wrap="square" rtlCol="0" anchor="ctr"/>
          <a:lstStyle/>
          <a:p>
            <a:pPr indent="0" marL="0">
              <a:buNone/>
            </a:pPr>
            <a:r>
              <a:rPr lang="en-US" sz="2800" b="1" dirty="0">
                <a:solidFill>
                  <a:srgbClr val="D9B84F"/>
                </a:solidFill>
                <a:latin typeface="Cambria" pitchFamily="34" charset="0"/>
                <a:ea typeface="Cambria" pitchFamily="34" charset="-122"/>
                <a:cs typeface="Cambria" pitchFamily="34" charset="-120"/>
              </a:rPr>
              <a:t>1612</a:t>
            </a:r>
            <a:endParaRPr lang="en-US" sz="2800" dirty="0"/>
          </a:p>
        </p:txBody>
      </p:sp>
      <p:sp>
        <p:nvSpPr>
          <p:cNvPr id="13" name="Text 10"/>
          <p:cNvSpPr/>
          <p:nvPr/>
        </p:nvSpPr>
        <p:spPr>
          <a:xfrm>
            <a:off x="6217920" y="2286000"/>
            <a:ext cx="2651760" cy="457200"/>
          </a:xfrm>
          <a:prstGeom prst="rect">
            <a:avLst/>
          </a:prstGeom>
          <a:noFill/>
          <a:ln/>
        </p:spPr>
        <p:txBody>
          <a:bodyPr wrap="square" rtlCol="0" anchor="ctr"/>
          <a:lstStyle/>
          <a:p>
            <a:pPr indent="0" marL="0">
              <a:buNone/>
            </a:pPr>
            <a:r>
              <a:rPr lang="en-US" sz="1100" dirty="0">
                <a:solidFill>
                  <a:srgbClr val="BFE0EE"/>
                </a:solidFill>
                <a:latin typeface="Calibri" pitchFamily="34" charset="0"/>
                <a:ea typeface="Calibri" pitchFamily="34" charset="-122"/>
                <a:cs typeface="Calibri" pitchFamily="34" charset="-120"/>
              </a:rPr>
              <a:t>Traces origin to</a:t>
            </a:r>
            <a:endParaRPr lang="en-US" sz="1100" dirty="0"/>
          </a:p>
        </p:txBody>
      </p:sp>
      <p:sp>
        <p:nvSpPr>
          <p:cNvPr id="14" name="Text 11"/>
          <p:cNvSpPr/>
          <p:nvPr/>
        </p:nvSpPr>
        <p:spPr>
          <a:xfrm>
            <a:off x="9052560" y="1691640"/>
            <a:ext cx="2651760" cy="594360"/>
          </a:xfrm>
          <a:prstGeom prst="rect">
            <a:avLst/>
          </a:prstGeom>
          <a:noFill/>
          <a:ln/>
        </p:spPr>
        <p:txBody>
          <a:bodyPr wrap="square" rtlCol="0" anchor="ctr"/>
          <a:lstStyle/>
          <a:p>
            <a:pPr indent="0" marL="0">
              <a:buNone/>
            </a:pPr>
            <a:r>
              <a:rPr lang="en-US" sz="2800" b="1" dirty="0">
                <a:solidFill>
                  <a:srgbClr val="D9B84F"/>
                </a:solidFill>
                <a:latin typeface="Cambria" pitchFamily="34" charset="0"/>
                <a:ea typeface="Cambria" pitchFamily="34" charset="-122"/>
                <a:cs typeface="Cambria" pitchFamily="34" charset="-120"/>
              </a:rPr>
              <a:t>7,500 km</a:t>
            </a:r>
            <a:endParaRPr lang="en-US" sz="2800" dirty="0"/>
          </a:p>
        </p:txBody>
      </p:sp>
      <p:sp>
        <p:nvSpPr>
          <p:cNvPr id="15" name="Text 12"/>
          <p:cNvSpPr/>
          <p:nvPr/>
        </p:nvSpPr>
        <p:spPr>
          <a:xfrm>
            <a:off x="9052560" y="2286000"/>
            <a:ext cx="2651760" cy="457200"/>
          </a:xfrm>
          <a:prstGeom prst="rect">
            <a:avLst/>
          </a:prstGeom>
          <a:noFill/>
          <a:ln/>
        </p:spPr>
        <p:txBody>
          <a:bodyPr wrap="square" rtlCol="0" anchor="ctr"/>
          <a:lstStyle/>
          <a:p>
            <a:pPr indent="0" marL="0">
              <a:buNone/>
            </a:pPr>
            <a:r>
              <a:rPr lang="en-US" sz="1100" dirty="0">
                <a:solidFill>
                  <a:srgbClr val="BFE0EE"/>
                </a:solidFill>
                <a:latin typeface="Calibri" pitchFamily="34" charset="0"/>
                <a:ea typeface="Calibri" pitchFamily="34" charset="-122"/>
                <a:cs typeface="Calibri" pitchFamily="34" charset="-120"/>
              </a:rPr>
              <a:t>Coastline safeguarded</a:t>
            </a:r>
            <a:endParaRPr lang="en-US" sz="1100" dirty="0"/>
          </a:p>
        </p:txBody>
      </p:sp>
      <p:sp>
        <p:nvSpPr>
          <p:cNvPr id="16" name="Shape 13"/>
          <p:cNvSpPr/>
          <p:nvPr/>
        </p:nvSpPr>
        <p:spPr>
          <a:xfrm>
            <a:off x="548640" y="2880360"/>
            <a:ext cx="11064240" cy="0"/>
          </a:xfrm>
          <a:prstGeom prst="line">
            <a:avLst/>
          </a:prstGeom>
          <a:noFill/>
          <a:ln w="12700">
            <a:solidFill>
              <a:srgbClr val="1C6E8C"/>
            </a:solidFill>
            <a:prstDash val="solid"/>
          </a:ln>
        </p:spPr>
      </p:sp>
      <p:sp>
        <p:nvSpPr>
          <p:cNvPr id="17" name="Text 14"/>
          <p:cNvSpPr/>
          <p:nvPr/>
        </p:nvSpPr>
        <p:spPr>
          <a:xfrm>
            <a:off x="548640" y="3108960"/>
            <a:ext cx="5486400" cy="320040"/>
          </a:xfrm>
          <a:prstGeom prst="rect">
            <a:avLst/>
          </a:prstGeom>
          <a:noFill/>
          <a:ln/>
        </p:spPr>
        <p:txBody>
          <a:bodyPr wrap="square" rtlCol="0" anchor="ctr"/>
          <a:lstStyle/>
          <a:p>
            <a:pPr indent="0" marL="0">
              <a:buNone/>
            </a:pPr>
            <a:r>
              <a:rPr lang="en-US" sz="1300" b="1" spc="100" kern="0" dirty="0">
                <a:solidFill>
                  <a:srgbClr val="B8912F"/>
                </a:solidFill>
                <a:latin typeface="Calibri" pitchFamily="34" charset="0"/>
                <a:ea typeface="Calibri" pitchFamily="34" charset="-122"/>
                <a:cs typeface="Calibri" pitchFamily="34" charset="-120"/>
              </a:rPr>
              <a:t>COMPOSITION</a:t>
            </a:r>
            <a:endParaRPr lang="en-US" sz="1300" dirty="0"/>
          </a:p>
        </p:txBody>
      </p:sp>
      <p:sp>
        <p:nvSpPr>
          <p:cNvPr id="18" name="Text 15"/>
          <p:cNvSpPr/>
          <p:nvPr/>
        </p:nvSpPr>
        <p:spPr>
          <a:xfrm>
            <a:off x="548640" y="3474720"/>
            <a:ext cx="5486400" cy="3017520"/>
          </a:xfrm>
          <a:prstGeom prst="rect">
            <a:avLst/>
          </a:prstGeom>
          <a:noFill/>
          <a:ln/>
        </p:spPr>
        <p:txBody>
          <a:bodyPr wrap="square" rtlCol="0" anchor="ctr"/>
          <a:lstStyle/>
          <a:p>
            <a:pPr marL="342900" indent="-342900">
              <a:lnSpc>
                <a:spcPct val="130000"/>
              </a:lnSpc>
              <a:spcAft>
                <a:spcPts val="800"/>
              </a:spcAft>
              <a:buSzPct val="100000"/>
              <a:buChar char="•"/>
            </a:pPr>
            <a:r>
              <a:rPr lang="en-US" sz="1150" dirty="0">
                <a:solidFill>
                  <a:srgbClr val="F7F3E8"/>
                </a:solidFill>
                <a:latin typeface="Calibri" pitchFamily="34" charset="0"/>
                <a:ea typeface="Calibri" pitchFamily="34" charset="-122"/>
                <a:cs typeface="Calibri" pitchFamily="34" charset="-120"/>
              </a:rPr>
              <a:t>A blue-water navy — one of the few navies to operate an indigenous aircraft carrier.</a:t>
            </a:r>
            <a:endParaRPr lang="en-US" sz="1150" dirty="0"/>
          </a:p>
          <a:p>
            <a:pPr marL="342900" indent="-342900">
              <a:lnSpc>
                <a:spcPct val="130000"/>
              </a:lnSpc>
              <a:spcAft>
                <a:spcPts val="800"/>
              </a:spcAft>
              <a:buSzPct val="100000"/>
              <a:buChar char="•"/>
            </a:pPr>
            <a:r>
              <a:rPr lang="en-US" sz="1150" dirty="0">
                <a:solidFill>
                  <a:srgbClr val="F7F3E8"/>
                </a:solidFill>
                <a:latin typeface="Calibri" pitchFamily="34" charset="0"/>
                <a:ea typeface="Calibri" pitchFamily="34" charset="-122"/>
                <a:cs typeface="Calibri" pitchFamily="34" charset="-120"/>
              </a:rPr>
              <a:t>Fleet arms: Surface Fleet, Submarine Arm, Naval Aviation (Fleet Air Arm), Marine Commando Force.</a:t>
            </a:r>
            <a:endParaRPr lang="en-US" sz="1150" dirty="0"/>
          </a:p>
          <a:p>
            <a:pPr marL="342900" indent="-342900">
              <a:lnSpc>
                <a:spcPct val="130000"/>
              </a:lnSpc>
              <a:spcAft>
                <a:spcPts val="800"/>
              </a:spcAft>
              <a:buSzPct val="100000"/>
              <a:buChar char="•"/>
            </a:pPr>
            <a:r>
              <a:rPr lang="en-US" sz="1150" dirty="0">
                <a:solidFill>
                  <a:srgbClr val="F7F3E8"/>
                </a:solidFill>
                <a:latin typeface="Calibri" pitchFamily="34" charset="0"/>
                <a:ea typeface="Calibri" pitchFamily="34" charset="-122"/>
                <a:cs typeface="Calibri" pitchFamily="34" charset="-120"/>
              </a:rPr>
              <a:t>Three Commands: Western (Mumbai), Eastern (Visakhapatnam), Southern (Kochi, training).</a:t>
            </a:r>
            <a:endParaRPr lang="en-US" sz="1150" dirty="0"/>
          </a:p>
          <a:p>
            <a:pPr marL="342900" indent="-342900">
              <a:lnSpc>
                <a:spcPct val="130000"/>
              </a:lnSpc>
              <a:spcAft>
                <a:spcPts val="800"/>
              </a:spcAft>
              <a:buSzPct val="100000"/>
              <a:buChar char="•"/>
            </a:pPr>
            <a:r>
              <a:rPr lang="en-US" sz="1150" dirty="0">
                <a:solidFill>
                  <a:srgbClr val="F7F3E8"/>
                </a:solidFill>
                <a:latin typeface="Calibri" pitchFamily="34" charset="0"/>
                <a:ea typeface="Calibri" pitchFamily="34" charset="-122"/>
                <a:cs typeface="Calibri" pitchFamily="34" charset="-120"/>
              </a:rPr>
              <a:t>Operates India's nuclear triad's sea leg via ballistic-missile submarines.</a:t>
            </a:r>
            <a:endParaRPr lang="en-US" sz="1150" dirty="0"/>
          </a:p>
        </p:txBody>
      </p:sp>
      <p:sp>
        <p:nvSpPr>
          <p:cNvPr id="19" name="Text 16"/>
          <p:cNvSpPr/>
          <p:nvPr/>
        </p:nvSpPr>
        <p:spPr>
          <a:xfrm>
            <a:off x="6355080" y="3108960"/>
            <a:ext cx="5303520" cy="320040"/>
          </a:xfrm>
          <a:prstGeom prst="rect">
            <a:avLst/>
          </a:prstGeom>
          <a:noFill/>
          <a:ln/>
        </p:spPr>
        <p:txBody>
          <a:bodyPr wrap="square" rtlCol="0" anchor="ctr"/>
          <a:lstStyle/>
          <a:p>
            <a:pPr indent="0" marL="0">
              <a:buNone/>
            </a:pPr>
            <a:r>
              <a:rPr lang="en-US" sz="1300" b="1" spc="100" kern="0" dirty="0">
                <a:solidFill>
                  <a:srgbClr val="B8912F"/>
                </a:solidFill>
                <a:latin typeface="Calibri" pitchFamily="34" charset="0"/>
                <a:ea typeface="Calibri" pitchFamily="34" charset="-122"/>
                <a:cs typeface="Calibri" pitchFamily="34" charset="-120"/>
              </a:rPr>
              <a:t>KEY ASSETS</a:t>
            </a:r>
            <a:endParaRPr lang="en-US" sz="1300" dirty="0"/>
          </a:p>
        </p:txBody>
      </p:sp>
      <p:sp>
        <p:nvSpPr>
          <p:cNvPr id="20" name="Text 17"/>
          <p:cNvSpPr/>
          <p:nvPr/>
        </p:nvSpPr>
        <p:spPr>
          <a:xfrm>
            <a:off x="6355080" y="3474720"/>
            <a:ext cx="5303520" cy="3017520"/>
          </a:xfrm>
          <a:prstGeom prst="rect">
            <a:avLst/>
          </a:prstGeom>
          <a:noFill/>
          <a:ln/>
        </p:spPr>
        <p:txBody>
          <a:bodyPr wrap="square" rtlCol="0" anchor="ctr"/>
          <a:lstStyle/>
          <a:p>
            <a:pPr marL="342900" indent="-342900">
              <a:lnSpc>
                <a:spcPct val="130000"/>
              </a:lnSpc>
              <a:spcAft>
                <a:spcPts val="800"/>
              </a:spcAft>
              <a:buSzPct val="100000"/>
              <a:buChar char="•"/>
            </a:pPr>
            <a:r>
              <a:rPr lang="en-US" sz="1150" dirty="0">
                <a:solidFill>
                  <a:srgbClr val="F7F3E8"/>
                </a:solidFill>
                <a:latin typeface="Calibri" pitchFamily="34" charset="0"/>
                <a:ea typeface="Calibri" pitchFamily="34" charset="-122"/>
                <a:cs typeface="Calibri" pitchFamily="34" charset="-120"/>
              </a:rPr>
              <a:t>Aircraft carriers: INS Vikrant (indigenous), INS Vikramaditya</a:t>
            </a:r>
            <a:endParaRPr lang="en-US" sz="1150" dirty="0"/>
          </a:p>
          <a:p>
            <a:pPr marL="342900" indent="-342900">
              <a:lnSpc>
                <a:spcPct val="130000"/>
              </a:lnSpc>
              <a:spcAft>
                <a:spcPts val="800"/>
              </a:spcAft>
              <a:buSzPct val="100000"/>
              <a:buChar char="•"/>
            </a:pPr>
            <a:r>
              <a:rPr lang="en-US" sz="1150" dirty="0">
                <a:solidFill>
                  <a:srgbClr val="F7F3E8"/>
                </a:solidFill>
                <a:latin typeface="Calibri" pitchFamily="34" charset="0"/>
                <a:ea typeface="Calibri" pitchFamily="34" charset="-122"/>
                <a:cs typeface="Calibri" pitchFamily="34" charset="-120"/>
              </a:rPr>
              <a:t>Submarines: Arihant-class (nuclear-powered ballistic), Kalvari-class (Scorpene)</a:t>
            </a:r>
            <a:endParaRPr lang="en-US" sz="1150" dirty="0"/>
          </a:p>
          <a:p>
            <a:pPr marL="342900" indent="-342900">
              <a:lnSpc>
                <a:spcPct val="130000"/>
              </a:lnSpc>
              <a:spcAft>
                <a:spcPts val="800"/>
              </a:spcAft>
              <a:buSzPct val="100000"/>
              <a:buChar char="•"/>
            </a:pPr>
            <a:r>
              <a:rPr lang="en-US" sz="1150" dirty="0">
                <a:solidFill>
                  <a:srgbClr val="F7F3E8"/>
                </a:solidFill>
                <a:latin typeface="Calibri" pitchFamily="34" charset="0"/>
                <a:ea typeface="Calibri" pitchFamily="34" charset="-122"/>
                <a:cs typeface="Calibri" pitchFamily="34" charset="-120"/>
              </a:rPr>
              <a:t>Destroyers &amp; Frigates: Visakhapatnam-class, Kolkata-class, Shivalik-class</a:t>
            </a:r>
            <a:endParaRPr lang="en-US" sz="1150" dirty="0"/>
          </a:p>
          <a:p>
            <a:pPr marL="342900" indent="-342900">
              <a:lnSpc>
                <a:spcPct val="130000"/>
              </a:lnSpc>
              <a:spcAft>
                <a:spcPts val="800"/>
              </a:spcAft>
              <a:buSzPct val="100000"/>
              <a:buChar char="•"/>
            </a:pPr>
            <a:r>
              <a:rPr lang="en-US" sz="1150" dirty="0">
                <a:solidFill>
                  <a:srgbClr val="F7F3E8"/>
                </a:solidFill>
                <a:latin typeface="Calibri" pitchFamily="34" charset="0"/>
                <a:ea typeface="Calibri" pitchFamily="34" charset="-122"/>
                <a:cs typeface="Calibri" pitchFamily="34" charset="-120"/>
              </a:rPr>
              <a:t>Naval Aviation: MiG-29K, Tejas Navy, P-8I Poseidon, Sea King &amp; MH-60R helicopters</a:t>
            </a:r>
            <a:endParaRPr lang="en-US" sz="1150" dirty="0"/>
          </a:p>
        </p:txBody>
      </p:sp>
      <p:sp>
        <p:nvSpPr>
          <p:cNvPr id="21" name="Text 18"/>
          <p:cNvSpPr/>
          <p:nvPr/>
        </p:nvSpPr>
        <p:spPr>
          <a:xfrm>
            <a:off x="457200" y="6473952"/>
            <a:ext cx="7315200" cy="274320"/>
          </a:xfrm>
          <a:prstGeom prst="rect">
            <a:avLst/>
          </a:prstGeom>
          <a:noFill/>
          <a:ln/>
        </p:spPr>
        <p:txBody>
          <a:bodyPr wrap="square" rtlCol="0" anchor="ctr"/>
          <a:lstStyle/>
          <a:p>
            <a:pPr indent="0" marL="0">
              <a:buNone/>
            </a:pPr>
            <a:r>
              <a:rPr lang="en-US" sz="1000" i="1" dirty="0">
                <a:solidFill>
                  <a:srgbClr val="C9B896"/>
                </a:solidFill>
                <a:latin typeface="Calibri" pitchFamily="34" charset="0"/>
                <a:ea typeface="Calibri" pitchFamily="34" charset="-122"/>
                <a:cs typeface="Calibri" pitchFamily="34" charset="-120"/>
              </a:rPr>
              <a:t>Indian Armed Forces  |  Indian Navy</a:t>
            </a:r>
            <a:endParaRPr lang="en-US" sz="1000" dirty="0"/>
          </a:p>
        </p:txBody>
      </p:sp>
      <p:sp>
        <p:nvSpPr>
          <p:cNvPr id="22" name="Text 19"/>
          <p:cNvSpPr/>
          <p:nvPr/>
        </p:nvSpPr>
        <p:spPr>
          <a:xfrm>
            <a:off x="11274552" y="6473952"/>
            <a:ext cx="457200" cy="274320"/>
          </a:xfrm>
          <a:prstGeom prst="rect">
            <a:avLst/>
          </a:prstGeom>
          <a:noFill/>
          <a:ln/>
        </p:spPr>
        <p:txBody>
          <a:bodyPr wrap="square" rtlCol="0" anchor="ctr"/>
          <a:lstStyle/>
          <a:p>
            <a:pPr algn="r" indent="0" marL="0">
              <a:buNone/>
            </a:pPr>
            <a:r>
              <a:rPr lang="en-US" sz="1000" dirty="0">
                <a:solidFill>
                  <a:srgbClr val="C9B896"/>
                </a:solidFill>
                <a:latin typeface="Calibri" pitchFamily="34" charset="0"/>
                <a:ea typeface="Calibri" pitchFamily="34" charset="-122"/>
                <a:cs typeface="Calibri" pitchFamily="34" charset="-120"/>
              </a:rPr>
              <a:t>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E6F0F5"/>
          </a:solidFill>
          <a:ln/>
        </p:spPr>
      </p:sp>
      <p:sp>
        <p:nvSpPr>
          <p:cNvPr id="3" name="Text 1"/>
          <p:cNvSpPr/>
          <p:nvPr/>
        </p:nvSpPr>
        <p:spPr>
          <a:xfrm>
            <a:off x="566928" y="137160"/>
            <a:ext cx="7315200" cy="274320"/>
          </a:xfrm>
          <a:prstGeom prst="rect">
            <a:avLst/>
          </a:prstGeom>
          <a:noFill/>
          <a:ln/>
        </p:spPr>
        <p:txBody>
          <a:bodyPr wrap="square" rtlCol="0" anchor="ctr"/>
          <a:lstStyle/>
          <a:p>
            <a:pPr indent="0" marL="0">
              <a:buNone/>
            </a:pPr>
            <a:r>
              <a:rPr lang="en-US" sz="1200" b="1" spc="200" kern="0" dirty="0">
                <a:solidFill>
                  <a:srgbClr val="B8912F"/>
                </a:solidFill>
                <a:latin typeface="Calibri" pitchFamily="34" charset="0"/>
                <a:ea typeface="Calibri" pitchFamily="34" charset="-122"/>
                <a:cs typeface="Calibri" pitchFamily="34" charset="-120"/>
              </a:rPr>
              <a:t>INDIAN NAVY</a:t>
            </a:r>
            <a:endParaRPr lang="en-US" sz="1200" dirty="0"/>
          </a:p>
        </p:txBody>
      </p:sp>
      <p:sp>
        <p:nvSpPr>
          <p:cNvPr id="4" name="Text 2"/>
          <p:cNvSpPr/>
          <p:nvPr/>
        </p:nvSpPr>
        <p:spPr>
          <a:xfrm>
            <a:off x="548640" y="365760"/>
            <a:ext cx="11091672" cy="685800"/>
          </a:xfrm>
          <a:prstGeom prst="rect">
            <a:avLst/>
          </a:prstGeom>
          <a:noFill/>
          <a:ln/>
        </p:spPr>
        <p:txBody>
          <a:bodyPr wrap="square" rtlCol="0" anchor="ctr"/>
          <a:lstStyle/>
          <a:p>
            <a:pPr indent="0" marL="0">
              <a:buNone/>
            </a:pPr>
            <a:r>
              <a:rPr lang="en-US" sz="3000" b="1" dirty="0">
                <a:solidFill>
                  <a:srgbClr val="23281C"/>
                </a:solidFill>
                <a:latin typeface="Cambria" pitchFamily="34" charset="0"/>
                <a:ea typeface="Cambria" pitchFamily="34" charset="-122"/>
                <a:cs typeface="Cambria" pitchFamily="34" charset="-120"/>
              </a:rPr>
              <a:t>Officer Ranks — Highest to Lowest</a:t>
            </a:r>
            <a:endParaRPr lang="en-US" sz="3000" dirty="0"/>
          </a:p>
        </p:txBody>
      </p:sp>
      <p:sp>
        <p:nvSpPr>
          <p:cNvPr id="5" name="Shape 3"/>
          <p:cNvSpPr/>
          <p:nvPr/>
        </p:nvSpPr>
        <p:spPr>
          <a:xfrm>
            <a:off x="10607040" y="320040"/>
            <a:ext cx="822960" cy="822960"/>
          </a:xfrm>
          <a:prstGeom prst="ellipse">
            <a:avLst/>
          </a:prstGeom>
          <a:solidFill>
            <a:srgbClr val="0B3D5C"/>
          </a:solidFill>
          <a:ln/>
        </p:spPr>
      </p:sp>
      <p:pic>
        <p:nvPicPr>
          <p:cNvPr id="6" name="Image 0" descr="/home/claude/ppt/icons/star.png">    </p:cNvPr>
          <p:cNvPicPr>
            <a:picLocks noChangeAspect="1"/>
          </p:cNvPicPr>
          <p:nvPr/>
        </p:nvPicPr>
        <p:blipFill>
          <a:blip r:embed="rId1"/>
          <a:stretch>
            <a:fillRect/>
          </a:stretch>
        </p:blipFill>
        <p:spPr>
          <a:xfrm>
            <a:off x="10792206" y="505206"/>
            <a:ext cx="452628" cy="452628"/>
          </a:xfrm>
          <a:prstGeom prst="rect">
            <a:avLst/>
          </a:prstGeom>
        </p:spPr>
      </p:pic>
      <p:sp>
        <p:nvSpPr>
          <p:cNvPr id="7" name="Shape 4"/>
          <p:cNvSpPr/>
          <p:nvPr/>
        </p:nvSpPr>
        <p:spPr>
          <a:xfrm>
            <a:off x="548640" y="1371600"/>
            <a:ext cx="6949440" cy="402336"/>
          </a:xfrm>
          <a:prstGeom prst="rect">
            <a:avLst/>
          </a:prstGeom>
          <a:solidFill>
            <a:srgbClr val="0B3D5C"/>
          </a:solidFill>
          <a:ln/>
        </p:spPr>
      </p:sp>
      <p:sp>
        <p:nvSpPr>
          <p:cNvPr id="8" name="Text 5"/>
          <p:cNvSpPr/>
          <p:nvPr/>
        </p:nvSpPr>
        <p:spPr>
          <a:xfrm>
            <a:off x="603504" y="1371600"/>
            <a:ext cx="365760" cy="402336"/>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9" name="Text 6"/>
          <p:cNvSpPr/>
          <p:nvPr/>
        </p:nvSpPr>
        <p:spPr>
          <a:xfrm>
            <a:off x="1005840" y="1371600"/>
            <a:ext cx="6400800" cy="402336"/>
          </a:xfrm>
          <a:prstGeom prst="rect">
            <a:avLst/>
          </a:prstGeom>
          <a:noFill/>
          <a:ln/>
        </p:spPr>
        <p:txBody>
          <a:bodyPr wrap="square"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Admiral of the Fleet</a:t>
            </a:r>
            <a:endParaRPr lang="en-US" sz="1250" dirty="0"/>
          </a:p>
        </p:txBody>
      </p:sp>
      <p:sp>
        <p:nvSpPr>
          <p:cNvPr id="10" name="Text 7"/>
          <p:cNvSpPr/>
          <p:nvPr/>
        </p:nvSpPr>
        <p:spPr>
          <a:xfrm>
            <a:off x="7662672" y="1371600"/>
            <a:ext cx="5120640" cy="402336"/>
          </a:xfrm>
          <a:prstGeom prst="rect">
            <a:avLst/>
          </a:prstGeom>
          <a:noFill/>
          <a:ln/>
        </p:spPr>
        <p:txBody>
          <a:bodyPr wrap="square" rtlCol="0" anchor="ctr"/>
          <a:lstStyle/>
          <a:p>
            <a:pPr indent="0" marL="0">
              <a:buNone/>
            </a:pPr>
            <a:r>
              <a:rPr lang="en-US" sz="1050" i="1" dirty="0">
                <a:solidFill>
                  <a:srgbClr val="4A5548"/>
                </a:solidFill>
                <a:latin typeface="Calibri" pitchFamily="34" charset="0"/>
                <a:ea typeface="Calibri" pitchFamily="34" charset="-122"/>
                <a:cs typeface="Calibri" pitchFamily="34" charset="-120"/>
              </a:rPr>
              <a:t>5-star · ceremonial — conferred only once (Adm. R.D. Katari lineage / Nanda)</a:t>
            </a:r>
            <a:endParaRPr lang="en-US" sz="1050" dirty="0"/>
          </a:p>
        </p:txBody>
      </p:sp>
      <p:sp>
        <p:nvSpPr>
          <p:cNvPr id="11" name="Shape 8"/>
          <p:cNvSpPr/>
          <p:nvPr/>
        </p:nvSpPr>
        <p:spPr>
          <a:xfrm>
            <a:off x="548640" y="1856232"/>
            <a:ext cx="6502400" cy="402336"/>
          </a:xfrm>
          <a:prstGeom prst="rect">
            <a:avLst/>
          </a:prstGeom>
          <a:solidFill>
            <a:srgbClr val="1C6E8C"/>
          </a:solidFill>
          <a:ln/>
        </p:spPr>
      </p:sp>
      <p:sp>
        <p:nvSpPr>
          <p:cNvPr id="12" name="Text 9"/>
          <p:cNvSpPr/>
          <p:nvPr/>
        </p:nvSpPr>
        <p:spPr>
          <a:xfrm>
            <a:off x="603504" y="1856232"/>
            <a:ext cx="365760" cy="402336"/>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13" name="Text 10"/>
          <p:cNvSpPr/>
          <p:nvPr/>
        </p:nvSpPr>
        <p:spPr>
          <a:xfrm>
            <a:off x="1005840" y="1856232"/>
            <a:ext cx="5953760" cy="402336"/>
          </a:xfrm>
          <a:prstGeom prst="rect">
            <a:avLst/>
          </a:prstGeom>
          <a:noFill/>
          <a:ln/>
        </p:spPr>
        <p:txBody>
          <a:bodyPr wrap="square"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Admiral</a:t>
            </a:r>
            <a:endParaRPr lang="en-US" sz="1250" dirty="0"/>
          </a:p>
        </p:txBody>
      </p:sp>
      <p:sp>
        <p:nvSpPr>
          <p:cNvPr id="14" name="Text 11"/>
          <p:cNvSpPr/>
          <p:nvPr/>
        </p:nvSpPr>
        <p:spPr>
          <a:xfrm>
            <a:off x="7215632" y="1856232"/>
            <a:ext cx="5120640" cy="402336"/>
          </a:xfrm>
          <a:prstGeom prst="rect">
            <a:avLst/>
          </a:prstGeom>
          <a:noFill/>
          <a:ln/>
        </p:spPr>
        <p:txBody>
          <a:bodyPr wrap="square" rtlCol="0" anchor="ctr"/>
          <a:lstStyle/>
          <a:p>
            <a:pPr indent="0" marL="0">
              <a:buNone/>
            </a:pPr>
            <a:r>
              <a:rPr lang="en-US" sz="1050" i="1" dirty="0">
                <a:solidFill>
                  <a:srgbClr val="4A5548"/>
                </a:solidFill>
                <a:latin typeface="Calibri" pitchFamily="34" charset="0"/>
                <a:ea typeface="Calibri" pitchFamily="34" charset="-122"/>
                <a:cs typeface="Calibri" pitchFamily="34" charset="-120"/>
              </a:rPr>
              <a:t>4-star · Chief of the Naval Staff (CNS)</a:t>
            </a:r>
            <a:endParaRPr lang="en-US" sz="1050" dirty="0"/>
          </a:p>
        </p:txBody>
      </p:sp>
      <p:sp>
        <p:nvSpPr>
          <p:cNvPr id="15" name="Shape 12"/>
          <p:cNvSpPr/>
          <p:nvPr/>
        </p:nvSpPr>
        <p:spPr>
          <a:xfrm>
            <a:off x="548640" y="2340864"/>
            <a:ext cx="6055360" cy="402336"/>
          </a:xfrm>
          <a:prstGeom prst="rect">
            <a:avLst/>
          </a:prstGeom>
          <a:solidFill>
            <a:srgbClr val="0B3D5C"/>
          </a:solidFill>
          <a:ln/>
        </p:spPr>
      </p:sp>
      <p:sp>
        <p:nvSpPr>
          <p:cNvPr id="16" name="Text 13"/>
          <p:cNvSpPr/>
          <p:nvPr/>
        </p:nvSpPr>
        <p:spPr>
          <a:xfrm>
            <a:off x="603504" y="2340864"/>
            <a:ext cx="365760" cy="402336"/>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17" name="Text 14"/>
          <p:cNvSpPr/>
          <p:nvPr/>
        </p:nvSpPr>
        <p:spPr>
          <a:xfrm>
            <a:off x="1005840" y="2340864"/>
            <a:ext cx="5506720" cy="402336"/>
          </a:xfrm>
          <a:prstGeom prst="rect">
            <a:avLst/>
          </a:prstGeom>
          <a:noFill/>
          <a:ln/>
        </p:spPr>
        <p:txBody>
          <a:bodyPr wrap="square"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Vice Admiral</a:t>
            </a:r>
            <a:endParaRPr lang="en-US" sz="1250" dirty="0"/>
          </a:p>
        </p:txBody>
      </p:sp>
      <p:sp>
        <p:nvSpPr>
          <p:cNvPr id="18" name="Text 15"/>
          <p:cNvSpPr/>
          <p:nvPr/>
        </p:nvSpPr>
        <p:spPr>
          <a:xfrm>
            <a:off x="6768592" y="2340864"/>
            <a:ext cx="5120640" cy="402336"/>
          </a:xfrm>
          <a:prstGeom prst="rect">
            <a:avLst/>
          </a:prstGeom>
          <a:noFill/>
          <a:ln/>
        </p:spPr>
        <p:txBody>
          <a:bodyPr wrap="square" rtlCol="0" anchor="ctr"/>
          <a:lstStyle/>
          <a:p>
            <a:pPr indent="0" marL="0">
              <a:buNone/>
            </a:pPr>
            <a:r>
              <a:rPr lang="en-US" sz="1050" i="1" dirty="0">
                <a:solidFill>
                  <a:srgbClr val="4A5548"/>
                </a:solidFill>
                <a:latin typeface="Calibri" pitchFamily="34" charset="0"/>
                <a:ea typeface="Calibri" pitchFamily="34" charset="-122"/>
                <a:cs typeface="Calibri" pitchFamily="34" charset="-120"/>
              </a:rPr>
              <a:t>3-star · Command-in-Chief</a:t>
            </a:r>
            <a:endParaRPr lang="en-US" sz="1050" dirty="0"/>
          </a:p>
        </p:txBody>
      </p:sp>
      <p:sp>
        <p:nvSpPr>
          <p:cNvPr id="19" name="Shape 16"/>
          <p:cNvSpPr/>
          <p:nvPr/>
        </p:nvSpPr>
        <p:spPr>
          <a:xfrm>
            <a:off x="548640" y="2825496"/>
            <a:ext cx="5608320" cy="402336"/>
          </a:xfrm>
          <a:prstGeom prst="rect">
            <a:avLst/>
          </a:prstGeom>
          <a:solidFill>
            <a:srgbClr val="1C6E8C"/>
          </a:solidFill>
          <a:ln/>
        </p:spPr>
      </p:sp>
      <p:sp>
        <p:nvSpPr>
          <p:cNvPr id="20" name="Text 17"/>
          <p:cNvSpPr/>
          <p:nvPr/>
        </p:nvSpPr>
        <p:spPr>
          <a:xfrm>
            <a:off x="603504" y="2825496"/>
            <a:ext cx="365760" cy="402336"/>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21" name="Text 18"/>
          <p:cNvSpPr/>
          <p:nvPr/>
        </p:nvSpPr>
        <p:spPr>
          <a:xfrm>
            <a:off x="1005840" y="2825496"/>
            <a:ext cx="5059680" cy="402336"/>
          </a:xfrm>
          <a:prstGeom prst="rect">
            <a:avLst/>
          </a:prstGeom>
          <a:noFill/>
          <a:ln/>
        </p:spPr>
        <p:txBody>
          <a:bodyPr wrap="square"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Rear Admiral</a:t>
            </a:r>
            <a:endParaRPr lang="en-US" sz="1250" dirty="0"/>
          </a:p>
        </p:txBody>
      </p:sp>
      <p:sp>
        <p:nvSpPr>
          <p:cNvPr id="22" name="Text 19"/>
          <p:cNvSpPr/>
          <p:nvPr/>
        </p:nvSpPr>
        <p:spPr>
          <a:xfrm>
            <a:off x="6321552" y="2825496"/>
            <a:ext cx="5120640" cy="402336"/>
          </a:xfrm>
          <a:prstGeom prst="rect">
            <a:avLst/>
          </a:prstGeom>
          <a:noFill/>
          <a:ln/>
        </p:spPr>
        <p:txBody>
          <a:bodyPr wrap="square" rtlCol="0" anchor="ctr"/>
          <a:lstStyle/>
          <a:p>
            <a:pPr indent="0" marL="0">
              <a:buNone/>
            </a:pPr>
            <a:r>
              <a:rPr lang="en-US" sz="1050" i="1" dirty="0">
                <a:solidFill>
                  <a:srgbClr val="4A5548"/>
                </a:solidFill>
                <a:latin typeface="Calibri" pitchFamily="34" charset="0"/>
                <a:ea typeface="Calibri" pitchFamily="34" charset="-122"/>
                <a:cs typeface="Calibri" pitchFamily="34" charset="-120"/>
              </a:rPr>
              <a:t>2-star · Flag Officer</a:t>
            </a:r>
            <a:endParaRPr lang="en-US" sz="1050" dirty="0"/>
          </a:p>
        </p:txBody>
      </p:sp>
      <p:sp>
        <p:nvSpPr>
          <p:cNvPr id="23" name="Shape 20"/>
          <p:cNvSpPr/>
          <p:nvPr/>
        </p:nvSpPr>
        <p:spPr>
          <a:xfrm>
            <a:off x="548640" y="3310128"/>
            <a:ext cx="5161280" cy="402336"/>
          </a:xfrm>
          <a:prstGeom prst="rect">
            <a:avLst/>
          </a:prstGeom>
          <a:solidFill>
            <a:srgbClr val="0B3D5C"/>
          </a:solidFill>
          <a:ln/>
        </p:spPr>
      </p:sp>
      <p:sp>
        <p:nvSpPr>
          <p:cNvPr id="24" name="Text 21"/>
          <p:cNvSpPr/>
          <p:nvPr/>
        </p:nvSpPr>
        <p:spPr>
          <a:xfrm>
            <a:off x="603504" y="3310128"/>
            <a:ext cx="365760" cy="402336"/>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25" name="Text 22"/>
          <p:cNvSpPr/>
          <p:nvPr/>
        </p:nvSpPr>
        <p:spPr>
          <a:xfrm>
            <a:off x="1005840" y="3310128"/>
            <a:ext cx="4612640" cy="402336"/>
          </a:xfrm>
          <a:prstGeom prst="rect">
            <a:avLst/>
          </a:prstGeom>
          <a:noFill/>
          <a:ln/>
        </p:spPr>
        <p:txBody>
          <a:bodyPr wrap="square"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Commodore</a:t>
            </a:r>
            <a:endParaRPr lang="en-US" sz="1250" dirty="0"/>
          </a:p>
        </p:txBody>
      </p:sp>
      <p:sp>
        <p:nvSpPr>
          <p:cNvPr id="26" name="Text 23"/>
          <p:cNvSpPr/>
          <p:nvPr/>
        </p:nvSpPr>
        <p:spPr>
          <a:xfrm>
            <a:off x="5874512" y="3310128"/>
            <a:ext cx="5120640" cy="402336"/>
          </a:xfrm>
          <a:prstGeom prst="rect">
            <a:avLst/>
          </a:prstGeom>
          <a:noFill/>
          <a:ln/>
        </p:spPr>
        <p:txBody>
          <a:bodyPr wrap="square" rtlCol="0" anchor="ctr"/>
          <a:lstStyle/>
          <a:p>
            <a:pPr indent="0" marL="0">
              <a:buNone/>
            </a:pPr>
            <a:r>
              <a:rPr lang="en-US" sz="1050" i="1" dirty="0">
                <a:solidFill>
                  <a:srgbClr val="4A5548"/>
                </a:solidFill>
                <a:latin typeface="Calibri" pitchFamily="34" charset="0"/>
                <a:ea typeface="Calibri" pitchFamily="34" charset="-122"/>
                <a:cs typeface="Calibri" pitchFamily="34" charset="-120"/>
              </a:rPr>
              <a:t>1-star · Senior command appointments</a:t>
            </a:r>
            <a:endParaRPr lang="en-US" sz="1050" dirty="0"/>
          </a:p>
        </p:txBody>
      </p:sp>
      <p:sp>
        <p:nvSpPr>
          <p:cNvPr id="27" name="Shape 24"/>
          <p:cNvSpPr/>
          <p:nvPr/>
        </p:nvSpPr>
        <p:spPr>
          <a:xfrm>
            <a:off x="548640" y="3794760"/>
            <a:ext cx="4714240" cy="402336"/>
          </a:xfrm>
          <a:prstGeom prst="rect">
            <a:avLst/>
          </a:prstGeom>
          <a:solidFill>
            <a:srgbClr val="1C6E8C"/>
          </a:solidFill>
          <a:ln/>
        </p:spPr>
      </p:sp>
      <p:sp>
        <p:nvSpPr>
          <p:cNvPr id="28" name="Text 25"/>
          <p:cNvSpPr/>
          <p:nvPr/>
        </p:nvSpPr>
        <p:spPr>
          <a:xfrm>
            <a:off x="603504" y="3794760"/>
            <a:ext cx="365760" cy="402336"/>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6</a:t>
            </a:r>
            <a:endParaRPr lang="en-US" sz="1100" dirty="0"/>
          </a:p>
        </p:txBody>
      </p:sp>
      <p:sp>
        <p:nvSpPr>
          <p:cNvPr id="29" name="Text 26"/>
          <p:cNvSpPr/>
          <p:nvPr/>
        </p:nvSpPr>
        <p:spPr>
          <a:xfrm>
            <a:off x="1005840" y="3794760"/>
            <a:ext cx="4165600" cy="402336"/>
          </a:xfrm>
          <a:prstGeom prst="rect">
            <a:avLst/>
          </a:prstGeom>
          <a:noFill/>
          <a:ln/>
        </p:spPr>
        <p:txBody>
          <a:bodyPr wrap="square"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Captain</a:t>
            </a:r>
            <a:endParaRPr lang="en-US" sz="1250" dirty="0"/>
          </a:p>
        </p:txBody>
      </p:sp>
      <p:sp>
        <p:nvSpPr>
          <p:cNvPr id="30" name="Text 27"/>
          <p:cNvSpPr/>
          <p:nvPr/>
        </p:nvSpPr>
        <p:spPr>
          <a:xfrm>
            <a:off x="5427472" y="3794760"/>
            <a:ext cx="5120640" cy="402336"/>
          </a:xfrm>
          <a:prstGeom prst="rect">
            <a:avLst/>
          </a:prstGeom>
          <a:noFill/>
          <a:ln/>
        </p:spPr>
        <p:txBody>
          <a:bodyPr wrap="square" rtlCol="0" anchor="ctr"/>
          <a:lstStyle/>
          <a:p>
            <a:pPr indent="0" marL="0">
              <a:buNone/>
            </a:pPr>
            <a:r>
              <a:rPr lang="en-US" sz="1050" i="1" dirty="0">
                <a:solidFill>
                  <a:srgbClr val="4A5548"/>
                </a:solidFill>
                <a:latin typeface="Calibri" pitchFamily="34" charset="0"/>
                <a:ea typeface="Calibri" pitchFamily="34" charset="-122"/>
                <a:cs typeface="Calibri" pitchFamily="34" charset="-120"/>
              </a:rPr>
              <a:t>Commands major warships</a:t>
            </a:r>
            <a:endParaRPr lang="en-US" sz="1050" dirty="0"/>
          </a:p>
        </p:txBody>
      </p:sp>
      <p:sp>
        <p:nvSpPr>
          <p:cNvPr id="31" name="Shape 28"/>
          <p:cNvSpPr/>
          <p:nvPr/>
        </p:nvSpPr>
        <p:spPr>
          <a:xfrm>
            <a:off x="548640" y="4279392"/>
            <a:ext cx="4267200" cy="402336"/>
          </a:xfrm>
          <a:prstGeom prst="rect">
            <a:avLst/>
          </a:prstGeom>
          <a:solidFill>
            <a:srgbClr val="0B3D5C"/>
          </a:solidFill>
          <a:ln/>
        </p:spPr>
      </p:sp>
      <p:sp>
        <p:nvSpPr>
          <p:cNvPr id="32" name="Text 29"/>
          <p:cNvSpPr/>
          <p:nvPr/>
        </p:nvSpPr>
        <p:spPr>
          <a:xfrm>
            <a:off x="603504" y="4279392"/>
            <a:ext cx="365760" cy="402336"/>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7</a:t>
            </a:r>
            <a:endParaRPr lang="en-US" sz="1100" dirty="0"/>
          </a:p>
        </p:txBody>
      </p:sp>
      <p:sp>
        <p:nvSpPr>
          <p:cNvPr id="33" name="Text 30"/>
          <p:cNvSpPr/>
          <p:nvPr/>
        </p:nvSpPr>
        <p:spPr>
          <a:xfrm>
            <a:off x="1005840" y="4279392"/>
            <a:ext cx="3718560" cy="402336"/>
          </a:xfrm>
          <a:prstGeom prst="rect">
            <a:avLst/>
          </a:prstGeom>
          <a:noFill/>
          <a:ln/>
        </p:spPr>
        <p:txBody>
          <a:bodyPr wrap="square"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Commander</a:t>
            </a:r>
            <a:endParaRPr lang="en-US" sz="1250" dirty="0"/>
          </a:p>
        </p:txBody>
      </p:sp>
      <p:sp>
        <p:nvSpPr>
          <p:cNvPr id="34" name="Text 31"/>
          <p:cNvSpPr/>
          <p:nvPr/>
        </p:nvSpPr>
        <p:spPr>
          <a:xfrm>
            <a:off x="4980432" y="4279392"/>
            <a:ext cx="5120640" cy="402336"/>
          </a:xfrm>
          <a:prstGeom prst="rect">
            <a:avLst/>
          </a:prstGeom>
          <a:noFill/>
          <a:ln/>
        </p:spPr>
        <p:txBody>
          <a:bodyPr wrap="square" rtlCol="0" anchor="ctr"/>
          <a:lstStyle/>
          <a:p>
            <a:pPr indent="0" marL="0">
              <a:buNone/>
            </a:pPr>
            <a:r>
              <a:rPr lang="en-US" sz="1050" i="1" dirty="0">
                <a:solidFill>
                  <a:srgbClr val="4A5548"/>
                </a:solidFill>
                <a:latin typeface="Calibri" pitchFamily="34" charset="0"/>
                <a:ea typeface="Calibri" pitchFamily="34" charset="-122"/>
                <a:cs typeface="Calibri" pitchFamily="34" charset="-120"/>
              </a:rPr>
              <a:t>Commands smaller vessels / department head</a:t>
            </a:r>
            <a:endParaRPr lang="en-US" sz="1050" dirty="0"/>
          </a:p>
        </p:txBody>
      </p:sp>
      <p:sp>
        <p:nvSpPr>
          <p:cNvPr id="35" name="Shape 32"/>
          <p:cNvSpPr/>
          <p:nvPr/>
        </p:nvSpPr>
        <p:spPr>
          <a:xfrm>
            <a:off x="548640" y="4764024"/>
            <a:ext cx="3820160" cy="402336"/>
          </a:xfrm>
          <a:prstGeom prst="rect">
            <a:avLst/>
          </a:prstGeom>
          <a:solidFill>
            <a:srgbClr val="1C6E8C"/>
          </a:solidFill>
          <a:ln/>
        </p:spPr>
      </p:sp>
      <p:sp>
        <p:nvSpPr>
          <p:cNvPr id="36" name="Text 33"/>
          <p:cNvSpPr/>
          <p:nvPr/>
        </p:nvSpPr>
        <p:spPr>
          <a:xfrm>
            <a:off x="603504" y="4764024"/>
            <a:ext cx="365760" cy="402336"/>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8</a:t>
            </a:r>
            <a:endParaRPr lang="en-US" sz="1100" dirty="0"/>
          </a:p>
        </p:txBody>
      </p:sp>
      <p:sp>
        <p:nvSpPr>
          <p:cNvPr id="37" name="Text 34"/>
          <p:cNvSpPr/>
          <p:nvPr/>
        </p:nvSpPr>
        <p:spPr>
          <a:xfrm>
            <a:off x="1005840" y="4764024"/>
            <a:ext cx="3271520" cy="402336"/>
          </a:xfrm>
          <a:prstGeom prst="rect">
            <a:avLst/>
          </a:prstGeom>
          <a:noFill/>
          <a:ln/>
        </p:spPr>
        <p:txBody>
          <a:bodyPr wrap="square"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Lieutenant Commander</a:t>
            </a:r>
            <a:endParaRPr lang="en-US" sz="1250" dirty="0"/>
          </a:p>
        </p:txBody>
      </p:sp>
      <p:sp>
        <p:nvSpPr>
          <p:cNvPr id="38" name="Text 35"/>
          <p:cNvSpPr/>
          <p:nvPr/>
        </p:nvSpPr>
        <p:spPr>
          <a:xfrm>
            <a:off x="4533392" y="4764024"/>
            <a:ext cx="5120640" cy="402336"/>
          </a:xfrm>
          <a:prstGeom prst="rect">
            <a:avLst/>
          </a:prstGeom>
          <a:noFill/>
          <a:ln/>
        </p:spPr>
        <p:txBody>
          <a:bodyPr wrap="square" rtlCol="0" anchor="ctr"/>
          <a:lstStyle/>
          <a:p>
            <a:pPr indent="0" marL="0">
              <a:buNone/>
            </a:pPr>
            <a:r>
              <a:rPr lang="en-US" sz="1050" i="1" dirty="0">
                <a:solidFill>
                  <a:srgbClr val="4A5548"/>
                </a:solidFill>
                <a:latin typeface="Calibri" pitchFamily="34" charset="0"/>
                <a:ea typeface="Calibri" pitchFamily="34" charset="-122"/>
                <a:cs typeface="Calibri" pitchFamily="34" charset="-120"/>
              </a:rPr>
              <a:t>Divisional officer</a:t>
            </a:r>
            <a:endParaRPr lang="en-US" sz="1050" dirty="0"/>
          </a:p>
        </p:txBody>
      </p:sp>
      <p:sp>
        <p:nvSpPr>
          <p:cNvPr id="39" name="Shape 36"/>
          <p:cNvSpPr/>
          <p:nvPr/>
        </p:nvSpPr>
        <p:spPr>
          <a:xfrm>
            <a:off x="548640" y="5248656"/>
            <a:ext cx="3373120" cy="402336"/>
          </a:xfrm>
          <a:prstGeom prst="rect">
            <a:avLst/>
          </a:prstGeom>
          <a:solidFill>
            <a:srgbClr val="0B3D5C"/>
          </a:solidFill>
          <a:ln/>
        </p:spPr>
      </p:sp>
      <p:sp>
        <p:nvSpPr>
          <p:cNvPr id="40" name="Text 37"/>
          <p:cNvSpPr/>
          <p:nvPr/>
        </p:nvSpPr>
        <p:spPr>
          <a:xfrm>
            <a:off x="603504" y="5248656"/>
            <a:ext cx="365760" cy="402336"/>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9</a:t>
            </a:r>
            <a:endParaRPr lang="en-US" sz="1100" dirty="0"/>
          </a:p>
        </p:txBody>
      </p:sp>
      <p:sp>
        <p:nvSpPr>
          <p:cNvPr id="41" name="Text 38"/>
          <p:cNvSpPr/>
          <p:nvPr/>
        </p:nvSpPr>
        <p:spPr>
          <a:xfrm>
            <a:off x="1005840" y="5248656"/>
            <a:ext cx="2824480" cy="402336"/>
          </a:xfrm>
          <a:prstGeom prst="rect">
            <a:avLst/>
          </a:prstGeom>
          <a:noFill/>
          <a:ln/>
        </p:spPr>
        <p:txBody>
          <a:bodyPr wrap="square"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Lieutenant</a:t>
            </a:r>
            <a:endParaRPr lang="en-US" sz="1250" dirty="0"/>
          </a:p>
        </p:txBody>
      </p:sp>
      <p:sp>
        <p:nvSpPr>
          <p:cNvPr id="42" name="Text 39"/>
          <p:cNvSpPr/>
          <p:nvPr/>
        </p:nvSpPr>
        <p:spPr>
          <a:xfrm>
            <a:off x="4086352" y="5248656"/>
            <a:ext cx="5120640" cy="402336"/>
          </a:xfrm>
          <a:prstGeom prst="rect">
            <a:avLst/>
          </a:prstGeom>
          <a:noFill/>
          <a:ln/>
        </p:spPr>
        <p:txBody>
          <a:bodyPr wrap="square" rtlCol="0" anchor="ctr"/>
          <a:lstStyle/>
          <a:p>
            <a:pPr indent="0" marL="0">
              <a:buNone/>
            </a:pPr>
            <a:r>
              <a:rPr lang="en-US" sz="1050" i="1" dirty="0">
                <a:solidFill>
                  <a:srgbClr val="4A5548"/>
                </a:solidFill>
                <a:latin typeface="Calibri" pitchFamily="34" charset="0"/>
                <a:ea typeface="Calibri" pitchFamily="34" charset="-122"/>
                <a:cs typeface="Calibri" pitchFamily="34" charset="-120"/>
              </a:rPr>
              <a:t>Watch-keeping officer</a:t>
            </a:r>
            <a:endParaRPr lang="en-US" sz="1050" dirty="0"/>
          </a:p>
        </p:txBody>
      </p:sp>
      <p:sp>
        <p:nvSpPr>
          <p:cNvPr id="43" name="Shape 40"/>
          <p:cNvSpPr/>
          <p:nvPr/>
        </p:nvSpPr>
        <p:spPr>
          <a:xfrm>
            <a:off x="548640" y="5733288"/>
            <a:ext cx="2926080" cy="402336"/>
          </a:xfrm>
          <a:prstGeom prst="rect">
            <a:avLst/>
          </a:prstGeom>
          <a:solidFill>
            <a:srgbClr val="1C6E8C"/>
          </a:solidFill>
          <a:ln/>
        </p:spPr>
      </p:sp>
      <p:sp>
        <p:nvSpPr>
          <p:cNvPr id="44" name="Text 41"/>
          <p:cNvSpPr/>
          <p:nvPr/>
        </p:nvSpPr>
        <p:spPr>
          <a:xfrm>
            <a:off x="603504" y="5733288"/>
            <a:ext cx="365760" cy="402336"/>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10</a:t>
            </a:r>
            <a:endParaRPr lang="en-US" sz="1100" dirty="0"/>
          </a:p>
        </p:txBody>
      </p:sp>
      <p:sp>
        <p:nvSpPr>
          <p:cNvPr id="45" name="Text 42"/>
          <p:cNvSpPr/>
          <p:nvPr/>
        </p:nvSpPr>
        <p:spPr>
          <a:xfrm>
            <a:off x="1005840" y="5733288"/>
            <a:ext cx="2377440" cy="402336"/>
          </a:xfrm>
          <a:prstGeom prst="rect">
            <a:avLst/>
          </a:prstGeom>
          <a:noFill/>
          <a:ln/>
        </p:spPr>
        <p:txBody>
          <a:bodyPr wrap="square"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Sub Lieutenant</a:t>
            </a:r>
            <a:endParaRPr lang="en-US" sz="1250" dirty="0"/>
          </a:p>
        </p:txBody>
      </p:sp>
      <p:sp>
        <p:nvSpPr>
          <p:cNvPr id="46" name="Text 43"/>
          <p:cNvSpPr/>
          <p:nvPr/>
        </p:nvSpPr>
        <p:spPr>
          <a:xfrm>
            <a:off x="3639312" y="5733288"/>
            <a:ext cx="5120640" cy="402336"/>
          </a:xfrm>
          <a:prstGeom prst="rect">
            <a:avLst/>
          </a:prstGeom>
          <a:noFill/>
          <a:ln/>
        </p:spPr>
        <p:txBody>
          <a:bodyPr wrap="square" rtlCol="0" anchor="ctr"/>
          <a:lstStyle/>
          <a:p>
            <a:pPr indent="0" marL="0">
              <a:buNone/>
            </a:pPr>
            <a:r>
              <a:rPr lang="en-US" sz="1050" i="1" dirty="0">
                <a:solidFill>
                  <a:srgbClr val="4A5548"/>
                </a:solidFill>
                <a:latin typeface="Calibri" pitchFamily="34" charset="0"/>
                <a:ea typeface="Calibri" pitchFamily="34" charset="-122"/>
                <a:cs typeface="Calibri" pitchFamily="34" charset="-120"/>
              </a:rPr>
              <a:t>Entry commissioned rank</a:t>
            </a:r>
            <a:endParaRPr lang="en-US" sz="1050" dirty="0"/>
          </a:p>
        </p:txBody>
      </p:sp>
      <p:sp>
        <p:nvSpPr>
          <p:cNvPr id="47" name="Text 44"/>
          <p:cNvSpPr/>
          <p:nvPr/>
        </p:nvSpPr>
        <p:spPr>
          <a:xfrm>
            <a:off x="457200" y="6473952"/>
            <a:ext cx="7315200" cy="274320"/>
          </a:xfrm>
          <a:prstGeom prst="rect">
            <a:avLst/>
          </a:prstGeom>
          <a:noFill/>
          <a:ln/>
        </p:spPr>
        <p:txBody>
          <a:bodyPr wrap="square" rtlCol="0" anchor="ctr"/>
          <a:lstStyle/>
          <a:p>
            <a:pPr indent="0" marL="0">
              <a:buNone/>
            </a:pPr>
            <a:r>
              <a:rPr lang="en-US" sz="1000" i="1" dirty="0">
                <a:solidFill>
                  <a:srgbClr val="4A5548"/>
                </a:solidFill>
                <a:latin typeface="Calibri" pitchFamily="34" charset="0"/>
                <a:ea typeface="Calibri" pitchFamily="34" charset="-122"/>
                <a:cs typeface="Calibri" pitchFamily="34" charset="-120"/>
              </a:rPr>
              <a:t>Indian Armed Forces  |  Indian Navy</a:t>
            </a:r>
            <a:endParaRPr lang="en-US" sz="1000" dirty="0"/>
          </a:p>
        </p:txBody>
      </p:sp>
      <p:sp>
        <p:nvSpPr>
          <p:cNvPr id="48" name="Text 45"/>
          <p:cNvSpPr/>
          <p:nvPr/>
        </p:nvSpPr>
        <p:spPr>
          <a:xfrm>
            <a:off x="11274552" y="6473952"/>
            <a:ext cx="457200" cy="274320"/>
          </a:xfrm>
          <a:prstGeom prst="rect">
            <a:avLst/>
          </a:prstGeom>
          <a:noFill/>
          <a:ln/>
        </p:spPr>
        <p:txBody>
          <a:bodyPr wrap="square" rtlCol="0" anchor="ctr"/>
          <a:lstStyle/>
          <a:p>
            <a:pPr algn="r" indent="0" marL="0">
              <a:buNone/>
            </a:pPr>
            <a:r>
              <a:rPr lang="en-US" sz="1000" dirty="0">
                <a:solidFill>
                  <a:srgbClr val="4A5548"/>
                </a:solidFill>
                <a:latin typeface="Calibri" pitchFamily="34" charset="0"/>
                <a:ea typeface="Calibri" pitchFamily="34" charset="-122"/>
                <a:cs typeface="Calibri" pitchFamily="34" charset="-120"/>
              </a:rPr>
              <a:t>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E6F0F5"/>
          </a:solidFill>
          <a:ln/>
        </p:spPr>
      </p:sp>
      <p:sp>
        <p:nvSpPr>
          <p:cNvPr id="3" name="Text 1"/>
          <p:cNvSpPr/>
          <p:nvPr/>
        </p:nvSpPr>
        <p:spPr>
          <a:xfrm>
            <a:off x="566928" y="137160"/>
            <a:ext cx="7315200" cy="274320"/>
          </a:xfrm>
          <a:prstGeom prst="rect">
            <a:avLst/>
          </a:prstGeom>
          <a:noFill/>
          <a:ln/>
        </p:spPr>
        <p:txBody>
          <a:bodyPr wrap="square" rtlCol="0" anchor="ctr"/>
          <a:lstStyle/>
          <a:p>
            <a:pPr indent="0" marL="0">
              <a:buNone/>
            </a:pPr>
            <a:r>
              <a:rPr lang="en-US" sz="1200" b="1" spc="200" kern="0" dirty="0">
                <a:solidFill>
                  <a:srgbClr val="B8912F"/>
                </a:solidFill>
                <a:latin typeface="Calibri" pitchFamily="34" charset="0"/>
                <a:ea typeface="Calibri" pitchFamily="34" charset="-122"/>
                <a:cs typeface="Calibri" pitchFamily="34" charset="-120"/>
              </a:rPr>
              <a:t>INDIAN NAVY</a:t>
            </a:r>
            <a:endParaRPr lang="en-US" sz="1200" dirty="0"/>
          </a:p>
        </p:txBody>
      </p:sp>
      <p:sp>
        <p:nvSpPr>
          <p:cNvPr id="4" name="Text 2"/>
          <p:cNvSpPr/>
          <p:nvPr/>
        </p:nvSpPr>
        <p:spPr>
          <a:xfrm>
            <a:off x="548640" y="365760"/>
            <a:ext cx="11091672" cy="685800"/>
          </a:xfrm>
          <a:prstGeom prst="rect">
            <a:avLst/>
          </a:prstGeom>
          <a:noFill/>
          <a:ln/>
        </p:spPr>
        <p:txBody>
          <a:bodyPr wrap="square" rtlCol="0" anchor="ctr"/>
          <a:lstStyle/>
          <a:p>
            <a:pPr indent="0" marL="0">
              <a:buNone/>
            </a:pPr>
            <a:r>
              <a:rPr lang="en-US" sz="3000" b="1" dirty="0">
                <a:solidFill>
                  <a:srgbClr val="23281C"/>
                </a:solidFill>
                <a:latin typeface="Cambria" pitchFamily="34" charset="0"/>
                <a:ea typeface="Cambria" pitchFamily="34" charset="-122"/>
                <a:cs typeface="Cambria" pitchFamily="34" charset="-120"/>
              </a:rPr>
              <a:t>Sailor Ranks (Enlisted)</a:t>
            </a:r>
            <a:endParaRPr lang="en-US" sz="3000" dirty="0"/>
          </a:p>
        </p:txBody>
      </p:sp>
      <p:sp>
        <p:nvSpPr>
          <p:cNvPr id="5" name="Shape 3"/>
          <p:cNvSpPr/>
          <p:nvPr/>
        </p:nvSpPr>
        <p:spPr>
          <a:xfrm>
            <a:off x="10607040" y="320040"/>
            <a:ext cx="822960" cy="822960"/>
          </a:xfrm>
          <a:prstGeom prst="ellipse">
            <a:avLst/>
          </a:prstGeom>
          <a:solidFill>
            <a:srgbClr val="B8912F"/>
          </a:solidFill>
          <a:ln/>
        </p:spPr>
      </p:sp>
      <p:pic>
        <p:nvPicPr>
          <p:cNvPr id="6" name="Image 0" descr="/home/claude/ppt/icons/medal.png">    </p:cNvPr>
          <p:cNvPicPr>
            <a:picLocks noChangeAspect="1"/>
          </p:cNvPicPr>
          <p:nvPr/>
        </p:nvPicPr>
        <p:blipFill>
          <a:blip r:embed="rId1"/>
          <a:stretch>
            <a:fillRect/>
          </a:stretch>
        </p:blipFill>
        <p:spPr>
          <a:xfrm>
            <a:off x="10792206" y="505206"/>
            <a:ext cx="452628" cy="452628"/>
          </a:xfrm>
          <a:prstGeom prst="rect">
            <a:avLst/>
          </a:prstGeom>
        </p:spPr>
      </p:pic>
      <p:sp>
        <p:nvSpPr>
          <p:cNvPr id="7" name="Shape 4"/>
          <p:cNvSpPr/>
          <p:nvPr/>
        </p:nvSpPr>
        <p:spPr>
          <a:xfrm>
            <a:off x="548640" y="1463040"/>
            <a:ext cx="6949440" cy="457200"/>
          </a:xfrm>
          <a:prstGeom prst="rect">
            <a:avLst/>
          </a:prstGeom>
          <a:solidFill>
            <a:srgbClr val="0B3D5C"/>
          </a:solidFill>
          <a:ln/>
        </p:spPr>
      </p:sp>
      <p:sp>
        <p:nvSpPr>
          <p:cNvPr id="8" name="Text 5"/>
          <p:cNvSpPr/>
          <p:nvPr/>
        </p:nvSpPr>
        <p:spPr>
          <a:xfrm>
            <a:off x="603504" y="1463040"/>
            <a:ext cx="365760" cy="457200"/>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9" name="Text 6"/>
          <p:cNvSpPr/>
          <p:nvPr/>
        </p:nvSpPr>
        <p:spPr>
          <a:xfrm>
            <a:off x="1005840" y="1463040"/>
            <a:ext cx="6400800" cy="457200"/>
          </a:xfrm>
          <a:prstGeom prst="rect">
            <a:avLst/>
          </a:prstGeom>
          <a:noFill/>
          <a:ln/>
        </p:spPr>
        <p:txBody>
          <a:bodyPr wrap="square"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Master Chief Petty Officer I</a:t>
            </a:r>
            <a:endParaRPr lang="en-US" sz="1250" dirty="0"/>
          </a:p>
        </p:txBody>
      </p:sp>
      <p:sp>
        <p:nvSpPr>
          <p:cNvPr id="10" name="Text 7"/>
          <p:cNvSpPr/>
          <p:nvPr/>
        </p:nvSpPr>
        <p:spPr>
          <a:xfrm>
            <a:off x="7662672" y="1463040"/>
            <a:ext cx="5120640" cy="457200"/>
          </a:xfrm>
          <a:prstGeom prst="rect">
            <a:avLst/>
          </a:prstGeom>
          <a:noFill/>
          <a:ln/>
        </p:spPr>
        <p:txBody>
          <a:bodyPr wrap="square" rtlCol="0" anchor="ctr"/>
          <a:lstStyle/>
          <a:p>
            <a:pPr indent="0" marL="0">
              <a:buNone/>
            </a:pPr>
            <a:r>
              <a:rPr lang="en-US" sz="1050" i="1" dirty="0">
                <a:solidFill>
                  <a:srgbClr val="4A5548"/>
                </a:solidFill>
                <a:latin typeface="Calibri" pitchFamily="34" charset="0"/>
                <a:ea typeface="Calibri" pitchFamily="34" charset="-122"/>
                <a:cs typeface="Calibri" pitchFamily="34" charset="-120"/>
              </a:rPr>
              <a:t>Senior-most sailor rank (MCPO 1st Class)</a:t>
            </a:r>
            <a:endParaRPr lang="en-US" sz="1050" dirty="0"/>
          </a:p>
        </p:txBody>
      </p:sp>
      <p:sp>
        <p:nvSpPr>
          <p:cNvPr id="11" name="Shape 8"/>
          <p:cNvSpPr/>
          <p:nvPr/>
        </p:nvSpPr>
        <p:spPr>
          <a:xfrm>
            <a:off x="548640" y="2020824"/>
            <a:ext cx="6364224" cy="457200"/>
          </a:xfrm>
          <a:prstGeom prst="rect">
            <a:avLst/>
          </a:prstGeom>
          <a:solidFill>
            <a:srgbClr val="1C6E8C"/>
          </a:solidFill>
          <a:ln/>
        </p:spPr>
      </p:sp>
      <p:sp>
        <p:nvSpPr>
          <p:cNvPr id="12" name="Text 9"/>
          <p:cNvSpPr/>
          <p:nvPr/>
        </p:nvSpPr>
        <p:spPr>
          <a:xfrm>
            <a:off x="603504" y="2020824"/>
            <a:ext cx="365760" cy="457200"/>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13" name="Text 10"/>
          <p:cNvSpPr/>
          <p:nvPr/>
        </p:nvSpPr>
        <p:spPr>
          <a:xfrm>
            <a:off x="1005840" y="2020824"/>
            <a:ext cx="5815584" cy="457200"/>
          </a:xfrm>
          <a:prstGeom prst="rect">
            <a:avLst/>
          </a:prstGeom>
          <a:noFill/>
          <a:ln/>
        </p:spPr>
        <p:txBody>
          <a:bodyPr wrap="square"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Master Chief Petty Officer II</a:t>
            </a:r>
            <a:endParaRPr lang="en-US" sz="1250" dirty="0"/>
          </a:p>
        </p:txBody>
      </p:sp>
      <p:sp>
        <p:nvSpPr>
          <p:cNvPr id="14" name="Text 11"/>
          <p:cNvSpPr/>
          <p:nvPr/>
        </p:nvSpPr>
        <p:spPr>
          <a:xfrm>
            <a:off x="7077456" y="2020824"/>
            <a:ext cx="5120640" cy="457200"/>
          </a:xfrm>
          <a:prstGeom prst="rect">
            <a:avLst/>
          </a:prstGeom>
          <a:noFill/>
          <a:ln/>
        </p:spPr>
        <p:txBody>
          <a:bodyPr wrap="square" rtlCol="0" anchor="ctr"/>
          <a:lstStyle/>
          <a:p>
            <a:pPr indent="0" marL="0">
              <a:buNone/>
            </a:pPr>
            <a:r>
              <a:rPr lang="en-US" sz="1050" i="1" dirty="0">
                <a:solidFill>
                  <a:srgbClr val="4A5548"/>
                </a:solidFill>
                <a:latin typeface="Calibri" pitchFamily="34" charset="0"/>
                <a:ea typeface="Calibri" pitchFamily="34" charset="-122"/>
                <a:cs typeface="Calibri" pitchFamily="34" charset="-120"/>
              </a:rPr>
              <a:t>MCPO 2nd Class</a:t>
            </a:r>
            <a:endParaRPr lang="en-US" sz="1050" dirty="0"/>
          </a:p>
        </p:txBody>
      </p:sp>
      <p:sp>
        <p:nvSpPr>
          <p:cNvPr id="15" name="Shape 12"/>
          <p:cNvSpPr/>
          <p:nvPr/>
        </p:nvSpPr>
        <p:spPr>
          <a:xfrm>
            <a:off x="548640" y="2578608"/>
            <a:ext cx="5779008" cy="457200"/>
          </a:xfrm>
          <a:prstGeom prst="rect">
            <a:avLst/>
          </a:prstGeom>
          <a:solidFill>
            <a:srgbClr val="0B3D5C"/>
          </a:solidFill>
          <a:ln/>
        </p:spPr>
      </p:sp>
      <p:sp>
        <p:nvSpPr>
          <p:cNvPr id="16" name="Text 13"/>
          <p:cNvSpPr/>
          <p:nvPr/>
        </p:nvSpPr>
        <p:spPr>
          <a:xfrm>
            <a:off x="603504" y="2578608"/>
            <a:ext cx="365760" cy="457200"/>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17" name="Text 14"/>
          <p:cNvSpPr/>
          <p:nvPr/>
        </p:nvSpPr>
        <p:spPr>
          <a:xfrm>
            <a:off x="1005840" y="2578608"/>
            <a:ext cx="5230368" cy="457200"/>
          </a:xfrm>
          <a:prstGeom prst="rect">
            <a:avLst/>
          </a:prstGeom>
          <a:noFill/>
          <a:ln/>
        </p:spPr>
        <p:txBody>
          <a:bodyPr wrap="square"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Chief Petty Officer</a:t>
            </a:r>
            <a:endParaRPr lang="en-US" sz="1250" dirty="0"/>
          </a:p>
        </p:txBody>
      </p:sp>
      <p:sp>
        <p:nvSpPr>
          <p:cNvPr id="18" name="Text 15"/>
          <p:cNvSpPr/>
          <p:nvPr/>
        </p:nvSpPr>
        <p:spPr>
          <a:xfrm>
            <a:off x="6492240" y="2578608"/>
            <a:ext cx="5120640" cy="457200"/>
          </a:xfrm>
          <a:prstGeom prst="rect">
            <a:avLst/>
          </a:prstGeom>
          <a:noFill/>
          <a:ln/>
        </p:spPr>
        <p:txBody>
          <a:bodyPr wrap="square" rtlCol="0" anchor="ctr"/>
          <a:lstStyle/>
          <a:p>
            <a:pPr indent="0" marL="0">
              <a:buNone/>
            </a:pPr>
            <a:r>
              <a:rPr lang="en-US" sz="1050" i="1" dirty="0">
                <a:solidFill>
                  <a:srgbClr val="4A5548"/>
                </a:solidFill>
                <a:latin typeface="Calibri" pitchFamily="34" charset="0"/>
                <a:ea typeface="Calibri" pitchFamily="34" charset="-122"/>
                <a:cs typeface="Calibri" pitchFamily="34" charset="-120"/>
              </a:rPr>
              <a:t>equiv. Sergeant</a:t>
            </a:r>
            <a:endParaRPr lang="en-US" sz="1050" dirty="0"/>
          </a:p>
        </p:txBody>
      </p:sp>
      <p:sp>
        <p:nvSpPr>
          <p:cNvPr id="19" name="Shape 16"/>
          <p:cNvSpPr/>
          <p:nvPr/>
        </p:nvSpPr>
        <p:spPr>
          <a:xfrm>
            <a:off x="548640" y="3136392"/>
            <a:ext cx="5193792" cy="457200"/>
          </a:xfrm>
          <a:prstGeom prst="rect">
            <a:avLst/>
          </a:prstGeom>
          <a:solidFill>
            <a:srgbClr val="1C6E8C"/>
          </a:solidFill>
          <a:ln/>
        </p:spPr>
      </p:sp>
      <p:sp>
        <p:nvSpPr>
          <p:cNvPr id="20" name="Text 17"/>
          <p:cNvSpPr/>
          <p:nvPr/>
        </p:nvSpPr>
        <p:spPr>
          <a:xfrm>
            <a:off x="603504" y="3136392"/>
            <a:ext cx="365760" cy="457200"/>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21" name="Text 18"/>
          <p:cNvSpPr/>
          <p:nvPr/>
        </p:nvSpPr>
        <p:spPr>
          <a:xfrm>
            <a:off x="1005840" y="3136392"/>
            <a:ext cx="4645152" cy="457200"/>
          </a:xfrm>
          <a:prstGeom prst="rect">
            <a:avLst/>
          </a:prstGeom>
          <a:noFill/>
          <a:ln/>
        </p:spPr>
        <p:txBody>
          <a:bodyPr wrap="square"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Petty Officer</a:t>
            </a:r>
            <a:endParaRPr lang="en-US" sz="1250" dirty="0"/>
          </a:p>
        </p:txBody>
      </p:sp>
      <p:sp>
        <p:nvSpPr>
          <p:cNvPr id="22" name="Text 19"/>
          <p:cNvSpPr/>
          <p:nvPr/>
        </p:nvSpPr>
        <p:spPr>
          <a:xfrm>
            <a:off x="5907024" y="3136392"/>
            <a:ext cx="5120640" cy="457200"/>
          </a:xfrm>
          <a:prstGeom prst="rect">
            <a:avLst/>
          </a:prstGeom>
          <a:noFill/>
          <a:ln/>
        </p:spPr>
        <p:txBody>
          <a:bodyPr wrap="square" rtlCol="0" anchor="ctr"/>
          <a:lstStyle/>
          <a:p>
            <a:pPr indent="0" marL="0">
              <a:buNone/>
            </a:pPr>
            <a:r>
              <a:rPr lang="en-US" sz="1050" i="1" dirty="0">
                <a:solidFill>
                  <a:srgbClr val="4A5548"/>
                </a:solidFill>
                <a:latin typeface="Calibri" pitchFamily="34" charset="0"/>
                <a:ea typeface="Calibri" pitchFamily="34" charset="-122"/>
                <a:cs typeface="Calibri" pitchFamily="34" charset="-120"/>
              </a:rPr>
              <a:t>equiv. Corporal</a:t>
            </a:r>
            <a:endParaRPr lang="en-US" sz="1050" dirty="0"/>
          </a:p>
        </p:txBody>
      </p:sp>
      <p:sp>
        <p:nvSpPr>
          <p:cNvPr id="23" name="Shape 20"/>
          <p:cNvSpPr/>
          <p:nvPr/>
        </p:nvSpPr>
        <p:spPr>
          <a:xfrm>
            <a:off x="548640" y="3694176"/>
            <a:ext cx="4608576" cy="457200"/>
          </a:xfrm>
          <a:prstGeom prst="rect">
            <a:avLst/>
          </a:prstGeom>
          <a:solidFill>
            <a:srgbClr val="0B3D5C"/>
          </a:solidFill>
          <a:ln/>
        </p:spPr>
      </p:sp>
      <p:sp>
        <p:nvSpPr>
          <p:cNvPr id="24" name="Text 21"/>
          <p:cNvSpPr/>
          <p:nvPr/>
        </p:nvSpPr>
        <p:spPr>
          <a:xfrm>
            <a:off x="603504" y="3694176"/>
            <a:ext cx="365760" cy="457200"/>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25" name="Text 22"/>
          <p:cNvSpPr/>
          <p:nvPr/>
        </p:nvSpPr>
        <p:spPr>
          <a:xfrm>
            <a:off x="1005840" y="3694176"/>
            <a:ext cx="4059936" cy="457200"/>
          </a:xfrm>
          <a:prstGeom prst="rect">
            <a:avLst/>
          </a:prstGeom>
          <a:noFill/>
          <a:ln/>
        </p:spPr>
        <p:txBody>
          <a:bodyPr wrap="square"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Leading Seaman</a:t>
            </a:r>
            <a:endParaRPr lang="en-US" sz="1250" dirty="0"/>
          </a:p>
        </p:txBody>
      </p:sp>
      <p:sp>
        <p:nvSpPr>
          <p:cNvPr id="26" name="Text 23"/>
          <p:cNvSpPr/>
          <p:nvPr/>
        </p:nvSpPr>
        <p:spPr>
          <a:xfrm>
            <a:off x="5321808" y="3694176"/>
            <a:ext cx="5120640" cy="457200"/>
          </a:xfrm>
          <a:prstGeom prst="rect">
            <a:avLst/>
          </a:prstGeom>
          <a:noFill/>
          <a:ln/>
        </p:spPr>
        <p:txBody>
          <a:bodyPr wrap="square" rtlCol="0" anchor="ctr"/>
          <a:lstStyle/>
          <a:p>
            <a:pPr indent="0" marL="0">
              <a:buNone/>
            </a:pPr>
            <a:r>
              <a:rPr lang="en-US" sz="1050" i="1" dirty="0">
                <a:solidFill>
                  <a:srgbClr val="4A5548"/>
                </a:solidFill>
                <a:latin typeface="Calibri" pitchFamily="34" charset="0"/>
                <a:ea typeface="Calibri" pitchFamily="34" charset="-122"/>
                <a:cs typeface="Calibri" pitchFamily="34" charset="-120"/>
              </a:rPr>
              <a:t>Skilled rating, small-team lead</a:t>
            </a:r>
            <a:endParaRPr lang="en-US" sz="1050" dirty="0"/>
          </a:p>
        </p:txBody>
      </p:sp>
      <p:sp>
        <p:nvSpPr>
          <p:cNvPr id="27" name="Shape 24"/>
          <p:cNvSpPr/>
          <p:nvPr/>
        </p:nvSpPr>
        <p:spPr>
          <a:xfrm>
            <a:off x="548640" y="4251960"/>
            <a:ext cx="4023360" cy="457200"/>
          </a:xfrm>
          <a:prstGeom prst="rect">
            <a:avLst/>
          </a:prstGeom>
          <a:solidFill>
            <a:srgbClr val="1C6E8C"/>
          </a:solidFill>
          <a:ln/>
        </p:spPr>
      </p:sp>
      <p:sp>
        <p:nvSpPr>
          <p:cNvPr id="28" name="Text 25"/>
          <p:cNvSpPr/>
          <p:nvPr/>
        </p:nvSpPr>
        <p:spPr>
          <a:xfrm>
            <a:off x="603504" y="4251960"/>
            <a:ext cx="365760" cy="457200"/>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6</a:t>
            </a:r>
            <a:endParaRPr lang="en-US" sz="1100" dirty="0"/>
          </a:p>
        </p:txBody>
      </p:sp>
      <p:sp>
        <p:nvSpPr>
          <p:cNvPr id="29" name="Text 26"/>
          <p:cNvSpPr/>
          <p:nvPr/>
        </p:nvSpPr>
        <p:spPr>
          <a:xfrm>
            <a:off x="1005840" y="4251960"/>
            <a:ext cx="3474720" cy="457200"/>
          </a:xfrm>
          <a:prstGeom prst="rect">
            <a:avLst/>
          </a:prstGeom>
          <a:noFill/>
          <a:ln/>
        </p:spPr>
        <p:txBody>
          <a:bodyPr wrap="square"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Seaman I / II</a:t>
            </a:r>
            <a:endParaRPr lang="en-US" sz="1250" dirty="0"/>
          </a:p>
        </p:txBody>
      </p:sp>
      <p:sp>
        <p:nvSpPr>
          <p:cNvPr id="30" name="Text 27"/>
          <p:cNvSpPr/>
          <p:nvPr/>
        </p:nvSpPr>
        <p:spPr>
          <a:xfrm>
            <a:off x="4736592" y="4251960"/>
            <a:ext cx="5120640" cy="457200"/>
          </a:xfrm>
          <a:prstGeom prst="rect">
            <a:avLst/>
          </a:prstGeom>
          <a:noFill/>
          <a:ln/>
        </p:spPr>
        <p:txBody>
          <a:bodyPr wrap="square" rtlCol="0" anchor="ctr"/>
          <a:lstStyle/>
          <a:p>
            <a:pPr indent="0" marL="0">
              <a:buNone/>
            </a:pPr>
            <a:r>
              <a:rPr lang="en-US" sz="1050" i="1" dirty="0">
                <a:solidFill>
                  <a:srgbClr val="4A5548"/>
                </a:solidFill>
                <a:latin typeface="Calibri" pitchFamily="34" charset="0"/>
                <a:ea typeface="Calibri" pitchFamily="34" charset="-122"/>
                <a:cs typeface="Calibri" pitchFamily="34" charset="-120"/>
              </a:rPr>
              <a:t>Entry sailor rank</a:t>
            </a:r>
            <a:endParaRPr lang="en-US" sz="1050" dirty="0"/>
          </a:p>
        </p:txBody>
      </p:sp>
      <p:sp>
        <p:nvSpPr>
          <p:cNvPr id="31" name="Shape 28"/>
          <p:cNvSpPr/>
          <p:nvPr/>
        </p:nvSpPr>
        <p:spPr>
          <a:xfrm>
            <a:off x="548640" y="5212080"/>
            <a:ext cx="11064240" cy="1051560"/>
          </a:xfrm>
          <a:prstGeom prst="roundRect">
            <a:avLst>
              <a:gd name="adj" fmla="val 6957"/>
            </a:avLst>
          </a:prstGeom>
          <a:solidFill>
            <a:srgbClr val="FFFFFF"/>
          </a:solidFill>
          <a:ln w="12700">
            <a:solidFill>
              <a:srgbClr val="CFE3EC"/>
            </a:solidFill>
            <a:prstDash val="solid"/>
          </a:ln>
        </p:spPr>
      </p:sp>
      <p:sp>
        <p:nvSpPr>
          <p:cNvPr id="32" name="Text 29"/>
          <p:cNvSpPr/>
          <p:nvPr/>
        </p:nvSpPr>
        <p:spPr>
          <a:xfrm>
            <a:off x="777240" y="5212080"/>
            <a:ext cx="10607040" cy="1051560"/>
          </a:xfrm>
          <a:prstGeom prst="rect">
            <a:avLst/>
          </a:prstGeom>
          <a:noFill/>
          <a:ln/>
        </p:spPr>
        <p:txBody>
          <a:bodyPr wrap="square" rtlCol="0" anchor="ctr"/>
          <a:lstStyle/>
          <a:p>
            <a:pPr indent="0" marL="0">
              <a:buNone/>
            </a:pPr>
            <a:r>
              <a:rPr lang="en-US" sz="1100" i="1" dirty="0">
                <a:solidFill>
                  <a:srgbClr val="4A5548"/>
                </a:solidFill>
                <a:latin typeface="Calibri" pitchFamily="34" charset="0"/>
                <a:ea typeface="Calibri" pitchFamily="34" charset="-122"/>
                <a:cs typeface="Calibri" pitchFamily="34" charset="-120"/>
              </a:rPr>
              <a:t>Sailors form the backbone of ship and submarine operations — gunners, engine-room artificers, radio operators, divers and more — each trained in a specific branch before rising through these seniority ranks.</a:t>
            </a:r>
            <a:endParaRPr lang="en-US" sz="1100" dirty="0"/>
          </a:p>
        </p:txBody>
      </p:sp>
      <p:sp>
        <p:nvSpPr>
          <p:cNvPr id="33" name="Text 30"/>
          <p:cNvSpPr/>
          <p:nvPr/>
        </p:nvSpPr>
        <p:spPr>
          <a:xfrm>
            <a:off x="457200" y="6473952"/>
            <a:ext cx="7315200" cy="274320"/>
          </a:xfrm>
          <a:prstGeom prst="rect">
            <a:avLst/>
          </a:prstGeom>
          <a:noFill/>
          <a:ln/>
        </p:spPr>
        <p:txBody>
          <a:bodyPr wrap="square" rtlCol="0" anchor="ctr"/>
          <a:lstStyle/>
          <a:p>
            <a:pPr indent="0" marL="0">
              <a:buNone/>
            </a:pPr>
            <a:r>
              <a:rPr lang="en-US" sz="1000" i="1" dirty="0">
                <a:solidFill>
                  <a:srgbClr val="4A5548"/>
                </a:solidFill>
                <a:latin typeface="Calibri" pitchFamily="34" charset="0"/>
                <a:ea typeface="Calibri" pitchFamily="34" charset="-122"/>
                <a:cs typeface="Calibri" pitchFamily="34" charset="-120"/>
              </a:rPr>
              <a:t>Indian Armed Forces  |  Indian Navy</a:t>
            </a:r>
            <a:endParaRPr lang="en-US" sz="1000" dirty="0"/>
          </a:p>
        </p:txBody>
      </p:sp>
      <p:sp>
        <p:nvSpPr>
          <p:cNvPr id="34" name="Text 31"/>
          <p:cNvSpPr/>
          <p:nvPr/>
        </p:nvSpPr>
        <p:spPr>
          <a:xfrm>
            <a:off x="11274552" y="6473952"/>
            <a:ext cx="457200" cy="274320"/>
          </a:xfrm>
          <a:prstGeom prst="rect">
            <a:avLst/>
          </a:prstGeom>
          <a:noFill/>
          <a:ln/>
        </p:spPr>
        <p:txBody>
          <a:bodyPr wrap="square" rtlCol="0" anchor="ctr"/>
          <a:lstStyle/>
          <a:p>
            <a:pPr algn="r" indent="0" marL="0">
              <a:buNone/>
            </a:pPr>
            <a:r>
              <a:rPr lang="en-US" sz="1000" dirty="0">
                <a:solidFill>
                  <a:srgbClr val="4A5548"/>
                </a:solidFill>
                <a:latin typeface="Calibri" pitchFamily="34" charset="0"/>
                <a:ea typeface="Calibri" pitchFamily="34" charset="-122"/>
                <a:cs typeface="Calibri" pitchFamily="34" charset="-120"/>
              </a:rPr>
              <a:t>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1B3A5C"/>
          </a:solidFill>
          <a:ln/>
        </p:spPr>
      </p:sp>
      <p:sp>
        <p:nvSpPr>
          <p:cNvPr id="3" name="Shape 1"/>
          <p:cNvSpPr/>
          <p:nvPr/>
        </p:nvSpPr>
        <p:spPr>
          <a:xfrm>
            <a:off x="0" y="0"/>
            <a:ext cx="12188952" cy="1417320"/>
          </a:xfrm>
          <a:prstGeom prst="rect">
            <a:avLst/>
          </a:prstGeom>
          <a:solidFill>
            <a:srgbClr val="10283F"/>
          </a:solidFill>
          <a:ln/>
        </p:spPr>
      </p:sp>
      <p:sp>
        <p:nvSpPr>
          <p:cNvPr id="4" name="Shape 2"/>
          <p:cNvSpPr/>
          <p:nvPr/>
        </p:nvSpPr>
        <p:spPr>
          <a:xfrm>
            <a:off x="548640" y="320040"/>
            <a:ext cx="777240" cy="777240"/>
          </a:xfrm>
          <a:prstGeom prst="ellipse">
            <a:avLst/>
          </a:prstGeom>
          <a:solidFill>
            <a:srgbClr val="B8912F"/>
          </a:solidFill>
          <a:ln/>
        </p:spPr>
      </p:sp>
      <p:pic>
        <p:nvPicPr>
          <p:cNvPr id="5" name="Image 0" descr="/home/claude/ppt/icons/jet.png">    </p:cNvPr>
          <p:cNvPicPr>
            <a:picLocks noChangeAspect="1"/>
          </p:cNvPicPr>
          <p:nvPr/>
        </p:nvPicPr>
        <p:blipFill>
          <a:blip r:embed="rId1"/>
          <a:stretch>
            <a:fillRect/>
          </a:stretch>
        </p:blipFill>
        <p:spPr>
          <a:xfrm>
            <a:off x="723519" y="494919"/>
            <a:ext cx="427482" cy="427482"/>
          </a:xfrm>
          <a:prstGeom prst="rect">
            <a:avLst/>
          </a:prstGeom>
        </p:spPr>
      </p:pic>
      <p:sp>
        <p:nvSpPr>
          <p:cNvPr id="6" name="Text 3"/>
          <p:cNvSpPr/>
          <p:nvPr/>
        </p:nvSpPr>
        <p:spPr>
          <a:xfrm>
            <a:off x="1463040" y="320040"/>
            <a:ext cx="7315200" cy="502920"/>
          </a:xfrm>
          <a:prstGeom prst="rect">
            <a:avLst/>
          </a:prstGeom>
          <a:noFill/>
          <a:ln/>
        </p:spPr>
        <p:txBody>
          <a:bodyPr wrap="square" rtlCol="0" anchor="ctr"/>
          <a:lstStyle/>
          <a:p>
            <a:pPr indent="0" marL="0">
              <a:buNone/>
            </a:pPr>
            <a:r>
              <a:rPr lang="en-US" sz="3000" b="1" dirty="0">
                <a:solidFill>
                  <a:srgbClr val="F7F3E8"/>
                </a:solidFill>
                <a:latin typeface="Cambria" pitchFamily="34" charset="0"/>
                <a:ea typeface="Cambria" pitchFamily="34" charset="-122"/>
                <a:cs typeface="Cambria" pitchFamily="34" charset="-120"/>
              </a:rPr>
              <a:t>INDIAN AIR FORCE</a:t>
            </a:r>
            <a:endParaRPr lang="en-US" sz="3000" dirty="0"/>
          </a:p>
        </p:txBody>
      </p:sp>
      <p:sp>
        <p:nvSpPr>
          <p:cNvPr id="7" name="Text 4"/>
          <p:cNvSpPr/>
          <p:nvPr/>
        </p:nvSpPr>
        <p:spPr>
          <a:xfrm>
            <a:off x="1463040" y="822960"/>
            <a:ext cx="8229600" cy="365760"/>
          </a:xfrm>
          <a:prstGeom prst="rect">
            <a:avLst/>
          </a:prstGeom>
          <a:noFill/>
          <a:ln/>
        </p:spPr>
        <p:txBody>
          <a:bodyPr wrap="square" rtlCol="0" anchor="ctr"/>
          <a:lstStyle/>
          <a:p>
            <a:pPr indent="0" marL="0">
              <a:buNone/>
            </a:pPr>
            <a:r>
              <a:rPr lang="en-US" sz="1200" i="1" dirty="0">
                <a:solidFill>
                  <a:srgbClr val="B8912F"/>
                </a:solidFill>
                <a:latin typeface="Calibri" pitchFamily="34" charset="0"/>
                <a:ea typeface="Calibri" pitchFamily="34" charset="-122"/>
                <a:cs typeface="Calibri" pitchFamily="34" charset="-120"/>
              </a:rPr>
              <a:t>"Nabha Sparsham Deeptam" — Touch the Sky with Glory</a:t>
            </a:r>
            <a:endParaRPr lang="en-US" sz="1200" dirty="0"/>
          </a:p>
        </p:txBody>
      </p:sp>
      <p:sp>
        <p:nvSpPr>
          <p:cNvPr id="8" name="Text 5"/>
          <p:cNvSpPr/>
          <p:nvPr/>
        </p:nvSpPr>
        <p:spPr>
          <a:xfrm>
            <a:off x="548640" y="1691640"/>
            <a:ext cx="2651760" cy="594360"/>
          </a:xfrm>
          <a:prstGeom prst="rect">
            <a:avLst/>
          </a:prstGeom>
          <a:noFill/>
          <a:ln/>
        </p:spPr>
        <p:txBody>
          <a:bodyPr wrap="square" rtlCol="0" anchor="ctr"/>
          <a:lstStyle/>
          <a:p>
            <a:pPr indent="0" marL="0">
              <a:buNone/>
            </a:pPr>
            <a:r>
              <a:rPr lang="en-US" sz="2800" b="1" dirty="0">
                <a:solidFill>
                  <a:srgbClr val="D9B84F"/>
                </a:solidFill>
                <a:latin typeface="Cambria" pitchFamily="34" charset="0"/>
                <a:ea typeface="Cambria" pitchFamily="34" charset="-122"/>
                <a:cs typeface="Cambria" pitchFamily="34" charset="-120"/>
              </a:rPr>
              <a:t>170,000+</a:t>
            </a:r>
            <a:endParaRPr lang="en-US" sz="2800" dirty="0"/>
          </a:p>
        </p:txBody>
      </p:sp>
      <p:sp>
        <p:nvSpPr>
          <p:cNvPr id="9" name="Text 6"/>
          <p:cNvSpPr/>
          <p:nvPr/>
        </p:nvSpPr>
        <p:spPr>
          <a:xfrm>
            <a:off x="548640" y="2286000"/>
            <a:ext cx="2651760" cy="457200"/>
          </a:xfrm>
          <a:prstGeom prst="rect">
            <a:avLst/>
          </a:prstGeom>
          <a:noFill/>
          <a:ln/>
        </p:spPr>
        <p:txBody>
          <a:bodyPr wrap="square" rtlCol="0" anchor="ctr"/>
          <a:lstStyle/>
          <a:p>
            <a:pPr indent="0" marL="0">
              <a:buNone/>
            </a:pPr>
            <a:r>
              <a:rPr lang="en-US" sz="1100" dirty="0">
                <a:solidFill>
                  <a:srgbClr val="BFD6EA"/>
                </a:solidFill>
                <a:latin typeface="Calibri" pitchFamily="34" charset="0"/>
                <a:ea typeface="Calibri" pitchFamily="34" charset="-122"/>
                <a:cs typeface="Calibri" pitchFamily="34" charset="-120"/>
              </a:rPr>
              <a:t>Active personnel</a:t>
            </a:r>
            <a:endParaRPr lang="en-US" sz="1100" dirty="0"/>
          </a:p>
        </p:txBody>
      </p:sp>
      <p:sp>
        <p:nvSpPr>
          <p:cNvPr id="10" name="Text 7"/>
          <p:cNvSpPr/>
          <p:nvPr/>
        </p:nvSpPr>
        <p:spPr>
          <a:xfrm>
            <a:off x="3383280" y="1691640"/>
            <a:ext cx="2651760" cy="594360"/>
          </a:xfrm>
          <a:prstGeom prst="rect">
            <a:avLst/>
          </a:prstGeom>
          <a:noFill/>
          <a:ln/>
        </p:spPr>
        <p:txBody>
          <a:bodyPr wrap="square" rtlCol="0" anchor="ctr"/>
          <a:lstStyle/>
          <a:p>
            <a:pPr indent="0" marL="0">
              <a:buNone/>
            </a:pPr>
            <a:r>
              <a:rPr lang="en-US" sz="2800" b="1" dirty="0">
                <a:solidFill>
                  <a:srgbClr val="D9B84F"/>
                </a:solidFill>
                <a:latin typeface="Cambria" pitchFamily="34" charset="0"/>
                <a:ea typeface="Cambria" pitchFamily="34" charset="-122"/>
                <a:cs typeface="Cambria" pitchFamily="34" charset="-120"/>
              </a:rPr>
              <a:t>1,700+</a:t>
            </a:r>
            <a:endParaRPr lang="en-US" sz="2800" dirty="0"/>
          </a:p>
        </p:txBody>
      </p:sp>
      <p:sp>
        <p:nvSpPr>
          <p:cNvPr id="11" name="Text 8"/>
          <p:cNvSpPr/>
          <p:nvPr/>
        </p:nvSpPr>
        <p:spPr>
          <a:xfrm>
            <a:off x="3383280" y="2286000"/>
            <a:ext cx="2651760" cy="457200"/>
          </a:xfrm>
          <a:prstGeom prst="rect">
            <a:avLst/>
          </a:prstGeom>
          <a:noFill/>
          <a:ln/>
        </p:spPr>
        <p:txBody>
          <a:bodyPr wrap="square" rtlCol="0" anchor="ctr"/>
          <a:lstStyle/>
          <a:p>
            <a:pPr indent="0" marL="0">
              <a:buNone/>
            </a:pPr>
            <a:r>
              <a:rPr lang="en-US" sz="1100" dirty="0">
                <a:solidFill>
                  <a:srgbClr val="BFD6EA"/>
                </a:solidFill>
                <a:latin typeface="Calibri" pitchFamily="34" charset="0"/>
                <a:ea typeface="Calibri" pitchFamily="34" charset="-122"/>
                <a:cs typeface="Calibri" pitchFamily="34" charset="-120"/>
              </a:rPr>
              <a:t>Aircraft in inventory</a:t>
            </a:r>
            <a:endParaRPr lang="en-US" sz="1100" dirty="0"/>
          </a:p>
        </p:txBody>
      </p:sp>
      <p:sp>
        <p:nvSpPr>
          <p:cNvPr id="12" name="Text 9"/>
          <p:cNvSpPr/>
          <p:nvPr/>
        </p:nvSpPr>
        <p:spPr>
          <a:xfrm>
            <a:off x="6217920" y="1691640"/>
            <a:ext cx="2651760" cy="594360"/>
          </a:xfrm>
          <a:prstGeom prst="rect">
            <a:avLst/>
          </a:prstGeom>
          <a:noFill/>
          <a:ln/>
        </p:spPr>
        <p:txBody>
          <a:bodyPr wrap="square" rtlCol="0" anchor="ctr"/>
          <a:lstStyle/>
          <a:p>
            <a:pPr indent="0" marL="0">
              <a:buNone/>
            </a:pPr>
            <a:r>
              <a:rPr lang="en-US" sz="2800" b="1" dirty="0">
                <a:solidFill>
                  <a:srgbClr val="D9B84F"/>
                </a:solidFill>
                <a:latin typeface="Cambria" pitchFamily="34" charset="0"/>
                <a:ea typeface="Cambria" pitchFamily="34" charset="-122"/>
                <a:cs typeface="Cambria" pitchFamily="34" charset="-120"/>
              </a:rPr>
              <a:t>1932</a:t>
            </a:r>
            <a:endParaRPr lang="en-US" sz="2800" dirty="0"/>
          </a:p>
        </p:txBody>
      </p:sp>
      <p:sp>
        <p:nvSpPr>
          <p:cNvPr id="13" name="Text 10"/>
          <p:cNvSpPr/>
          <p:nvPr/>
        </p:nvSpPr>
        <p:spPr>
          <a:xfrm>
            <a:off x="6217920" y="2286000"/>
            <a:ext cx="2651760" cy="457200"/>
          </a:xfrm>
          <a:prstGeom prst="rect">
            <a:avLst/>
          </a:prstGeom>
          <a:noFill/>
          <a:ln/>
        </p:spPr>
        <p:txBody>
          <a:bodyPr wrap="square" rtlCol="0" anchor="ctr"/>
          <a:lstStyle/>
          <a:p>
            <a:pPr indent="0" marL="0">
              <a:buNone/>
            </a:pPr>
            <a:r>
              <a:rPr lang="en-US" sz="1100" dirty="0">
                <a:solidFill>
                  <a:srgbClr val="BFD6EA"/>
                </a:solidFill>
                <a:latin typeface="Calibri" pitchFamily="34" charset="0"/>
                <a:ea typeface="Calibri" pitchFamily="34" charset="-122"/>
                <a:cs typeface="Calibri" pitchFamily="34" charset="-120"/>
              </a:rPr>
              <a:t>Established (8 Oct)</a:t>
            </a:r>
            <a:endParaRPr lang="en-US" sz="1100" dirty="0"/>
          </a:p>
        </p:txBody>
      </p:sp>
      <p:sp>
        <p:nvSpPr>
          <p:cNvPr id="14" name="Text 11"/>
          <p:cNvSpPr/>
          <p:nvPr/>
        </p:nvSpPr>
        <p:spPr>
          <a:xfrm>
            <a:off x="9052560" y="1691640"/>
            <a:ext cx="2651760" cy="594360"/>
          </a:xfrm>
          <a:prstGeom prst="rect">
            <a:avLst/>
          </a:prstGeom>
          <a:noFill/>
          <a:ln/>
        </p:spPr>
        <p:txBody>
          <a:bodyPr wrap="square" rtlCol="0" anchor="ctr"/>
          <a:lstStyle/>
          <a:p>
            <a:pPr indent="0" marL="0">
              <a:buNone/>
            </a:pPr>
            <a:r>
              <a:rPr lang="en-US" sz="2800" b="1" dirty="0">
                <a:solidFill>
                  <a:srgbClr val="D9B84F"/>
                </a:solidFill>
                <a:latin typeface="Cambria" pitchFamily="34" charset="0"/>
                <a:ea typeface="Cambria" pitchFamily="34" charset="-122"/>
                <a:cs typeface="Cambria" pitchFamily="34" charset="-120"/>
              </a:rPr>
              <a:t>4th</a:t>
            </a:r>
            <a:endParaRPr lang="en-US" sz="2800" dirty="0"/>
          </a:p>
        </p:txBody>
      </p:sp>
      <p:sp>
        <p:nvSpPr>
          <p:cNvPr id="15" name="Text 12"/>
          <p:cNvSpPr/>
          <p:nvPr/>
        </p:nvSpPr>
        <p:spPr>
          <a:xfrm>
            <a:off x="9052560" y="2286000"/>
            <a:ext cx="2651760" cy="457200"/>
          </a:xfrm>
          <a:prstGeom prst="rect">
            <a:avLst/>
          </a:prstGeom>
          <a:noFill/>
          <a:ln/>
        </p:spPr>
        <p:txBody>
          <a:bodyPr wrap="square" rtlCol="0" anchor="ctr"/>
          <a:lstStyle/>
          <a:p>
            <a:pPr indent="0" marL="0">
              <a:buNone/>
            </a:pPr>
            <a:r>
              <a:rPr lang="en-US" sz="1100" dirty="0">
                <a:solidFill>
                  <a:srgbClr val="BFD6EA"/>
                </a:solidFill>
                <a:latin typeface="Calibri" pitchFamily="34" charset="0"/>
                <a:ea typeface="Calibri" pitchFamily="34" charset="-122"/>
                <a:cs typeface="Calibri" pitchFamily="34" charset="-120"/>
              </a:rPr>
              <a:t>Largest air force globally</a:t>
            </a:r>
            <a:endParaRPr lang="en-US" sz="1100" dirty="0"/>
          </a:p>
        </p:txBody>
      </p:sp>
      <p:sp>
        <p:nvSpPr>
          <p:cNvPr id="16" name="Shape 13"/>
          <p:cNvSpPr/>
          <p:nvPr/>
        </p:nvSpPr>
        <p:spPr>
          <a:xfrm>
            <a:off x="548640" y="2880360"/>
            <a:ext cx="11064240" cy="0"/>
          </a:xfrm>
          <a:prstGeom prst="line">
            <a:avLst/>
          </a:prstGeom>
          <a:noFill/>
          <a:ln w="12700">
            <a:solidFill>
              <a:srgbClr val="3E6E94"/>
            </a:solidFill>
            <a:prstDash val="solid"/>
          </a:ln>
        </p:spPr>
      </p:sp>
      <p:sp>
        <p:nvSpPr>
          <p:cNvPr id="17" name="Text 14"/>
          <p:cNvSpPr/>
          <p:nvPr/>
        </p:nvSpPr>
        <p:spPr>
          <a:xfrm>
            <a:off x="548640" y="3108960"/>
            <a:ext cx="5486400" cy="320040"/>
          </a:xfrm>
          <a:prstGeom prst="rect">
            <a:avLst/>
          </a:prstGeom>
          <a:noFill/>
          <a:ln/>
        </p:spPr>
        <p:txBody>
          <a:bodyPr wrap="square" rtlCol="0" anchor="ctr"/>
          <a:lstStyle/>
          <a:p>
            <a:pPr indent="0" marL="0">
              <a:buNone/>
            </a:pPr>
            <a:r>
              <a:rPr lang="en-US" sz="1300" b="1" spc="100" kern="0" dirty="0">
                <a:solidFill>
                  <a:srgbClr val="B8912F"/>
                </a:solidFill>
                <a:latin typeface="Calibri" pitchFamily="34" charset="0"/>
                <a:ea typeface="Calibri" pitchFamily="34" charset="-122"/>
                <a:cs typeface="Calibri" pitchFamily="34" charset="-120"/>
              </a:rPr>
              <a:t>COMPOSITION</a:t>
            </a:r>
            <a:endParaRPr lang="en-US" sz="1300" dirty="0"/>
          </a:p>
        </p:txBody>
      </p:sp>
      <p:sp>
        <p:nvSpPr>
          <p:cNvPr id="18" name="Text 15"/>
          <p:cNvSpPr/>
          <p:nvPr/>
        </p:nvSpPr>
        <p:spPr>
          <a:xfrm>
            <a:off x="548640" y="3474720"/>
            <a:ext cx="5486400" cy="3017520"/>
          </a:xfrm>
          <a:prstGeom prst="rect">
            <a:avLst/>
          </a:prstGeom>
          <a:noFill/>
          <a:ln/>
        </p:spPr>
        <p:txBody>
          <a:bodyPr wrap="square" rtlCol="0" anchor="ctr"/>
          <a:lstStyle/>
          <a:p>
            <a:pPr marL="342900" indent="-342900">
              <a:lnSpc>
                <a:spcPct val="130000"/>
              </a:lnSpc>
              <a:spcAft>
                <a:spcPts val="800"/>
              </a:spcAft>
              <a:buSzPct val="100000"/>
              <a:buChar char="•"/>
            </a:pPr>
            <a:r>
              <a:rPr lang="en-US" sz="1150" dirty="0">
                <a:solidFill>
                  <a:srgbClr val="F7F3E8"/>
                </a:solidFill>
                <a:latin typeface="Calibri" pitchFamily="34" charset="0"/>
                <a:ea typeface="Calibri" pitchFamily="34" charset="-122"/>
                <a:cs typeface="Calibri" pitchFamily="34" charset="-120"/>
              </a:rPr>
              <a:t>World's 4th-largest air force by aircraft strength and personnel.</a:t>
            </a:r>
            <a:endParaRPr lang="en-US" sz="1150" dirty="0"/>
          </a:p>
          <a:p>
            <a:pPr marL="342900" indent="-342900">
              <a:lnSpc>
                <a:spcPct val="130000"/>
              </a:lnSpc>
              <a:spcAft>
                <a:spcPts val="800"/>
              </a:spcAft>
              <a:buSzPct val="100000"/>
              <a:buChar char="•"/>
            </a:pPr>
            <a:r>
              <a:rPr lang="en-US" sz="1150" dirty="0">
                <a:solidFill>
                  <a:srgbClr val="F7F3E8"/>
                </a:solidFill>
                <a:latin typeface="Calibri" pitchFamily="34" charset="0"/>
                <a:ea typeface="Calibri" pitchFamily="34" charset="-122"/>
                <a:cs typeface="Calibri" pitchFamily="34" charset="-120"/>
              </a:rPr>
              <a:t>Core roles: air superiority, strategic/tactical airlift, close air support, aerial reconnaissance.</a:t>
            </a:r>
            <a:endParaRPr lang="en-US" sz="1150" dirty="0"/>
          </a:p>
          <a:p>
            <a:pPr marL="342900" indent="-342900">
              <a:lnSpc>
                <a:spcPct val="130000"/>
              </a:lnSpc>
              <a:spcAft>
                <a:spcPts val="800"/>
              </a:spcAft>
              <a:buSzPct val="100000"/>
              <a:buChar char="•"/>
            </a:pPr>
            <a:r>
              <a:rPr lang="en-US" sz="1150" dirty="0">
                <a:solidFill>
                  <a:srgbClr val="F7F3E8"/>
                </a:solidFill>
                <a:latin typeface="Calibri" pitchFamily="34" charset="0"/>
                <a:ea typeface="Calibri" pitchFamily="34" charset="-122"/>
                <a:cs typeface="Calibri" pitchFamily="34" charset="-120"/>
              </a:rPr>
              <a:t>Seven operational Commands: Western, Eastern, Central, Southern, South-Western, Training, Maintenance.</a:t>
            </a:r>
            <a:endParaRPr lang="en-US" sz="1150" dirty="0"/>
          </a:p>
          <a:p>
            <a:pPr marL="342900" indent="-342900">
              <a:lnSpc>
                <a:spcPct val="130000"/>
              </a:lnSpc>
              <a:spcAft>
                <a:spcPts val="800"/>
              </a:spcAft>
              <a:buSzPct val="100000"/>
              <a:buChar char="•"/>
            </a:pPr>
            <a:r>
              <a:rPr lang="en-US" sz="1150" dirty="0">
                <a:solidFill>
                  <a:srgbClr val="F7F3E8"/>
                </a:solidFill>
                <a:latin typeface="Calibri" pitchFamily="34" charset="0"/>
                <a:ea typeface="Calibri" pitchFamily="34" charset="-122"/>
                <a:cs typeface="Calibri" pitchFamily="34" charset="-120"/>
              </a:rPr>
              <a:t>Elite unit: Garud Commando Force — special-ops protection of air bases &amp; combat search-and-rescue.</a:t>
            </a:r>
            <a:endParaRPr lang="en-US" sz="1150" dirty="0"/>
          </a:p>
        </p:txBody>
      </p:sp>
      <p:sp>
        <p:nvSpPr>
          <p:cNvPr id="19" name="Text 16"/>
          <p:cNvSpPr/>
          <p:nvPr/>
        </p:nvSpPr>
        <p:spPr>
          <a:xfrm>
            <a:off x="6355080" y="3108960"/>
            <a:ext cx="5303520" cy="320040"/>
          </a:xfrm>
          <a:prstGeom prst="rect">
            <a:avLst/>
          </a:prstGeom>
          <a:noFill/>
          <a:ln/>
        </p:spPr>
        <p:txBody>
          <a:bodyPr wrap="square" rtlCol="0" anchor="ctr"/>
          <a:lstStyle/>
          <a:p>
            <a:pPr indent="0" marL="0">
              <a:buNone/>
            </a:pPr>
            <a:r>
              <a:rPr lang="en-US" sz="1300" b="1" spc="100" kern="0" dirty="0">
                <a:solidFill>
                  <a:srgbClr val="B8912F"/>
                </a:solidFill>
                <a:latin typeface="Calibri" pitchFamily="34" charset="0"/>
                <a:ea typeface="Calibri" pitchFamily="34" charset="-122"/>
                <a:cs typeface="Calibri" pitchFamily="34" charset="-120"/>
              </a:rPr>
              <a:t>KEY AIRCRAFT</a:t>
            </a:r>
            <a:endParaRPr lang="en-US" sz="1300" dirty="0"/>
          </a:p>
        </p:txBody>
      </p:sp>
      <p:sp>
        <p:nvSpPr>
          <p:cNvPr id="20" name="Text 17"/>
          <p:cNvSpPr/>
          <p:nvPr/>
        </p:nvSpPr>
        <p:spPr>
          <a:xfrm>
            <a:off x="6355080" y="3474720"/>
            <a:ext cx="5303520" cy="3017520"/>
          </a:xfrm>
          <a:prstGeom prst="rect">
            <a:avLst/>
          </a:prstGeom>
          <a:noFill/>
          <a:ln/>
        </p:spPr>
        <p:txBody>
          <a:bodyPr wrap="square" rtlCol="0" anchor="ctr"/>
          <a:lstStyle/>
          <a:p>
            <a:pPr marL="342900" indent="-342900">
              <a:lnSpc>
                <a:spcPct val="130000"/>
              </a:lnSpc>
              <a:spcAft>
                <a:spcPts val="800"/>
              </a:spcAft>
              <a:buSzPct val="100000"/>
              <a:buChar char="•"/>
            </a:pPr>
            <a:r>
              <a:rPr lang="en-US" sz="1150" dirty="0">
                <a:solidFill>
                  <a:srgbClr val="F7F3E8"/>
                </a:solidFill>
                <a:latin typeface="Calibri" pitchFamily="34" charset="0"/>
                <a:ea typeface="Calibri" pitchFamily="34" charset="-122"/>
                <a:cs typeface="Calibri" pitchFamily="34" charset="-120"/>
              </a:rPr>
              <a:t>Fighters: Su-30MKI, Rafale, Mirage 2000, MiG-29, Tejas (LCA)</a:t>
            </a:r>
            <a:endParaRPr lang="en-US" sz="1150" dirty="0"/>
          </a:p>
          <a:p>
            <a:pPr marL="342900" indent="-342900">
              <a:lnSpc>
                <a:spcPct val="130000"/>
              </a:lnSpc>
              <a:spcAft>
                <a:spcPts val="800"/>
              </a:spcAft>
              <a:buSzPct val="100000"/>
              <a:buChar char="•"/>
            </a:pPr>
            <a:r>
              <a:rPr lang="en-US" sz="1150" dirty="0">
                <a:solidFill>
                  <a:srgbClr val="F7F3E8"/>
                </a:solidFill>
                <a:latin typeface="Calibri" pitchFamily="34" charset="0"/>
                <a:ea typeface="Calibri" pitchFamily="34" charset="-122"/>
                <a:cs typeface="Calibri" pitchFamily="34" charset="-120"/>
              </a:rPr>
              <a:t>Transport: C-17 Globemaster III, C-130J Super Hercules, IL-76</a:t>
            </a:r>
            <a:endParaRPr lang="en-US" sz="1150" dirty="0"/>
          </a:p>
          <a:p>
            <a:pPr marL="342900" indent="-342900">
              <a:lnSpc>
                <a:spcPct val="130000"/>
              </a:lnSpc>
              <a:spcAft>
                <a:spcPts val="800"/>
              </a:spcAft>
              <a:buSzPct val="100000"/>
              <a:buChar char="•"/>
            </a:pPr>
            <a:r>
              <a:rPr lang="en-US" sz="1150" dirty="0">
                <a:solidFill>
                  <a:srgbClr val="F7F3E8"/>
                </a:solidFill>
                <a:latin typeface="Calibri" pitchFamily="34" charset="0"/>
                <a:ea typeface="Calibri" pitchFamily="34" charset="-122"/>
                <a:cs typeface="Calibri" pitchFamily="34" charset="-120"/>
              </a:rPr>
              <a:t>Helicopters: Apache AH-64E, Chinook, Prachand (LCH), Mi-17</a:t>
            </a:r>
            <a:endParaRPr lang="en-US" sz="1150" dirty="0"/>
          </a:p>
          <a:p>
            <a:pPr marL="342900" indent="-342900">
              <a:lnSpc>
                <a:spcPct val="130000"/>
              </a:lnSpc>
              <a:spcAft>
                <a:spcPts val="800"/>
              </a:spcAft>
              <a:buSzPct val="100000"/>
              <a:buChar char="•"/>
            </a:pPr>
            <a:r>
              <a:rPr lang="en-US" sz="1150" dirty="0">
                <a:solidFill>
                  <a:srgbClr val="F7F3E8"/>
                </a:solidFill>
                <a:latin typeface="Calibri" pitchFamily="34" charset="0"/>
                <a:ea typeface="Calibri" pitchFamily="34" charset="-122"/>
                <a:cs typeface="Calibri" pitchFamily="34" charset="-120"/>
              </a:rPr>
              <a:t>Force multipliers: A-50I AWACS, IL-78 aerial tankers, S-400 air-defence system</a:t>
            </a:r>
            <a:endParaRPr lang="en-US" sz="1150" dirty="0"/>
          </a:p>
        </p:txBody>
      </p:sp>
      <p:sp>
        <p:nvSpPr>
          <p:cNvPr id="21" name="Text 18"/>
          <p:cNvSpPr/>
          <p:nvPr/>
        </p:nvSpPr>
        <p:spPr>
          <a:xfrm>
            <a:off x="457200" y="6473952"/>
            <a:ext cx="7315200" cy="274320"/>
          </a:xfrm>
          <a:prstGeom prst="rect">
            <a:avLst/>
          </a:prstGeom>
          <a:noFill/>
          <a:ln/>
        </p:spPr>
        <p:txBody>
          <a:bodyPr wrap="square" rtlCol="0" anchor="ctr"/>
          <a:lstStyle/>
          <a:p>
            <a:pPr indent="0" marL="0">
              <a:buNone/>
            </a:pPr>
            <a:r>
              <a:rPr lang="en-US" sz="1000" i="1" dirty="0">
                <a:solidFill>
                  <a:srgbClr val="C9B896"/>
                </a:solidFill>
                <a:latin typeface="Calibri" pitchFamily="34" charset="0"/>
                <a:ea typeface="Calibri" pitchFamily="34" charset="-122"/>
                <a:cs typeface="Calibri" pitchFamily="34" charset="-120"/>
              </a:rPr>
              <a:t>Indian Armed Forces  |  Indian Air Force</a:t>
            </a:r>
            <a:endParaRPr lang="en-US" sz="1000" dirty="0"/>
          </a:p>
        </p:txBody>
      </p:sp>
      <p:sp>
        <p:nvSpPr>
          <p:cNvPr id="22" name="Text 19"/>
          <p:cNvSpPr/>
          <p:nvPr/>
        </p:nvSpPr>
        <p:spPr>
          <a:xfrm>
            <a:off x="11274552" y="6473952"/>
            <a:ext cx="457200" cy="274320"/>
          </a:xfrm>
          <a:prstGeom prst="rect">
            <a:avLst/>
          </a:prstGeom>
          <a:noFill/>
          <a:ln/>
        </p:spPr>
        <p:txBody>
          <a:bodyPr wrap="square" rtlCol="0" anchor="ctr"/>
          <a:lstStyle/>
          <a:p>
            <a:pPr algn="r" indent="0" marL="0">
              <a:buNone/>
            </a:pPr>
            <a:r>
              <a:rPr lang="en-US" sz="1000" dirty="0">
                <a:solidFill>
                  <a:srgbClr val="C9B896"/>
                </a:solidFill>
                <a:latin typeface="Calibri" pitchFamily="34" charset="0"/>
                <a:ea typeface="Calibri" pitchFamily="34" charset="-122"/>
                <a:cs typeface="Calibri" pitchFamily="34" charset="-120"/>
              </a:rPr>
              <a:t>9</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EAF1F7"/>
          </a:solidFill>
          <a:ln/>
        </p:spPr>
      </p:sp>
      <p:sp>
        <p:nvSpPr>
          <p:cNvPr id="3" name="Text 1"/>
          <p:cNvSpPr/>
          <p:nvPr/>
        </p:nvSpPr>
        <p:spPr>
          <a:xfrm>
            <a:off x="566928" y="137160"/>
            <a:ext cx="7315200" cy="274320"/>
          </a:xfrm>
          <a:prstGeom prst="rect">
            <a:avLst/>
          </a:prstGeom>
          <a:noFill/>
          <a:ln/>
        </p:spPr>
        <p:txBody>
          <a:bodyPr wrap="square" rtlCol="0" anchor="ctr"/>
          <a:lstStyle/>
          <a:p>
            <a:pPr indent="0" marL="0">
              <a:buNone/>
            </a:pPr>
            <a:r>
              <a:rPr lang="en-US" sz="1200" b="1" spc="200" kern="0" dirty="0">
                <a:solidFill>
                  <a:srgbClr val="B8912F"/>
                </a:solidFill>
                <a:latin typeface="Calibri" pitchFamily="34" charset="0"/>
                <a:ea typeface="Calibri" pitchFamily="34" charset="-122"/>
                <a:cs typeface="Calibri" pitchFamily="34" charset="-120"/>
              </a:rPr>
              <a:t>INDIAN AIR FORCE</a:t>
            </a:r>
            <a:endParaRPr lang="en-US" sz="1200" dirty="0"/>
          </a:p>
        </p:txBody>
      </p:sp>
      <p:sp>
        <p:nvSpPr>
          <p:cNvPr id="4" name="Text 2"/>
          <p:cNvSpPr/>
          <p:nvPr/>
        </p:nvSpPr>
        <p:spPr>
          <a:xfrm>
            <a:off x="548640" y="365760"/>
            <a:ext cx="11091672" cy="685800"/>
          </a:xfrm>
          <a:prstGeom prst="rect">
            <a:avLst/>
          </a:prstGeom>
          <a:noFill/>
          <a:ln/>
        </p:spPr>
        <p:txBody>
          <a:bodyPr wrap="square" rtlCol="0" anchor="ctr"/>
          <a:lstStyle/>
          <a:p>
            <a:pPr indent="0" marL="0">
              <a:buNone/>
            </a:pPr>
            <a:r>
              <a:rPr lang="en-US" sz="3000" b="1" dirty="0">
                <a:solidFill>
                  <a:srgbClr val="23281C"/>
                </a:solidFill>
                <a:latin typeface="Cambria" pitchFamily="34" charset="0"/>
                <a:ea typeface="Cambria" pitchFamily="34" charset="-122"/>
                <a:cs typeface="Cambria" pitchFamily="34" charset="-120"/>
              </a:rPr>
              <a:t>Officer Ranks — Highest to Lowest</a:t>
            </a:r>
            <a:endParaRPr lang="en-US" sz="3000" dirty="0"/>
          </a:p>
        </p:txBody>
      </p:sp>
      <p:sp>
        <p:nvSpPr>
          <p:cNvPr id="5" name="Shape 3"/>
          <p:cNvSpPr/>
          <p:nvPr/>
        </p:nvSpPr>
        <p:spPr>
          <a:xfrm>
            <a:off x="10607040" y="320040"/>
            <a:ext cx="822960" cy="822960"/>
          </a:xfrm>
          <a:prstGeom prst="ellipse">
            <a:avLst/>
          </a:prstGeom>
          <a:solidFill>
            <a:srgbClr val="1B3A5C"/>
          </a:solidFill>
          <a:ln/>
        </p:spPr>
      </p:sp>
      <p:pic>
        <p:nvPicPr>
          <p:cNvPr id="6" name="Image 0" descr="/home/claude/ppt/icons/star.png">    </p:cNvPr>
          <p:cNvPicPr>
            <a:picLocks noChangeAspect="1"/>
          </p:cNvPicPr>
          <p:nvPr/>
        </p:nvPicPr>
        <p:blipFill>
          <a:blip r:embed="rId1"/>
          <a:stretch>
            <a:fillRect/>
          </a:stretch>
        </p:blipFill>
        <p:spPr>
          <a:xfrm>
            <a:off x="10792206" y="505206"/>
            <a:ext cx="452628" cy="452628"/>
          </a:xfrm>
          <a:prstGeom prst="rect">
            <a:avLst/>
          </a:prstGeom>
        </p:spPr>
      </p:pic>
      <p:sp>
        <p:nvSpPr>
          <p:cNvPr id="7" name="Shape 4"/>
          <p:cNvSpPr/>
          <p:nvPr/>
        </p:nvSpPr>
        <p:spPr>
          <a:xfrm>
            <a:off x="548640" y="1371600"/>
            <a:ext cx="6949440" cy="402336"/>
          </a:xfrm>
          <a:prstGeom prst="rect">
            <a:avLst/>
          </a:prstGeom>
          <a:solidFill>
            <a:srgbClr val="1B3A5C"/>
          </a:solidFill>
          <a:ln/>
        </p:spPr>
      </p:sp>
      <p:sp>
        <p:nvSpPr>
          <p:cNvPr id="8" name="Text 5"/>
          <p:cNvSpPr/>
          <p:nvPr/>
        </p:nvSpPr>
        <p:spPr>
          <a:xfrm>
            <a:off x="603504" y="1371600"/>
            <a:ext cx="365760" cy="402336"/>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9" name="Text 6"/>
          <p:cNvSpPr/>
          <p:nvPr/>
        </p:nvSpPr>
        <p:spPr>
          <a:xfrm>
            <a:off x="1005840" y="1371600"/>
            <a:ext cx="6400800" cy="402336"/>
          </a:xfrm>
          <a:prstGeom prst="rect">
            <a:avLst/>
          </a:prstGeom>
          <a:noFill/>
          <a:ln/>
        </p:spPr>
        <p:txBody>
          <a:bodyPr wrap="square"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Marshal of the IAF</a:t>
            </a:r>
            <a:endParaRPr lang="en-US" sz="1250" dirty="0"/>
          </a:p>
        </p:txBody>
      </p:sp>
      <p:sp>
        <p:nvSpPr>
          <p:cNvPr id="10" name="Text 7"/>
          <p:cNvSpPr/>
          <p:nvPr/>
        </p:nvSpPr>
        <p:spPr>
          <a:xfrm>
            <a:off x="7662672" y="1371600"/>
            <a:ext cx="5120640" cy="402336"/>
          </a:xfrm>
          <a:prstGeom prst="rect">
            <a:avLst/>
          </a:prstGeom>
          <a:noFill/>
          <a:ln/>
        </p:spPr>
        <p:txBody>
          <a:bodyPr wrap="square" rtlCol="0" anchor="ctr"/>
          <a:lstStyle/>
          <a:p>
            <a:pPr indent="0" marL="0">
              <a:buNone/>
            </a:pPr>
            <a:r>
              <a:rPr lang="en-US" sz="1050" i="1" dirty="0">
                <a:solidFill>
                  <a:srgbClr val="4A5548"/>
                </a:solidFill>
                <a:latin typeface="Calibri" pitchFamily="34" charset="0"/>
                <a:ea typeface="Calibri" pitchFamily="34" charset="-122"/>
                <a:cs typeface="Calibri" pitchFamily="34" charset="-120"/>
              </a:rPr>
              <a:t>5-star · ceremonial — conferred only once, to Arjan Singh</a:t>
            </a:r>
            <a:endParaRPr lang="en-US" sz="1050" dirty="0"/>
          </a:p>
        </p:txBody>
      </p:sp>
      <p:sp>
        <p:nvSpPr>
          <p:cNvPr id="11" name="Shape 8"/>
          <p:cNvSpPr/>
          <p:nvPr/>
        </p:nvSpPr>
        <p:spPr>
          <a:xfrm>
            <a:off x="548640" y="1856232"/>
            <a:ext cx="6502400" cy="402336"/>
          </a:xfrm>
          <a:prstGeom prst="rect">
            <a:avLst/>
          </a:prstGeom>
          <a:solidFill>
            <a:srgbClr val="3E6E94"/>
          </a:solidFill>
          <a:ln/>
        </p:spPr>
      </p:sp>
      <p:sp>
        <p:nvSpPr>
          <p:cNvPr id="12" name="Text 9"/>
          <p:cNvSpPr/>
          <p:nvPr/>
        </p:nvSpPr>
        <p:spPr>
          <a:xfrm>
            <a:off x="603504" y="1856232"/>
            <a:ext cx="365760" cy="402336"/>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13" name="Text 10"/>
          <p:cNvSpPr/>
          <p:nvPr/>
        </p:nvSpPr>
        <p:spPr>
          <a:xfrm>
            <a:off x="1005840" y="1856232"/>
            <a:ext cx="5953760" cy="402336"/>
          </a:xfrm>
          <a:prstGeom prst="rect">
            <a:avLst/>
          </a:prstGeom>
          <a:noFill/>
          <a:ln/>
        </p:spPr>
        <p:txBody>
          <a:bodyPr wrap="square"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Air Chief Marshal</a:t>
            </a:r>
            <a:endParaRPr lang="en-US" sz="1250" dirty="0"/>
          </a:p>
        </p:txBody>
      </p:sp>
      <p:sp>
        <p:nvSpPr>
          <p:cNvPr id="14" name="Text 11"/>
          <p:cNvSpPr/>
          <p:nvPr/>
        </p:nvSpPr>
        <p:spPr>
          <a:xfrm>
            <a:off x="7215632" y="1856232"/>
            <a:ext cx="5120640" cy="402336"/>
          </a:xfrm>
          <a:prstGeom prst="rect">
            <a:avLst/>
          </a:prstGeom>
          <a:noFill/>
          <a:ln/>
        </p:spPr>
        <p:txBody>
          <a:bodyPr wrap="square" rtlCol="0" anchor="ctr"/>
          <a:lstStyle/>
          <a:p>
            <a:pPr indent="0" marL="0">
              <a:buNone/>
            </a:pPr>
            <a:r>
              <a:rPr lang="en-US" sz="1050" i="1" dirty="0">
                <a:solidFill>
                  <a:srgbClr val="4A5548"/>
                </a:solidFill>
                <a:latin typeface="Calibri" pitchFamily="34" charset="0"/>
                <a:ea typeface="Calibri" pitchFamily="34" charset="-122"/>
                <a:cs typeface="Calibri" pitchFamily="34" charset="-120"/>
              </a:rPr>
              <a:t>4-star · Chief of the Air Staff (CAS)</a:t>
            </a:r>
            <a:endParaRPr lang="en-US" sz="1050" dirty="0"/>
          </a:p>
        </p:txBody>
      </p:sp>
      <p:sp>
        <p:nvSpPr>
          <p:cNvPr id="15" name="Shape 12"/>
          <p:cNvSpPr/>
          <p:nvPr/>
        </p:nvSpPr>
        <p:spPr>
          <a:xfrm>
            <a:off x="548640" y="2340864"/>
            <a:ext cx="6055360" cy="402336"/>
          </a:xfrm>
          <a:prstGeom prst="rect">
            <a:avLst/>
          </a:prstGeom>
          <a:solidFill>
            <a:srgbClr val="1B3A5C"/>
          </a:solidFill>
          <a:ln/>
        </p:spPr>
      </p:sp>
      <p:sp>
        <p:nvSpPr>
          <p:cNvPr id="16" name="Text 13"/>
          <p:cNvSpPr/>
          <p:nvPr/>
        </p:nvSpPr>
        <p:spPr>
          <a:xfrm>
            <a:off x="603504" y="2340864"/>
            <a:ext cx="365760" cy="402336"/>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17" name="Text 14"/>
          <p:cNvSpPr/>
          <p:nvPr/>
        </p:nvSpPr>
        <p:spPr>
          <a:xfrm>
            <a:off x="1005840" y="2340864"/>
            <a:ext cx="5506720" cy="402336"/>
          </a:xfrm>
          <a:prstGeom prst="rect">
            <a:avLst/>
          </a:prstGeom>
          <a:noFill/>
          <a:ln/>
        </p:spPr>
        <p:txBody>
          <a:bodyPr wrap="square"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Air Marshal</a:t>
            </a:r>
            <a:endParaRPr lang="en-US" sz="1250" dirty="0"/>
          </a:p>
        </p:txBody>
      </p:sp>
      <p:sp>
        <p:nvSpPr>
          <p:cNvPr id="18" name="Text 15"/>
          <p:cNvSpPr/>
          <p:nvPr/>
        </p:nvSpPr>
        <p:spPr>
          <a:xfrm>
            <a:off x="6768592" y="2340864"/>
            <a:ext cx="5120640" cy="402336"/>
          </a:xfrm>
          <a:prstGeom prst="rect">
            <a:avLst/>
          </a:prstGeom>
          <a:noFill/>
          <a:ln/>
        </p:spPr>
        <p:txBody>
          <a:bodyPr wrap="square" rtlCol="0" anchor="ctr"/>
          <a:lstStyle/>
          <a:p>
            <a:pPr indent="0" marL="0">
              <a:buNone/>
            </a:pPr>
            <a:r>
              <a:rPr lang="en-US" sz="1050" i="1" dirty="0">
                <a:solidFill>
                  <a:srgbClr val="4A5548"/>
                </a:solidFill>
                <a:latin typeface="Calibri" pitchFamily="34" charset="0"/>
                <a:ea typeface="Calibri" pitchFamily="34" charset="-122"/>
                <a:cs typeface="Calibri" pitchFamily="34" charset="-120"/>
              </a:rPr>
              <a:t>3-star · Command-in-Chief</a:t>
            </a:r>
            <a:endParaRPr lang="en-US" sz="1050" dirty="0"/>
          </a:p>
        </p:txBody>
      </p:sp>
      <p:sp>
        <p:nvSpPr>
          <p:cNvPr id="19" name="Shape 16"/>
          <p:cNvSpPr/>
          <p:nvPr/>
        </p:nvSpPr>
        <p:spPr>
          <a:xfrm>
            <a:off x="548640" y="2825496"/>
            <a:ext cx="5608320" cy="402336"/>
          </a:xfrm>
          <a:prstGeom prst="rect">
            <a:avLst/>
          </a:prstGeom>
          <a:solidFill>
            <a:srgbClr val="3E6E94"/>
          </a:solidFill>
          <a:ln/>
        </p:spPr>
      </p:sp>
      <p:sp>
        <p:nvSpPr>
          <p:cNvPr id="20" name="Text 17"/>
          <p:cNvSpPr/>
          <p:nvPr/>
        </p:nvSpPr>
        <p:spPr>
          <a:xfrm>
            <a:off x="603504" y="2825496"/>
            <a:ext cx="365760" cy="402336"/>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21" name="Text 18"/>
          <p:cNvSpPr/>
          <p:nvPr/>
        </p:nvSpPr>
        <p:spPr>
          <a:xfrm>
            <a:off x="1005840" y="2825496"/>
            <a:ext cx="5059680" cy="402336"/>
          </a:xfrm>
          <a:prstGeom prst="rect">
            <a:avLst/>
          </a:prstGeom>
          <a:noFill/>
          <a:ln/>
        </p:spPr>
        <p:txBody>
          <a:bodyPr wrap="square"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Air Vice Marshal</a:t>
            </a:r>
            <a:endParaRPr lang="en-US" sz="1250" dirty="0"/>
          </a:p>
        </p:txBody>
      </p:sp>
      <p:sp>
        <p:nvSpPr>
          <p:cNvPr id="22" name="Text 19"/>
          <p:cNvSpPr/>
          <p:nvPr/>
        </p:nvSpPr>
        <p:spPr>
          <a:xfrm>
            <a:off x="6321552" y="2825496"/>
            <a:ext cx="5120640" cy="402336"/>
          </a:xfrm>
          <a:prstGeom prst="rect">
            <a:avLst/>
          </a:prstGeom>
          <a:noFill/>
          <a:ln/>
        </p:spPr>
        <p:txBody>
          <a:bodyPr wrap="square" rtlCol="0" anchor="ctr"/>
          <a:lstStyle/>
          <a:p>
            <a:pPr indent="0" marL="0">
              <a:buNone/>
            </a:pPr>
            <a:r>
              <a:rPr lang="en-US" sz="1050" i="1" dirty="0">
                <a:solidFill>
                  <a:srgbClr val="4A5548"/>
                </a:solidFill>
                <a:latin typeface="Calibri" pitchFamily="34" charset="0"/>
                <a:ea typeface="Calibri" pitchFamily="34" charset="-122"/>
                <a:cs typeface="Calibri" pitchFamily="34" charset="-120"/>
              </a:rPr>
              <a:t>2-star · Senior Air Staff Officer</a:t>
            </a:r>
            <a:endParaRPr lang="en-US" sz="1050" dirty="0"/>
          </a:p>
        </p:txBody>
      </p:sp>
      <p:sp>
        <p:nvSpPr>
          <p:cNvPr id="23" name="Shape 20"/>
          <p:cNvSpPr/>
          <p:nvPr/>
        </p:nvSpPr>
        <p:spPr>
          <a:xfrm>
            <a:off x="548640" y="3310128"/>
            <a:ext cx="5161280" cy="402336"/>
          </a:xfrm>
          <a:prstGeom prst="rect">
            <a:avLst/>
          </a:prstGeom>
          <a:solidFill>
            <a:srgbClr val="1B3A5C"/>
          </a:solidFill>
          <a:ln/>
        </p:spPr>
      </p:sp>
      <p:sp>
        <p:nvSpPr>
          <p:cNvPr id="24" name="Text 21"/>
          <p:cNvSpPr/>
          <p:nvPr/>
        </p:nvSpPr>
        <p:spPr>
          <a:xfrm>
            <a:off x="603504" y="3310128"/>
            <a:ext cx="365760" cy="402336"/>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25" name="Text 22"/>
          <p:cNvSpPr/>
          <p:nvPr/>
        </p:nvSpPr>
        <p:spPr>
          <a:xfrm>
            <a:off x="1005840" y="3310128"/>
            <a:ext cx="4612640" cy="402336"/>
          </a:xfrm>
          <a:prstGeom prst="rect">
            <a:avLst/>
          </a:prstGeom>
          <a:noFill/>
          <a:ln/>
        </p:spPr>
        <p:txBody>
          <a:bodyPr wrap="square"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Air Commodore</a:t>
            </a:r>
            <a:endParaRPr lang="en-US" sz="1250" dirty="0"/>
          </a:p>
        </p:txBody>
      </p:sp>
      <p:sp>
        <p:nvSpPr>
          <p:cNvPr id="26" name="Text 23"/>
          <p:cNvSpPr/>
          <p:nvPr/>
        </p:nvSpPr>
        <p:spPr>
          <a:xfrm>
            <a:off x="5874512" y="3310128"/>
            <a:ext cx="5120640" cy="402336"/>
          </a:xfrm>
          <a:prstGeom prst="rect">
            <a:avLst/>
          </a:prstGeom>
          <a:noFill/>
          <a:ln/>
        </p:spPr>
        <p:txBody>
          <a:bodyPr wrap="square" rtlCol="0" anchor="ctr"/>
          <a:lstStyle/>
          <a:p>
            <a:pPr indent="0" marL="0">
              <a:buNone/>
            </a:pPr>
            <a:r>
              <a:rPr lang="en-US" sz="1050" i="1" dirty="0">
                <a:solidFill>
                  <a:srgbClr val="4A5548"/>
                </a:solidFill>
                <a:latin typeface="Calibri" pitchFamily="34" charset="0"/>
                <a:ea typeface="Calibri" pitchFamily="34" charset="-122"/>
                <a:cs typeface="Calibri" pitchFamily="34" charset="-120"/>
              </a:rPr>
              <a:t>1-star · Station Commander</a:t>
            </a:r>
            <a:endParaRPr lang="en-US" sz="1050" dirty="0"/>
          </a:p>
        </p:txBody>
      </p:sp>
      <p:sp>
        <p:nvSpPr>
          <p:cNvPr id="27" name="Shape 24"/>
          <p:cNvSpPr/>
          <p:nvPr/>
        </p:nvSpPr>
        <p:spPr>
          <a:xfrm>
            <a:off x="548640" y="3794760"/>
            <a:ext cx="4714240" cy="402336"/>
          </a:xfrm>
          <a:prstGeom prst="rect">
            <a:avLst/>
          </a:prstGeom>
          <a:solidFill>
            <a:srgbClr val="3E6E94"/>
          </a:solidFill>
          <a:ln/>
        </p:spPr>
      </p:sp>
      <p:sp>
        <p:nvSpPr>
          <p:cNvPr id="28" name="Text 25"/>
          <p:cNvSpPr/>
          <p:nvPr/>
        </p:nvSpPr>
        <p:spPr>
          <a:xfrm>
            <a:off x="603504" y="3794760"/>
            <a:ext cx="365760" cy="402336"/>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6</a:t>
            </a:r>
            <a:endParaRPr lang="en-US" sz="1100" dirty="0"/>
          </a:p>
        </p:txBody>
      </p:sp>
      <p:sp>
        <p:nvSpPr>
          <p:cNvPr id="29" name="Text 26"/>
          <p:cNvSpPr/>
          <p:nvPr/>
        </p:nvSpPr>
        <p:spPr>
          <a:xfrm>
            <a:off x="1005840" y="3794760"/>
            <a:ext cx="4165600" cy="402336"/>
          </a:xfrm>
          <a:prstGeom prst="rect">
            <a:avLst/>
          </a:prstGeom>
          <a:noFill/>
          <a:ln/>
        </p:spPr>
        <p:txBody>
          <a:bodyPr wrap="square"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Group Captain</a:t>
            </a:r>
            <a:endParaRPr lang="en-US" sz="1250" dirty="0"/>
          </a:p>
        </p:txBody>
      </p:sp>
      <p:sp>
        <p:nvSpPr>
          <p:cNvPr id="30" name="Text 27"/>
          <p:cNvSpPr/>
          <p:nvPr/>
        </p:nvSpPr>
        <p:spPr>
          <a:xfrm>
            <a:off x="5427472" y="3794760"/>
            <a:ext cx="5120640" cy="402336"/>
          </a:xfrm>
          <a:prstGeom prst="rect">
            <a:avLst/>
          </a:prstGeom>
          <a:noFill/>
          <a:ln/>
        </p:spPr>
        <p:txBody>
          <a:bodyPr wrap="square" rtlCol="0" anchor="ctr"/>
          <a:lstStyle/>
          <a:p>
            <a:pPr indent="0" marL="0">
              <a:buNone/>
            </a:pPr>
            <a:r>
              <a:rPr lang="en-US" sz="1050" i="1" dirty="0">
                <a:solidFill>
                  <a:srgbClr val="4A5548"/>
                </a:solidFill>
                <a:latin typeface="Calibri" pitchFamily="34" charset="0"/>
                <a:ea typeface="Calibri" pitchFamily="34" charset="-122"/>
                <a:cs typeface="Calibri" pitchFamily="34" charset="-120"/>
              </a:rPr>
              <a:t>Commands an air base</a:t>
            </a:r>
            <a:endParaRPr lang="en-US" sz="1050" dirty="0"/>
          </a:p>
        </p:txBody>
      </p:sp>
      <p:sp>
        <p:nvSpPr>
          <p:cNvPr id="31" name="Shape 28"/>
          <p:cNvSpPr/>
          <p:nvPr/>
        </p:nvSpPr>
        <p:spPr>
          <a:xfrm>
            <a:off x="548640" y="4279392"/>
            <a:ext cx="4267200" cy="402336"/>
          </a:xfrm>
          <a:prstGeom prst="rect">
            <a:avLst/>
          </a:prstGeom>
          <a:solidFill>
            <a:srgbClr val="1B3A5C"/>
          </a:solidFill>
          <a:ln/>
        </p:spPr>
      </p:sp>
      <p:sp>
        <p:nvSpPr>
          <p:cNvPr id="32" name="Text 29"/>
          <p:cNvSpPr/>
          <p:nvPr/>
        </p:nvSpPr>
        <p:spPr>
          <a:xfrm>
            <a:off x="603504" y="4279392"/>
            <a:ext cx="365760" cy="402336"/>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7</a:t>
            </a:r>
            <a:endParaRPr lang="en-US" sz="1100" dirty="0"/>
          </a:p>
        </p:txBody>
      </p:sp>
      <p:sp>
        <p:nvSpPr>
          <p:cNvPr id="33" name="Text 30"/>
          <p:cNvSpPr/>
          <p:nvPr/>
        </p:nvSpPr>
        <p:spPr>
          <a:xfrm>
            <a:off x="1005840" y="4279392"/>
            <a:ext cx="3718560" cy="402336"/>
          </a:xfrm>
          <a:prstGeom prst="rect">
            <a:avLst/>
          </a:prstGeom>
          <a:noFill/>
          <a:ln/>
        </p:spPr>
        <p:txBody>
          <a:bodyPr wrap="square"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Wing Commander</a:t>
            </a:r>
            <a:endParaRPr lang="en-US" sz="1250" dirty="0"/>
          </a:p>
        </p:txBody>
      </p:sp>
      <p:sp>
        <p:nvSpPr>
          <p:cNvPr id="34" name="Text 31"/>
          <p:cNvSpPr/>
          <p:nvPr/>
        </p:nvSpPr>
        <p:spPr>
          <a:xfrm>
            <a:off x="4980432" y="4279392"/>
            <a:ext cx="5120640" cy="402336"/>
          </a:xfrm>
          <a:prstGeom prst="rect">
            <a:avLst/>
          </a:prstGeom>
          <a:noFill/>
          <a:ln/>
        </p:spPr>
        <p:txBody>
          <a:bodyPr wrap="square" rtlCol="0" anchor="ctr"/>
          <a:lstStyle/>
          <a:p>
            <a:pPr indent="0" marL="0">
              <a:buNone/>
            </a:pPr>
            <a:r>
              <a:rPr lang="en-US" sz="1050" i="1" dirty="0">
                <a:solidFill>
                  <a:srgbClr val="4A5548"/>
                </a:solidFill>
                <a:latin typeface="Calibri" pitchFamily="34" charset="0"/>
                <a:ea typeface="Calibri" pitchFamily="34" charset="-122"/>
                <a:cs typeface="Calibri" pitchFamily="34" charset="-120"/>
              </a:rPr>
              <a:t>Commands a squadron</a:t>
            </a:r>
            <a:endParaRPr lang="en-US" sz="1050" dirty="0"/>
          </a:p>
        </p:txBody>
      </p:sp>
      <p:sp>
        <p:nvSpPr>
          <p:cNvPr id="35" name="Shape 32"/>
          <p:cNvSpPr/>
          <p:nvPr/>
        </p:nvSpPr>
        <p:spPr>
          <a:xfrm>
            <a:off x="548640" y="4764024"/>
            <a:ext cx="3820160" cy="402336"/>
          </a:xfrm>
          <a:prstGeom prst="rect">
            <a:avLst/>
          </a:prstGeom>
          <a:solidFill>
            <a:srgbClr val="3E6E94"/>
          </a:solidFill>
          <a:ln/>
        </p:spPr>
      </p:sp>
      <p:sp>
        <p:nvSpPr>
          <p:cNvPr id="36" name="Text 33"/>
          <p:cNvSpPr/>
          <p:nvPr/>
        </p:nvSpPr>
        <p:spPr>
          <a:xfrm>
            <a:off x="603504" y="4764024"/>
            <a:ext cx="365760" cy="402336"/>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8</a:t>
            </a:r>
            <a:endParaRPr lang="en-US" sz="1100" dirty="0"/>
          </a:p>
        </p:txBody>
      </p:sp>
      <p:sp>
        <p:nvSpPr>
          <p:cNvPr id="37" name="Text 34"/>
          <p:cNvSpPr/>
          <p:nvPr/>
        </p:nvSpPr>
        <p:spPr>
          <a:xfrm>
            <a:off x="1005840" y="4764024"/>
            <a:ext cx="3271520" cy="402336"/>
          </a:xfrm>
          <a:prstGeom prst="rect">
            <a:avLst/>
          </a:prstGeom>
          <a:noFill/>
          <a:ln/>
        </p:spPr>
        <p:txBody>
          <a:bodyPr wrap="square"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Squadron Leader</a:t>
            </a:r>
            <a:endParaRPr lang="en-US" sz="1250" dirty="0"/>
          </a:p>
        </p:txBody>
      </p:sp>
      <p:sp>
        <p:nvSpPr>
          <p:cNvPr id="38" name="Text 35"/>
          <p:cNvSpPr/>
          <p:nvPr/>
        </p:nvSpPr>
        <p:spPr>
          <a:xfrm>
            <a:off x="4533392" y="4764024"/>
            <a:ext cx="5120640" cy="402336"/>
          </a:xfrm>
          <a:prstGeom prst="rect">
            <a:avLst/>
          </a:prstGeom>
          <a:noFill/>
          <a:ln/>
        </p:spPr>
        <p:txBody>
          <a:bodyPr wrap="square" rtlCol="0" anchor="ctr"/>
          <a:lstStyle/>
          <a:p>
            <a:pPr indent="0" marL="0">
              <a:buNone/>
            </a:pPr>
            <a:r>
              <a:rPr lang="en-US" sz="1050" i="1" dirty="0">
                <a:solidFill>
                  <a:srgbClr val="4A5548"/>
                </a:solidFill>
                <a:latin typeface="Calibri" pitchFamily="34" charset="0"/>
                <a:ea typeface="Calibri" pitchFamily="34" charset="-122"/>
                <a:cs typeface="Calibri" pitchFamily="34" charset="-120"/>
              </a:rPr>
              <a:t>Flight commander</a:t>
            </a:r>
            <a:endParaRPr lang="en-US" sz="1050" dirty="0"/>
          </a:p>
        </p:txBody>
      </p:sp>
      <p:sp>
        <p:nvSpPr>
          <p:cNvPr id="39" name="Shape 36"/>
          <p:cNvSpPr/>
          <p:nvPr/>
        </p:nvSpPr>
        <p:spPr>
          <a:xfrm>
            <a:off x="548640" y="5248656"/>
            <a:ext cx="3373120" cy="402336"/>
          </a:xfrm>
          <a:prstGeom prst="rect">
            <a:avLst/>
          </a:prstGeom>
          <a:solidFill>
            <a:srgbClr val="1B3A5C"/>
          </a:solidFill>
          <a:ln/>
        </p:spPr>
      </p:sp>
      <p:sp>
        <p:nvSpPr>
          <p:cNvPr id="40" name="Text 37"/>
          <p:cNvSpPr/>
          <p:nvPr/>
        </p:nvSpPr>
        <p:spPr>
          <a:xfrm>
            <a:off x="603504" y="5248656"/>
            <a:ext cx="365760" cy="402336"/>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9</a:t>
            </a:r>
            <a:endParaRPr lang="en-US" sz="1100" dirty="0"/>
          </a:p>
        </p:txBody>
      </p:sp>
      <p:sp>
        <p:nvSpPr>
          <p:cNvPr id="41" name="Text 38"/>
          <p:cNvSpPr/>
          <p:nvPr/>
        </p:nvSpPr>
        <p:spPr>
          <a:xfrm>
            <a:off x="1005840" y="5248656"/>
            <a:ext cx="2824480" cy="402336"/>
          </a:xfrm>
          <a:prstGeom prst="rect">
            <a:avLst/>
          </a:prstGeom>
          <a:noFill/>
          <a:ln/>
        </p:spPr>
        <p:txBody>
          <a:bodyPr wrap="square"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Flight Lieutenant</a:t>
            </a:r>
            <a:endParaRPr lang="en-US" sz="1250" dirty="0"/>
          </a:p>
        </p:txBody>
      </p:sp>
      <p:sp>
        <p:nvSpPr>
          <p:cNvPr id="42" name="Text 39"/>
          <p:cNvSpPr/>
          <p:nvPr/>
        </p:nvSpPr>
        <p:spPr>
          <a:xfrm>
            <a:off x="4086352" y="5248656"/>
            <a:ext cx="5120640" cy="402336"/>
          </a:xfrm>
          <a:prstGeom prst="rect">
            <a:avLst/>
          </a:prstGeom>
          <a:noFill/>
          <a:ln/>
        </p:spPr>
        <p:txBody>
          <a:bodyPr wrap="square" rtlCol="0" anchor="ctr"/>
          <a:lstStyle/>
          <a:p>
            <a:pPr indent="0" marL="0">
              <a:buNone/>
            </a:pPr>
            <a:r>
              <a:rPr lang="en-US" sz="1050" i="1" dirty="0">
                <a:solidFill>
                  <a:srgbClr val="4A5548"/>
                </a:solidFill>
                <a:latin typeface="Calibri" pitchFamily="34" charset="0"/>
                <a:ea typeface="Calibri" pitchFamily="34" charset="-122"/>
                <a:cs typeface="Calibri" pitchFamily="34" charset="-120"/>
              </a:rPr>
              <a:t>Section / flight officer</a:t>
            </a:r>
            <a:endParaRPr lang="en-US" sz="1050" dirty="0"/>
          </a:p>
        </p:txBody>
      </p:sp>
      <p:sp>
        <p:nvSpPr>
          <p:cNvPr id="43" name="Shape 40"/>
          <p:cNvSpPr/>
          <p:nvPr/>
        </p:nvSpPr>
        <p:spPr>
          <a:xfrm>
            <a:off x="548640" y="5733288"/>
            <a:ext cx="2926080" cy="402336"/>
          </a:xfrm>
          <a:prstGeom prst="rect">
            <a:avLst/>
          </a:prstGeom>
          <a:solidFill>
            <a:srgbClr val="3E6E94"/>
          </a:solidFill>
          <a:ln/>
        </p:spPr>
      </p:sp>
      <p:sp>
        <p:nvSpPr>
          <p:cNvPr id="44" name="Text 41"/>
          <p:cNvSpPr/>
          <p:nvPr/>
        </p:nvSpPr>
        <p:spPr>
          <a:xfrm>
            <a:off x="603504" y="5733288"/>
            <a:ext cx="365760" cy="402336"/>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10</a:t>
            </a:r>
            <a:endParaRPr lang="en-US" sz="1100" dirty="0"/>
          </a:p>
        </p:txBody>
      </p:sp>
      <p:sp>
        <p:nvSpPr>
          <p:cNvPr id="45" name="Text 42"/>
          <p:cNvSpPr/>
          <p:nvPr/>
        </p:nvSpPr>
        <p:spPr>
          <a:xfrm>
            <a:off x="1005840" y="5733288"/>
            <a:ext cx="2377440" cy="402336"/>
          </a:xfrm>
          <a:prstGeom prst="rect">
            <a:avLst/>
          </a:prstGeom>
          <a:noFill/>
          <a:ln/>
        </p:spPr>
        <p:txBody>
          <a:bodyPr wrap="square"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Flying Officer</a:t>
            </a:r>
            <a:endParaRPr lang="en-US" sz="1250" dirty="0"/>
          </a:p>
        </p:txBody>
      </p:sp>
      <p:sp>
        <p:nvSpPr>
          <p:cNvPr id="46" name="Text 43"/>
          <p:cNvSpPr/>
          <p:nvPr/>
        </p:nvSpPr>
        <p:spPr>
          <a:xfrm>
            <a:off x="3639312" y="5733288"/>
            <a:ext cx="5120640" cy="402336"/>
          </a:xfrm>
          <a:prstGeom prst="rect">
            <a:avLst/>
          </a:prstGeom>
          <a:noFill/>
          <a:ln/>
        </p:spPr>
        <p:txBody>
          <a:bodyPr wrap="square" rtlCol="0" anchor="ctr"/>
          <a:lstStyle/>
          <a:p>
            <a:pPr indent="0" marL="0">
              <a:buNone/>
            </a:pPr>
            <a:r>
              <a:rPr lang="en-US" sz="1050" i="1" dirty="0">
                <a:solidFill>
                  <a:srgbClr val="4A5548"/>
                </a:solidFill>
                <a:latin typeface="Calibri" pitchFamily="34" charset="0"/>
                <a:ea typeface="Calibri" pitchFamily="34" charset="-122"/>
                <a:cs typeface="Calibri" pitchFamily="34" charset="-120"/>
              </a:rPr>
              <a:t>Entry commissioned rank</a:t>
            </a:r>
            <a:endParaRPr lang="en-US" sz="1050" dirty="0"/>
          </a:p>
        </p:txBody>
      </p:sp>
      <p:sp>
        <p:nvSpPr>
          <p:cNvPr id="47" name="Text 44"/>
          <p:cNvSpPr/>
          <p:nvPr/>
        </p:nvSpPr>
        <p:spPr>
          <a:xfrm>
            <a:off x="457200" y="6473952"/>
            <a:ext cx="7315200" cy="274320"/>
          </a:xfrm>
          <a:prstGeom prst="rect">
            <a:avLst/>
          </a:prstGeom>
          <a:noFill/>
          <a:ln/>
        </p:spPr>
        <p:txBody>
          <a:bodyPr wrap="square" rtlCol="0" anchor="ctr"/>
          <a:lstStyle/>
          <a:p>
            <a:pPr indent="0" marL="0">
              <a:buNone/>
            </a:pPr>
            <a:r>
              <a:rPr lang="en-US" sz="1000" i="1" dirty="0">
                <a:solidFill>
                  <a:srgbClr val="4A5548"/>
                </a:solidFill>
                <a:latin typeface="Calibri" pitchFamily="34" charset="0"/>
                <a:ea typeface="Calibri" pitchFamily="34" charset="-122"/>
                <a:cs typeface="Calibri" pitchFamily="34" charset="-120"/>
              </a:rPr>
              <a:t>Indian Armed Forces  |  Indian Air Force</a:t>
            </a:r>
            <a:endParaRPr lang="en-US" sz="1000" dirty="0"/>
          </a:p>
        </p:txBody>
      </p:sp>
      <p:sp>
        <p:nvSpPr>
          <p:cNvPr id="48" name="Text 45"/>
          <p:cNvSpPr/>
          <p:nvPr/>
        </p:nvSpPr>
        <p:spPr>
          <a:xfrm>
            <a:off x="11274552" y="6473952"/>
            <a:ext cx="457200" cy="274320"/>
          </a:xfrm>
          <a:prstGeom prst="rect">
            <a:avLst/>
          </a:prstGeom>
          <a:noFill/>
          <a:ln/>
        </p:spPr>
        <p:txBody>
          <a:bodyPr wrap="square" rtlCol="0" anchor="ctr"/>
          <a:lstStyle/>
          <a:p>
            <a:pPr algn="r" indent="0" marL="0">
              <a:buNone/>
            </a:pPr>
            <a:r>
              <a:rPr lang="en-US" sz="1000" dirty="0">
                <a:solidFill>
                  <a:srgbClr val="4A5548"/>
                </a:solidFill>
                <a:latin typeface="Calibri" pitchFamily="34" charset="0"/>
                <a:ea typeface="Calibri" pitchFamily="34" charset="-122"/>
                <a:cs typeface="Calibri" pitchFamily="34" charset="-120"/>
              </a:rPr>
              <a:t>10</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EAF1F7"/>
          </a:solidFill>
          <a:ln/>
        </p:spPr>
      </p:sp>
      <p:sp>
        <p:nvSpPr>
          <p:cNvPr id="3" name="Text 1"/>
          <p:cNvSpPr/>
          <p:nvPr/>
        </p:nvSpPr>
        <p:spPr>
          <a:xfrm>
            <a:off x="566928" y="137160"/>
            <a:ext cx="7315200" cy="274320"/>
          </a:xfrm>
          <a:prstGeom prst="rect">
            <a:avLst/>
          </a:prstGeom>
          <a:noFill/>
          <a:ln/>
        </p:spPr>
        <p:txBody>
          <a:bodyPr wrap="square" rtlCol="0" anchor="ctr"/>
          <a:lstStyle/>
          <a:p>
            <a:pPr indent="0" marL="0">
              <a:buNone/>
            </a:pPr>
            <a:r>
              <a:rPr lang="en-US" sz="1200" b="1" spc="200" kern="0" dirty="0">
                <a:solidFill>
                  <a:srgbClr val="B8912F"/>
                </a:solidFill>
                <a:latin typeface="Calibri" pitchFamily="34" charset="0"/>
                <a:ea typeface="Calibri" pitchFamily="34" charset="-122"/>
                <a:cs typeface="Calibri" pitchFamily="34" charset="-120"/>
              </a:rPr>
              <a:t>INDIAN AIR FORCE</a:t>
            </a:r>
            <a:endParaRPr lang="en-US" sz="1200" dirty="0"/>
          </a:p>
        </p:txBody>
      </p:sp>
      <p:sp>
        <p:nvSpPr>
          <p:cNvPr id="4" name="Text 2"/>
          <p:cNvSpPr/>
          <p:nvPr/>
        </p:nvSpPr>
        <p:spPr>
          <a:xfrm>
            <a:off x="548640" y="365760"/>
            <a:ext cx="11091672" cy="685800"/>
          </a:xfrm>
          <a:prstGeom prst="rect">
            <a:avLst/>
          </a:prstGeom>
          <a:noFill/>
          <a:ln/>
        </p:spPr>
        <p:txBody>
          <a:bodyPr wrap="square" rtlCol="0" anchor="ctr"/>
          <a:lstStyle/>
          <a:p>
            <a:pPr indent="0" marL="0">
              <a:buNone/>
            </a:pPr>
            <a:r>
              <a:rPr lang="en-US" sz="3000" b="1" dirty="0">
                <a:solidFill>
                  <a:srgbClr val="23281C"/>
                </a:solidFill>
                <a:latin typeface="Cambria" pitchFamily="34" charset="0"/>
                <a:ea typeface="Cambria" pitchFamily="34" charset="-122"/>
                <a:cs typeface="Cambria" pitchFamily="34" charset="-120"/>
              </a:rPr>
              <a:t>Airmen Ranks (Enlisted)</a:t>
            </a:r>
            <a:endParaRPr lang="en-US" sz="3000" dirty="0"/>
          </a:p>
        </p:txBody>
      </p:sp>
      <p:sp>
        <p:nvSpPr>
          <p:cNvPr id="5" name="Shape 3"/>
          <p:cNvSpPr/>
          <p:nvPr/>
        </p:nvSpPr>
        <p:spPr>
          <a:xfrm>
            <a:off x="10607040" y="320040"/>
            <a:ext cx="822960" cy="822960"/>
          </a:xfrm>
          <a:prstGeom prst="ellipse">
            <a:avLst/>
          </a:prstGeom>
          <a:solidFill>
            <a:srgbClr val="B8912F"/>
          </a:solidFill>
          <a:ln/>
        </p:spPr>
      </p:sp>
      <p:pic>
        <p:nvPicPr>
          <p:cNvPr id="6" name="Image 0" descr="/home/claude/ppt/icons/medal.png">    </p:cNvPr>
          <p:cNvPicPr>
            <a:picLocks noChangeAspect="1"/>
          </p:cNvPicPr>
          <p:nvPr/>
        </p:nvPicPr>
        <p:blipFill>
          <a:blip r:embed="rId1"/>
          <a:stretch>
            <a:fillRect/>
          </a:stretch>
        </p:blipFill>
        <p:spPr>
          <a:xfrm>
            <a:off x="10792206" y="505206"/>
            <a:ext cx="452628" cy="452628"/>
          </a:xfrm>
          <a:prstGeom prst="rect">
            <a:avLst/>
          </a:prstGeom>
        </p:spPr>
      </p:pic>
      <p:sp>
        <p:nvSpPr>
          <p:cNvPr id="7" name="Shape 4"/>
          <p:cNvSpPr/>
          <p:nvPr/>
        </p:nvSpPr>
        <p:spPr>
          <a:xfrm>
            <a:off x="548640" y="1463040"/>
            <a:ext cx="6949440" cy="457200"/>
          </a:xfrm>
          <a:prstGeom prst="rect">
            <a:avLst/>
          </a:prstGeom>
          <a:solidFill>
            <a:srgbClr val="1B3A5C"/>
          </a:solidFill>
          <a:ln/>
        </p:spPr>
      </p:sp>
      <p:sp>
        <p:nvSpPr>
          <p:cNvPr id="8" name="Text 5"/>
          <p:cNvSpPr/>
          <p:nvPr/>
        </p:nvSpPr>
        <p:spPr>
          <a:xfrm>
            <a:off x="603504" y="1463040"/>
            <a:ext cx="365760" cy="457200"/>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9" name="Text 6"/>
          <p:cNvSpPr/>
          <p:nvPr/>
        </p:nvSpPr>
        <p:spPr>
          <a:xfrm>
            <a:off x="1005840" y="1463040"/>
            <a:ext cx="6400800" cy="457200"/>
          </a:xfrm>
          <a:prstGeom prst="rect">
            <a:avLst/>
          </a:prstGeom>
          <a:noFill/>
          <a:ln/>
        </p:spPr>
        <p:txBody>
          <a:bodyPr wrap="square"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Master Warrant Officer</a:t>
            </a:r>
            <a:endParaRPr lang="en-US" sz="1250" dirty="0"/>
          </a:p>
        </p:txBody>
      </p:sp>
      <p:sp>
        <p:nvSpPr>
          <p:cNvPr id="10" name="Text 7"/>
          <p:cNvSpPr/>
          <p:nvPr/>
        </p:nvSpPr>
        <p:spPr>
          <a:xfrm>
            <a:off x="7662672" y="1463040"/>
            <a:ext cx="5120640" cy="457200"/>
          </a:xfrm>
          <a:prstGeom prst="rect">
            <a:avLst/>
          </a:prstGeom>
          <a:noFill/>
          <a:ln/>
        </p:spPr>
        <p:txBody>
          <a:bodyPr wrap="square" rtlCol="0" anchor="ctr"/>
          <a:lstStyle/>
          <a:p>
            <a:pPr indent="0" marL="0">
              <a:buNone/>
            </a:pPr>
            <a:r>
              <a:rPr lang="en-US" sz="1050" i="1" dirty="0">
                <a:solidFill>
                  <a:srgbClr val="4A5548"/>
                </a:solidFill>
                <a:latin typeface="Calibri" pitchFamily="34" charset="0"/>
                <a:ea typeface="Calibri" pitchFamily="34" charset="-122"/>
                <a:cs typeface="Calibri" pitchFamily="34" charset="-120"/>
              </a:rPr>
              <a:t>Senior-most airman rank (MWO)</a:t>
            </a:r>
            <a:endParaRPr lang="en-US" sz="1050" dirty="0"/>
          </a:p>
        </p:txBody>
      </p:sp>
      <p:sp>
        <p:nvSpPr>
          <p:cNvPr id="11" name="Shape 8"/>
          <p:cNvSpPr/>
          <p:nvPr/>
        </p:nvSpPr>
        <p:spPr>
          <a:xfrm>
            <a:off x="548640" y="2020824"/>
            <a:ext cx="6364224" cy="457200"/>
          </a:xfrm>
          <a:prstGeom prst="rect">
            <a:avLst/>
          </a:prstGeom>
          <a:solidFill>
            <a:srgbClr val="3E6E94"/>
          </a:solidFill>
          <a:ln/>
        </p:spPr>
      </p:sp>
      <p:sp>
        <p:nvSpPr>
          <p:cNvPr id="12" name="Text 9"/>
          <p:cNvSpPr/>
          <p:nvPr/>
        </p:nvSpPr>
        <p:spPr>
          <a:xfrm>
            <a:off x="603504" y="2020824"/>
            <a:ext cx="365760" cy="457200"/>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13" name="Text 10"/>
          <p:cNvSpPr/>
          <p:nvPr/>
        </p:nvSpPr>
        <p:spPr>
          <a:xfrm>
            <a:off x="1005840" y="2020824"/>
            <a:ext cx="5815584" cy="457200"/>
          </a:xfrm>
          <a:prstGeom prst="rect">
            <a:avLst/>
          </a:prstGeom>
          <a:noFill/>
          <a:ln/>
        </p:spPr>
        <p:txBody>
          <a:bodyPr wrap="square"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Warrant Officer</a:t>
            </a:r>
            <a:endParaRPr lang="en-US" sz="1250" dirty="0"/>
          </a:p>
        </p:txBody>
      </p:sp>
      <p:sp>
        <p:nvSpPr>
          <p:cNvPr id="14" name="Text 11"/>
          <p:cNvSpPr/>
          <p:nvPr/>
        </p:nvSpPr>
        <p:spPr>
          <a:xfrm>
            <a:off x="7077456" y="2020824"/>
            <a:ext cx="5120640" cy="457200"/>
          </a:xfrm>
          <a:prstGeom prst="rect">
            <a:avLst/>
          </a:prstGeom>
          <a:noFill/>
          <a:ln/>
        </p:spPr>
        <p:txBody>
          <a:bodyPr wrap="square" rtlCol="0" anchor="ctr"/>
          <a:lstStyle/>
          <a:p>
            <a:pPr indent="0" marL="0">
              <a:buNone/>
            </a:pPr>
            <a:r>
              <a:rPr lang="en-US" sz="1050" i="1" dirty="0">
                <a:solidFill>
                  <a:srgbClr val="4A5548"/>
                </a:solidFill>
                <a:latin typeface="Calibri" pitchFamily="34" charset="0"/>
                <a:ea typeface="Calibri" pitchFamily="34" charset="-122"/>
                <a:cs typeface="Calibri" pitchFamily="34" charset="-120"/>
              </a:rPr>
              <a:t>equiv. Senior NCO</a:t>
            </a:r>
            <a:endParaRPr lang="en-US" sz="1050" dirty="0"/>
          </a:p>
        </p:txBody>
      </p:sp>
      <p:sp>
        <p:nvSpPr>
          <p:cNvPr id="15" name="Shape 12"/>
          <p:cNvSpPr/>
          <p:nvPr/>
        </p:nvSpPr>
        <p:spPr>
          <a:xfrm>
            <a:off x="548640" y="2578608"/>
            <a:ext cx="5779008" cy="457200"/>
          </a:xfrm>
          <a:prstGeom prst="rect">
            <a:avLst/>
          </a:prstGeom>
          <a:solidFill>
            <a:srgbClr val="1B3A5C"/>
          </a:solidFill>
          <a:ln/>
        </p:spPr>
      </p:sp>
      <p:sp>
        <p:nvSpPr>
          <p:cNvPr id="16" name="Text 13"/>
          <p:cNvSpPr/>
          <p:nvPr/>
        </p:nvSpPr>
        <p:spPr>
          <a:xfrm>
            <a:off x="603504" y="2578608"/>
            <a:ext cx="365760" cy="457200"/>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17" name="Text 14"/>
          <p:cNvSpPr/>
          <p:nvPr/>
        </p:nvSpPr>
        <p:spPr>
          <a:xfrm>
            <a:off x="1005840" y="2578608"/>
            <a:ext cx="5230368" cy="457200"/>
          </a:xfrm>
          <a:prstGeom prst="rect">
            <a:avLst/>
          </a:prstGeom>
          <a:noFill/>
          <a:ln/>
        </p:spPr>
        <p:txBody>
          <a:bodyPr wrap="square"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Sergeant</a:t>
            </a:r>
            <a:endParaRPr lang="en-US" sz="1250" dirty="0"/>
          </a:p>
        </p:txBody>
      </p:sp>
      <p:sp>
        <p:nvSpPr>
          <p:cNvPr id="18" name="Text 15"/>
          <p:cNvSpPr/>
          <p:nvPr/>
        </p:nvSpPr>
        <p:spPr>
          <a:xfrm>
            <a:off x="6492240" y="2578608"/>
            <a:ext cx="5120640" cy="457200"/>
          </a:xfrm>
          <a:prstGeom prst="rect">
            <a:avLst/>
          </a:prstGeom>
          <a:noFill/>
          <a:ln/>
        </p:spPr>
        <p:txBody>
          <a:bodyPr wrap="square" rtlCol="0" anchor="ctr"/>
          <a:lstStyle/>
          <a:p>
            <a:pPr indent="0" marL="0">
              <a:buNone/>
            </a:pPr>
            <a:r>
              <a:rPr lang="en-US" sz="1050" i="1" dirty="0">
                <a:solidFill>
                  <a:srgbClr val="4A5548"/>
                </a:solidFill>
                <a:latin typeface="Calibri" pitchFamily="34" charset="0"/>
                <a:ea typeface="Calibri" pitchFamily="34" charset="-122"/>
                <a:cs typeface="Calibri" pitchFamily="34" charset="-120"/>
              </a:rPr>
              <a:t>equiv. Junior NCO</a:t>
            </a:r>
            <a:endParaRPr lang="en-US" sz="1050" dirty="0"/>
          </a:p>
        </p:txBody>
      </p:sp>
      <p:sp>
        <p:nvSpPr>
          <p:cNvPr id="19" name="Shape 16"/>
          <p:cNvSpPr/>
          <p:nvPr/>
        </p:nvSpPr>
        <p:spPr>
          <a:xfrm>
            <a:off x="548640" y="3136392"/>
            <a:ext cx="5193792" cy="457200"/>
          </a:xfrm>
          <a:prstGeom prst="rect">
            <a:avLst/>
          </a:prstGeom>
          <a:solidFill>
            <a:srgbClr val="3E6E94"/>
          </a:solidFill>
          <a:ln/>
        </p:spPr>
      </p:sp>
      <p:sp>
        <p:nvSpPr>
          <p:cNvPr id="20" name="Text 17"/>
          <p:cNvSpPr/>
          <p:nvPr/>
        </p:nvSpPr>
        <p:spPr>
          <a:xfrm>
            <a:off x="603504" y="3136392"/>
            <a:ext cx="365760" cy="457200"/>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21" name="Text 18"/>
          <p:cNvSpPr/>
          <p:nvPr/>
        </p:nvSpPr>
        <p:spPr>
          <a:xfrm>
            <a:off x="1005840" y="3136392"/>
            <a:ext cx="4645152" cy="457200"/>
          </a:xfrm>
          <a:prstGeom prst="rect">
            <a:avLst/>
          </a:prstGeom>
          <a:noFill/>
          <a:ln/>
        </p:spPr>
        <p:txBody>
          <a:bodyPr wrap="square"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Corporal</a:t>
            </a:r>
            <a:endParaRPr lang="en-US" sz="1250" dirty="0"/>
          </a:p>
        </p:txBody>
      </p:sp>
      <p:sp>
        <p:nvSpPr>
          <p:cNvPr id="22" name="Text 19"/>
          <p:cNvSpPr/>
          <p:nvPr/>
        </p:nvSpPr>
        <p:spPr>
          <a:xfrm>
            <a:off x="5907024" y="3136392"/>
            <a:ext cx="5120640" cy="457200"/>
          </a:xfrm>
          <a:prstGeom prst="rect">
            <a:avLst/>
          </a:prstGeom>
          <a:noFill/>
          <a:ln/>
        </p:spPr>
        <p:txBody>
          <a:bodyPr wrap="square" rtlCol="0" anchor="ctr"/>
          <a:lstStyle/>
          <a:p>
            <a:pPr indent="0" marL="0">
              <a:buNone/>
            </a:pPr>
            <a:r>
              <a:rPr lang="en-US" sz="1050" i="1" dirty="0">
                <a:solidFill>
                  <a:srgbClr val="4A5548"/>
                </a:solidFill>
                <a:latin typeface="Calibri" pitchFamily="34" charset="0"/>
                <a:ea typeface="Calibri" pitchFamily="34" charset="-122"/>
                <a:cs typeface="Calibri" pitchFamily="34" charset="-120"/>
              </a:rPr>
              <a:t>Team lead / technician</a:t>
            </a:r>
            <a:endParaRPr lang="en-US" sz="1050" dirty="0"/>
          </a:p>
        </p:txBody>
      </p:sp>
      <p:sp>
        <p:nvSpPr>
          <p:cNvPr id="23" name="Shape 20"/>
          <p:cNvSpPr/>
          <p:nvPr/>
        </p:nvSpPr>
        <p:spPr>
          <a:xfrm>
            <a:off x="548640" y="3694176"/>
            <a:ext cx="4608576" cy="457200"/>
          </a:xfrm>
          <a:prstGeom prst="rect">
            <a:avLst/>
          </a:prstGeom>
          <a:solidFill>
            <a:srgbClr val="1B3A5C"/>
          </a:solidFill>
          <a:ln/>
        </p:spPr>
      </p:sp>
      <p:sp>
        <p:nvSpPr>
          <p:cNvPr id="24" name="Text 21"/>
          <p:cNvSpPr/>
          <p:nvPr/>
        </p:nvSpPr>
        <p:spPr>
          <a:xfrm>
            <a:off x="603504" y="3694176"/>
            <a:ext cx="365760" cy="457200"/>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25" name="Text 22"/>
          <p:cNvSpPr/>
          <p:nvPr/>
        </p:nvSpPr>
        <p:spPr>
          <a:xfrm>
            <a:off x="1005840" y="3694176"/>
            <a:ext cx="4059936" cy="457200"/>
          </a:xfrm>
          <a:prstGeom prst="rect">
            <a:avLst/>
          </a:prstGeom>
          <a:noFill/>
          <a:ln/>
        </p:spPr>
        <p:txBody>
          <a:bodyPr wrap="square"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Leading Aircraftman</a:t>
            </a:r>
            <a:endParaRPr lang="en-US" sz="1250" dirty="0"/>
          </a:p>
        </p:txBody>
      </p:sp>
      <p:sp>
        <p:nvSpPr>
          <p:cNvPr id="26" name="Text 23"/>
          <p:cNvSpPr/>
          <p:nvPr/>
        </p:nvSpPr>
        <p:spPr>
          <a:xfrm>
            <a:off x="5321808" y="3694176"/>
            <a:ext cx="5120640" cy="457200"/>
          </a:xfrm>
          <a:prstGeom prst="rect">
            <a:avLst/>
          </a:prstGeom>
          <a:noFill/>
          <a:ln/>
        </p:spPr>
        <p:txBody>
          <a:bodyPr wrap="square" rtlCol="0" anchor="ctr"/>
          <a:lstStyle/>
          <a:p>
            <a:pPr indent="0" marL="0">
              <a:buNone/>
            </a:pPr>
            <a:r>
              <a:rPr lang="en-US" sz="1050" i="1" dirty="0">
                <a:solidFill>
                  <a:srgbClr val="4A5548"/>
                </a:solidFill>
                <a:latin typeface="Calibri" pitchFamily="34" charset="0"/>
                <a:ea typeface="Calibri" pitchFamily="34" charset="-122"/>
                <a:cs typeface="Calibri" pitchFamily="34" charset="-120"/>
              </a:rPr>
              <a:t>Skilled tradesman (LAC)</a:t>
            </a:r>
            <a:endParaRPr lang="en-US" sz="1050" dirty="0"/>
          </a:p>
        </p:txBody>
      </p:sp>
      <p:sp>
        <p:nvSpPr>
          <p:cNvPr id="27" name="Shape 24"/>
          <p:cNvSpPr/>
          <p:nvPr/>
        </p:nvSpPr>
        <p:spPr>
          <a:xfrm>
            <a:off x="548640" y="4251960"/>
            <a:ext cx="4023360" cy="457200"/>
          </a:xfrm>
          <a:prstGeom prst="rect">
            <a:avLst/>
          </a:prstGeom>
          <a:solidFill>
            <a:srgbClr val="3E6E94"/>
          </a:solidFill>
          <a:ln/>
        </p:spPr>
      </p:sp>
      <p:sp>
        <p:nvSpPr>
          <p:cNvPr id="28" name="Text 25"/>
          <p:cNvSpPr/>
          <p:nvPr/>
        </p:nvSpPr>
        <p:spPr>
          <a:xfrm>
            <a:off x="603504" y="4251960"/>
            <a:ext cx="365760" cy="457200"/>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6</a:t>
            </a:r>
            <a:endParaRPr lang="en-US" sz="1100" dirty="0"/>
          </a:p>
        </p:txBody>
      </p:sp>
      <p:sp>
        <p:nvSpPr>
          <p:cNvPr id="29" name="Text 26"/>
          <p:cNvSpPr/>
          <p:nvPr/>
        </p:nvSpPr>
        <p:spPr>
          <a:xfrm>
            <a:off x="1005840" y="4251960"/>
            <a:ext cx="3474720" cy="457200"/>
          </a:xfrm>
          <a:prstGeom prst="rect">
            <a:avLst/>
          </a:prstGeom>
          <a:noFill/>
          <a:ln/>
        </p:spPr>
        <p:txBody>
          <a:bodyPr wrap="square"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Aircraftman</a:t>
            </a:r>
            <a:endParaRPr lang="en-US" sz="1250" dirty="0"/>
          </a:p>
        </p:txBody>
      </p:sp>
      <p:sp>
        <p:nvSpPr>
          <p:cNvPr id="30" name="Text 27"/>
          <p:cNvSpPr/>
          <p:nvPr/>
        </p:nvSpPr>
        <p:spPr>
          <a:xfrm>
            <a:off x="4736592" y="4251960"/>
            <a:ext cx="5120640" cy="457200"/>
          </a:xfrm>
          <a:prstGeom prst="rect">
            <a:avLst/>
          </a:prstGeom>
          <a:noFill/>
          <a:ln/>
        </p:spPr>
        <p:txBody>
          <a:bodyPr wrap="square" rtlCol="0" anchor="ctr"/>
          <a:lstStyle/>
          <a:p>
            <a:pPr indent="0" marL="0">
              <a:buNone/>
            </a:pPr>
            <a:r>
              <a:rPr lang="en-US" sz="1050" i="1" dirty="0">
                <a:solidFill>
                  <a:srgbClr val="4A5548"/>
                </a:solidFill>
                <a:latin typeface="Calibri" pitchFamily="34" charset="0"/>
                <a:ea typeface="Calibri" pitchFamily="34" charset="-122"/>
                <a:cs typeface="Calibri" pitchFamily="34" charset="-120"/>
              </a:rPr>
              <a:t>Entry airman rank (AC)</a:t>
            </a:r>
            <a:endParaRPr lang="en-US" sz="1050" dirty="0"/>
          </a:p>
        </p:txBody>
      </p:sp>
      <p:sp>
        <p:nvSpPr>
          <p:cNvPr id="31" name="Shape 28"/>
          <p:cNvSpPr/>
          <p:nvPr/>
        </p:nvSpPr>
        <p:spPr>
          <a:xfrm>
            <a:off x="548640" y="5212080"/>
            <a:ext cx="11064240" cy="1051560"/>
          </a:xfrm>
          <a:prstGeom prst="roundRect">
            <a:avLst>
              <a:gd name="adj" fmla="val 6957"/>
            </a:avLst>
          </a:prstGeom>
          <a:solidFill>
            <a:srgbClr val="FFFFFF"/>
          </a:solidFill>
          <a:ln w="12700">
            <a:solidFill>
              <a:srgbClr val="D3E1EC"/>
            </a:solidFill>
            <a:prstDash val="solid"/>
          </a:ln>
        </p:spPr>
      </p:sp>
      <p:sp>
        <p:nvSpPr>
          <p:cNvPr id="32" name="Text 29"/>
          <p:cNvSpPr/>
          <p:nvPr/>
        </p:nvSpPr>
        <p:spPr>
          <a:xfrm>
            <a:off x="777240" y="5212080"/>
            <a:ext cx="10607040" cy="1051560"/>
          </a:xfrm>
          <a:prstGeom prst="rect">
            <a:avLst/>
          </a:prstGeom>
          <a:noFill/>
          <a:ln/>
        </p:spPr>
        <p:txBody>
          <a:bodyPr wrap="square" rtlCol="0" anchor="ctr"/>
          <a:lstStyle/>
          <a:p>
            <a:pPr indent="0" marL="0">
              <a:buNone/>
            </a:pPr>
            <a:r>
              <a:rPr lang="en-US" sz="1100" i="1" dirty="0">
                <a:solidFill>
                  <a:srgbClr val="4A5548"/>
                </a:solidFill>
                <a:latin typeface="Calibri" pitchFamily="34" charset="0"/>
                <a:ea typeface="Calibri" pitchFamily="34" charset="-122"/>
                <a:cs typeface="Calibri" pitchFamily="34" charset="-120"/>
              </a:rPr>
              <a:t>Airmen specialise across technical, ground-support and administrative trades — from aircraft maintenance to air traffic control — forming the essential ground backbone of every squadron.</a:t>
            </a:r>
            <a:endParaRPr lang="en-US" sz="1100" dirty="0"/>
          </a:p>
        </p:txBody>
      </p:sp>
      <p:sp>
        <p:nvSpPr>
          <p:cNvPr id="33" name="Text 30"/>
          <p:cNvSpPr/>
          <p:nvPr/>
        </p:nvSpPr>
        <p:spPr>
          <a:xfrm>
            <a:off x="457200" y="6473952"/>
            <a:ext cx="7315200" cy="274320"/>
          </a:xfrm>
          <a:prstGeom prst="rect">
            <a:avLst/>
          </a:prstGeom>
          <a:noFill/>
          <a:ln/>
        </p:spPr>
        <p:txBody>
          <a:bodyPr wrap="square" rtlCol="0" anchor="ctr"/>
          <a:lstStyle/>
          <a:p>
            <a:pPr indent="0" marL="0">
              <a:buNone/>
            </a:pPr>
            <a:r>
              <a:rPr lang="en-US" sz="1000" i="1" dirty="0">
                <a:solidFill>
                  <a:srgbClr val="4A5548"/>
                </a:solidFill>
                <a:latin typeface="Calibri" pitchFamily="34" charset="0"/>
                <a:ea typeface="Calibri" pitchFamily="34" charset="-122"/>
                <a:cs typeface="Calibri" pitchFamily="34" charset="-120"/>
              </a:rPr>
              <a:t>Indian Armed Forces  |  Indian Air Force</a:t>
            </a:r>
            <a:endParaRPr lang="en-US" sz="1000" dirty="0"/>
          </a:p>
        </p:txBody>
      </p:sp>
      <p:sp>
        <p:nvSpPr>
          <p:cNvPr id="34" name="Text 31"/>
          <p:cNvSpPr/>
          <p:nvPr/>
        </p:nvSpPr>
        <p:spPr>
          <a:xfrm>
            <a:off x="11274552" y="6473952"/>
            <a:ext cx="457200" cy="274320"/>
          </a:xfrm>
          <a:prstGeom prst="rect">
            <a:avLst/>
          </a:prstGeom>
          <a:noFill/>
          <a:ln/>
        </p:spPr>
        <p:txBody>
          <a:bodyPr wrap="square" rtlCol="0" anchor="ctr"/>
          <a:lstStyle/>
          <a:p>
            <a:pPr algn="r" indent="0" marL="0">
              <a:buNone/>
            </a:pPr>
            <a:r>
              <a:rPr lang="en-US" sz="1000" dirty="0">
                <a:solidFill>
                  <a:srgbClr val="4A5548"/>
                </a:solidFill>
                <a:latin typeface="Calibri" pitchFamily="34" charset="0"/>
                <a:ea typeface="Calibri" pitchFamily="34" charset="-122"/>
                <a:cs typeface="Calibri" pitchFamily="34" charset="-120"/>
              </a:rPr>
              <a:t>11</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1C2618"/>
          </a:solidFill>
          <a:ln/>
        </p:spPr>
      </p:sp>
      <p:sp>
        <p:nvSpPr>
          <p:cNvPr id="3" name="Text 1"/>
          <p:cNvSpPr/>
          <p:nvPr/>
        </p:nvSpPr>
        <p:spPr>
          <a:xfrm>
            <a:off x="566928" y="137160"/>
            <a:ext cx="7315200" cy="274320"/>
          </a:xfrm>
          <a:prstGeom prst="rect">
            <a:avLst/>
          </a:prstGeom>
          <a:noFill/>
          <a:ln/>
        </p:spPr>
        <p:txBody>
          <a:bodyPr wrap="square" rtlCol="0" anchor="ctr"/>
          <a:lstStyle/>
          <a:p>
            <a:pPr indent="0" marL="0">
              <a:buNone/>
            </a:pPr>
            <a:r>
              <a:rPr lang="en-US" sz="1200" b="1" spc="200" kern="0" dirty="0">
                <a:solidFill>
                  <a:srgbClr val="B8912F"/>
                </a:solidFill>
                <a:latin typeface="Calibri" pitchFamily="34" charset="0"/>
                <a:ea typeface="Calibri" pitchFamily="34" charset="-122"/>
                <a:cs typeface="Calibri" pitchFamily="34" charset="-120"/>
              </a:rPr>
              <a:t>ELITE UNITS</a:t>
            </a:r>
            <a:endParaRPr lang="en-US" sz="1200" dirty="0"/>
          </a:p>
        </p:txBody>
      </p:sp>
      <p:sp>
        <p:nvSpPr>
          <p:cNvPr id="4" name="Text 2"/>
          <p:cNvSpPr/>
          <p:nvPr/>
        </p:nvSpPr>
        <p:spPr>
          <a:xfrm>
            <a:off x="548640" y="365760"/>
            <a:ext cx="11091672" cy="685800"/>
          </a:xfrm>
          <a:prstGeom prst="rect">
            <a:avLst/>
          </a:prstGeom>
          <a:noFill/>
          <a:ln/>
        </p:spPr>
        <p:txBody>
          <a:bodyPr wrap="square" rtlCol="0" anchor="ctr"/>
          <a:lstStyle/>
          <a:p>
            <a:pPr indent="0" marL="0">
              <a:buNone/>
            </a:pPr>
            <a:r>
              <a:rPr lang="en-US" sz="3000" b="1" dirty="0">
                <a:solidFill>
                  <a:srgbClr val="F7F3E8"/>
                </a:solidFill>
                <a:latin typeface="Cambria" pitchFamily="34" charset="0"/>
                <a:ea typeface="Cambria" pitchFamily="34" charset="-122"/>
                <a:cs typeface="Cambria" pitchFamily="34" charset="-120"/>
              </a:rPr>
              <a:t>Special Forces of India</a:t>
            </a:r>
            <a:endParaRPr lang="en-US" sz="3000" dirty="0"/>
          </a:p>
        </p:txBody>
      </p:sp>
      <p:sp>
        <p:nvSpPr>
          <p:cNvPr id="5" name="Text 3"/>
          <p:cNvSpPr/>
          <p:nvPr/>
        </p:nvSpPr>
        <p:spPr>
          <a:xfrm>
            <a:off x="566928" y="960120"/>
            <a:ext cx="10607040" cy="457200"/>
          </a:xfrm>
          <a:prstGeom prst="rect">
            <a:avLst/>
          </a:prstGeom>
          <a:noFill/>
          <a:ln/>
        </p:spPr>
        <p:txBody>
          <a:bodyPr wrap="square" rtlCol="0" anchor="ctr"/>
          <a:lstStyle/>
          <a:p>
            <a:pPr indent="0" marL="0">
              <a:buNone/>
            </a:pPr>
            <a:r>
              <a:rPr lang="en-US" sz="1300" dirty="0">
                <a:solidFill>
                  <a:srgbClr val="C9B896"/>
                </a:solidFill>
                <a:latin typeface="Calibri" pitchFamily="34" charset="0"/>
                <a:ea typeface="Calibri" pitchFamily="34" charset="-122"/>
                <a:cs typeface="Calibri" pitchFamily="34" charset="-120"/>
              </a:rPr>
              <a:t>Each service maintains its own elite, all-volunteer commando force for high-risk unconventional operations.</a:t>
            </a:r>
            <a:endParaRPr lang="en-US" sz="1300" dirty="0"/>
          </a:p>
        </p:txBody>
      </p:sp>
      <p:sp>
        <p:nvSpPr>
          <p:cNvPr id="6" name="Shape 4"/>
          <p:cNvSpPr/>
          <p:nvPr/>
        </p:nvSpPr>
        <p:spPr>
          <a:xfrm>
            <a:off x="548640" y="1691640"/>
            <a:ext cx="5440680" cy="4297680"/>
          </a:xfrm>
          <a:prstGeom prst="roundRect">
            <a:avLst>
              <a:gd name="adj" fmla="val 2128"/>
            </a:avLst>
          </a:prstGeom>
          <a:solidFill>
            <a:srgbClr val="24331C"/>
          </a:solidFill>
          <a:ln w="12700">
            <a:solidFill>
              <a:srgbClr val="3A4A2E"/>
            </a:solidFill>
            <a:prstDash val="solid"/>
          </a:ln>
        </p:spPr>
      </p:sp>
      <p:sp>
        <p:nvSpPr>
          <p:cNvPr id="7" name="Shape 5"/>
          <p:cNvSpPr/>
          <p:nvPr/>
        </p:nvSpPr>
        <p:spPr>
          <a:xfrm>
            <a:off x="868680" y="1965960"/>
            <a:ext cx="777240" cy="777240"/>
          </a:xfrm>
          <a:prstGeom prst="ellipse">
            <a:avLst/>
          </a:prstGeom>
          <a:solidFill>
            <a:srgbClr val="2E3B24"/>
          </a:solidFill>
          <a:ln/>
        </p:spPr>
      </p:sp>
      <p:pic>
        <p:nvPicPr>
          <p:cNvPr id="8" name="Image 0" descr="/home/claude/ppt/icons/para.png">    </p:cNvPr>
          <p:cNvPicPr>
            <a:picLocks noChangeAspect="1"/>
          </p:cNvPicPr>
          <p:nvPr/>
        </p:nvPicPr>
        <p:blipFill>
          <a:blip r:embed="rId1"/>
          <a:stretch>
            <a:fillRect/>
          </a:stretch>
        </p:blipFill>
        <p:spPr>
          <a:xfrm>
            <a:off x="1043559" y="2140839"/>
            <a:ext cx="427482" cy="427482"/>
          </a:xfrm>
          <a:prstGeom prst="rect">
            <a:avLst/>
          </a:prstGeom>
        </p:spPr>
      </p:pic>
      <p:sp>
        <p:nvSpPr>
          <p:cNvPr id="9" name="Text 6"/>
          <p:cNvSpPr/>
          <p:nvPr/>
        </p:nvSpPr>
        <p:spPr>
          <a:xfrm>
            <a:off x="1783080" y="1993392"/>
            <a:ext cx="3931920" cy="411480"/>
          </a:xfrm>
          <a:prstGeom prst="rect">
            <a:avLst/>
          </a:prstGeom>
          <a:noFill/>
          <a:ln/>
        </p:spPr>
        <p:txBody>
          <a:bodyPr wrap="square" rtlCol="0" anchor="ctr"/>
          <a:lstStyle/>
          <a:p>
            <a:pPr indent="0" marL="0">
              <a:buNone/>
            </a:pPr>
            <a:r>
              <a:rPr lang="en-US" sz="1650" b="1" dirty="0">
                <a:solidFill>
                  <a:srgbClr val="F7F3E8"/>
                </a:solidFill>
                <a:latin typeface="Cambria" pitchFamily="34" charset="0"/>
                <a:ea typeface="Cambria" pitchFamily="34" charset="-122"/>
                <a:cs typeface="Cambria" pitchFamily="34" charset="-120"/>
              </a:rPr>
              <a:t>PARA (SPECIAL FORCES)</a:t>
            </a:r>
            <a:endParaRPr lang="en-US" sz="1650" dirty="0"/>
          </a:p>
        </p:txBody>
      </p:sp>
      <p:sp>
        <p:nvSpPr>
          <p:cNvPr id="10" name="Text 7"/>
          <p:cNvSpPr/>
          <p:nvPr/>
        </p:nvSpPr>
        <p:spPr>
          <a:xfrm>
            <a:off x="1783080" y="2377440"/>
            <a:ext cx="3931920" cy="320040"/>
          </a:xfrm>
          <a:prstGeom prst="rect">
            <a:avLst/>
          </a:prstGeom>
          <a:noFill/>
          <a:ln/>
        </p:spPr>
        <p:txBody>
          <a:bodyPr wrap="square" rtlCol="0" anchor="ctr"/>
          <a:lstStyle/>
          <a:p>
            <a:pPr indent="0" marL="0">
              <a:buNone/>
            </a:pPr>
            <a:r>
              <a:rPr lang="en-US" sz="1100" i="1" dirty="0">
                <a:solidFill>
                  <a:srgbClr val="B8912F"/>
                </a:solidFill>
                <a:latin typeface="Calibri" pitchFamily="34" charset="0"/>
                <a:ea typeface="Calibri" pitchFamily="34" charset="-122"/>
                <a:cs typeface="Calibri" pitchFamily="34" charset="-120"/>
              </a:rPr>
              <a:t>Indian Army</a:t>
            </a:r>
            <a:endParaRPr lang="en-US" sz="1100" dirty="0"/>
          </a:p>
        </p:txBody>
      </p:sp>
      <p:sp>
        <p:nvSpPr>
          <p:cNvPr id="11" name="Text 8"/>
          <p:cNvSpPr/>
          <p:nvPr/>
        </p:nvSpPr>
        <p:spPr>
          <a:xfrm>
            <a:off x="868680" y="2926080"/>
            <a:ext cx="4846320" cy="2880360"/>
          </a:xfrm>
          <a:prstGeom prst="rect">
            <a:avLst/>
          </a:prstGeom>
          <a:noFill/>
          <a:ln/>
        </p:spPr>
        <p:txBody>
          <a:bodyPr wrap="square" rtlCol="0" anchor="ctr"/>
          <a:lstStyle/>
          <a:p>
            <a:pPr marL="342900" indent="-342900">
              <a:lnSpc>
                <a:spcPct val="135000"/>
              </a:lnSpc>
              <a:spcAft>
                <a:spcPts val="1000"/>
              </a:spcAft>
              <a:buSzPct val="100000"/>
              <a:buChar char="•"/>
            </a:pPr>
            <a:r>
              <a:rPr lang="en-US" sz="1150" dirty="0">
                <a:solidFill>
                  <a:srgbClr val="C9B896"/>
                </a:solidFill>
                <a:latin typeface="Calibri" pitchFamily="34" charset="0"/>
                <a:ea typeface="Calibri" pitchFamily="34" charset="-122"/>
                <a:cs typeface="Calibri" pitchFamily="34" charset="-120"/>
              </a:rPr>
              <a:t>Parachute Regiment's SF battalions — India's oldest special forces</a:t>
            </a:r>
            <a:endParaRPr lang="en-US" sz="1150" dirty="0"/>
          </a:p>
          <a:p>
            <a:pPr marL="342900" indent="-342900">
              <a:lnSpc>
                <a:spcPct val="135000"/>
              </a:lnSpc>
              <a:spcAft>
                <a:spcPts val="1000"/>
              </a:spcAft>
              <a:buSzPct val="100000"/>
              <a:buChar char="•"/>
            </a:pPr>
            <a:r>
              <a:rPr lang="en-US" sz="1150" dirty="0">
                <a:solidFill>
                  <a:srgbClr val="C9B896"/>
                </a:solidFill>
                <a:latin typeface="Calibri" pitchFamily="34" charset="0"/>
                <a:ea typeface="Calibri" pitchFamily="34" charset="-122"/>
                <a:cs typeface="Calibri" pitchFamily="34" charset="-120"/>
              </a:rPr>
              <a:t>Selection has one of the world's lowest pass rates</a:t>
            </a:r>
            <a:endParaRPr lang="en-US" sz="1150" dirty="0"/>
          </a:p>
          <a:p>
            <a:pPr marL="342900" indent="-342900">
              <a:lnSpc>
                <a:spcPct val="135000"/>
              </a:lnSpc>
              <a:spcAft>
                <a:spcPts val="1000"/>
              </a:spcAft>
              <a:buSzPct val="100000"/>
              <a:buChar char="•"/>
            </a:pPr>
            <a:r>
              <a:rPr lang="en-US" sz="1150" dirty="0">
                <a:solidFill>
                  <a:srgbClr val="C9B896"/>
                </a:solidFill>
                <a:latin typeface="Calibri" pitchFamily="34" charset="0"/>
                <a:ea typeface="Calibri" pitchFamily="34" charset="-122"/>
                <a:cs typeface="Calibri" pitchFamily="34" charset="-120"/>
              </a:rPr>
              <a:t>Roles: direct action, deep reconnaissance, counter-terrorism, unconventional warfare</a:t>
            </a:r>
            <a:endParaRPr lang="en-US" sz="1150" dirty="0"/>
          </a:p>
          <a:p>
            <a:pPr marL="342900" indent="-342900">
              <a:lnSpc>
                <a:spcPct val="135000"/>
              </a:lnSpc>
              <a:spcAft>
                <a:spcPts val="1000"/>
              </a:spcAft>
              <a:buSzPct val="100000"/>
              <a:buChar char="•"/>
            </a:pPr>
            <a:r>
              <a:rPr lang="en-US" sz="1150" dirty="0">
                <a:solidFill>
                  <a:srgbClr val="C9B896"/>
                </a:solidFill>
                <a:latin typeface="Calibri" pitchFamily="34" charset="0"/>
                <a:ea typeface="Calibri" pitchFamily="34" charset="-122"/>
                <a:cs typeface="Calibri" pitchFamily="34" charset="-120"/>
              </a:rPr>
              <a:t>Notable: Op Khukri (1999), Balakot support ops</a:t>
            </a:r>
            <a:endParaRPr lang="en-US" sz="1150" dirty="0"/>
          </a:p>
        </p:txBody>
      </p:sp>
      <p:sp>
        <p:nvSpPr>
          <p:cNvPr id="12" name="Shape 9"/>
          <p:cNvSpPr/>
          <p:nvPr/>
        </p:nvSpPr>
        <p:spPr>
          <a:xfrm>
            <a:off x="6172200" y="1691640"/>
            <a:ext cx="5440680" cy="4297680"/>
          </a:xfrm>
          <a:prstGeom prst="roundRect">
            <a:avLst>
              <a:gd name="adj" fmla="val 2128"/>
            </a:avLst>
          </a:prstGeom>
          <a:solidFill>
            <a:srgbClr val="0E2C40"/>
          </a:solidFill>
          <a:ln w="12700">
            <a:solidFill>
              <a:srgbClr val="3A4A2E"/>
            </a:solidFill>
            <a:prstDash val="solid"/>
          </a:ln>
        </p:spPr>
      </p:sp>
      <p:sp>
        <p:nvSpPr>
          <p:cNvPr id="13" name="Shape 10"/>
          <p:cNvSpPr/>
          <p:nvPr/>
        </p:nvSpPr>
        <p:spPr>
          <a:xfrm>
            <a:off x="6492240" y="1965960"/>
            <a:ext cx="777240" cy="777240"/>
          </a:xfrm>
          <a:prstGeom prst="ellipse">
            <a:avLst/>
          </a:prstGeom>
          <a:solidFill>
            <a:srgbClr val="0B3D5C"/>
          </a:solidFill>
          <a:ln/>
        </p:spPr>
      </p:sp>
      <p:pic>
        <p:nvPicPr>
          <p:cNvPr id="14" name="Image 1" descr="/home/claude/ppt/icons/water.png">    </p:cNvPr>
          <p:cNvPicPr>
            <a:picLocks noChangeAspect="1"/>
          </p:cNvPicPr>
          <p:nvPr/>
        </p:nvPicPr>
        <p:blipFill>
          <a:blip r:embed="rId2"/>
          <a:stretch>
            <a:fillRect/>
          </a:stretch>
        </p:blipFill>
        <p:spPr>
          <a:xfrm>
            <a:off x="6667119" y="2140839"/>
            <a:ext cx="427482" cy="427482"/>
          </a:xfrm>
          <a:prstGeom prst="rect">
            <a:avLst/>
          </a:prstGeom>
        </p:spPr>
      </p:pic>
      <p:sp>
        <p:nvSpPr>
          <p:cNvPr id="15" name="Text 11"/>
          <p:cNvSpPr/>
          <p:nvPr/>
        </p:nvSpPr>
        <p:spPr>
          <a:xfrm>
            <a:off x="7406640" y="1993392"/>
            <a:ext cx="3931920" cy="411480"/>
          </a:xfrm>
          <a:prstGeom prst="rect">
            <a:avLst/>
          </a:prstGeom>
          <a:noFill/>
          <a:ln/>
        </p:spPr>
        <p:txBody>
          <a:bodyPr wrap="square" rtlCol="0" anchor="ctr"/>
          <a:lstStyle/>
          <a:p>
            <a:pPr indent="0" marL="0">
              <a:buNone/>
            </a:pPr>
            <a:r>
              <a:rPr lang="en-US" sz="1650" b="1" dirty="0">
                <a:solidFill>
                  <a:srgbClr val="F7F3E8"/>
                </a:solidFill>
                <a:latin typeface="Cambria" pitchFamily="34" charset="0"/>
                <a:ea typeface="Cambria" pitchFamily="34" charset="-122"/>
                <a:cs typeface="Cambria" pitchFamily="34" charset="-120"/>
              </a:rPr>
              <a:t>MARCOS</a:t>
            </a:r>
            <a:endParaRPr lang="en-US" sz="1650" dirty="0"/>
          </a:p>
        </p:txBody>
      </p:sp>
      <p:sp>
        <p:nvSpPr>
          <p:cNvPr id="16" name="Text 12"/>
          <p:cNvSpPr/>
          <p:nvPr/>
        </p:nvSpPr>
        <p:spPr>
          <a:xfrm>
            <a:off x="7406640" y="2377440"/>
            <a:ext cx="3931920" cy="320040"/>
          </a:xfrm>
          <a:prstGeom prst="rect">
            <a:avLst/>
          </a:prstGeom>
          <a:noFill/>
          <a:ln/>
        </p:spPr>
        <p:txBody>
          <a:bodyPr wrap="square" rtlCol="0" anchor="ctr"/>
          <a:lstStyle/>
          <a:p>
            <a:pPr indent="0" marL="0">
              <a:buNone/>
            </a:pPr>
            <a:r>
              <a:rPr lang="en-US" sz="1100" i="1" dirty="0">
                <a:solidFill>
                  <a:srgbClr val="B8912F"/>
                </a:solidFill>
                <a:latin typeface="Calibri" pitchFamily="34" charset="0"/>
                <a:ea typeface="Calibri" pitchFamily="34" charset="-122"/>
                <a:cs typeface="Calibri" pitchFamily="34" charset="-120"/>
              </a:rPr>
              <a:t>Indian Navy — Marine Commando Force</a:t>
            </a:r>
            <a:endParaRPr lang="en-US" sz="1100" dirty="0"/>
          </a:p>
        </p:txBody>
      </p:sp>
      <p:sp>
        <p:nvSpPr>
          <p:cNvPr id="17" name="Text 13"/>
          <p:cNvSpPr/>
          <p:nvPr/>
        </p:nvSpPr>
        <p:spPr>
          <a:xfrm>
            <a:off x="6492240" y="2926080"/>
            <a:ext cx="4846320" cy="2880360"/>
          </a:xfrm>
          <a:prstGeom prst="rect">
            <a:avLst/>
          </a:prstGeom>
          <a:noFill/>
          <a:ln/>
        </p:spPr>
        <p:txBody>
          <a:bodyPr wrap="square" rtlCol="0" anchor="ctr"/>
          <a:lstStyle/>
          <a:p>
            <a:pPr marL="342900" indent="-342900">
              <a:lnSpc>
                <a:spcPct val="135000"/>
              </a:lnSpc>
              <a:spcAft>
                <a:spcPts val="1000"/>
              </a:spcAft>
              <a:buSzPct val="100000"/>
              <a:buChar char="•"/>
            </a:pPr>
            <a:r>
              <a:rPr lang="en-US" sz="1150" dirty="0">
                <a:solidFill>
                  <a:srgbClr val="C9B896"/>
                </a:solidFill>
                <a:latin typeface="Calibri" pitchFamily="34" charset="0"/>
                <a:ea typeface="Calibri" pitchFamily="34" charset="-122"/>
                <a:cs typeface="Calibri" pitchFamily="34" charset="-120"/>
              </a:rPr>
              <a:t>Formed 1987 for maritime counter-terrorism &amp; special ops</a:t>
            </a:r>
            <a:endParaRPr lang="en-US" sz="1150" dirty="0"/>
          </a:p>
          <a:p>
            <a:pPr marL="342900" indent="-342900">
              <a:lnSpc>
                <a:spcPct val="135000"/>
              </a:lnSpc>
              <a:spcAft>
                <a:spcPts val="1000"/>
              </a:spcAft>
              <a:buSzPct val="100000"/>
              <a:buChar char="•"/>
            </a:pPr>
            <a:r>
              <a:rPr lang="en-US" sz="1150" dirty="0">
                <a:solidFill>
                  <a:srgbClr val="C9B896"/>
                </a:solidFill>
                <a:latin typeface="Calibri" pitchFamily="34" charset="0"/>
                <a:ea typeface="Calibri" pitchFamily="34" charset="-122"/>
                <a:cs typeface="Calibri" pitchFamily="34" charset="-120"/>
              </a:rPr>
              <a:t>Trained in combat diving, ship-boarding, underwater demolition</a:t>
            </a:r>
            <a:endParaRPr lang="en-US" sz="1150" dirty="0"/>
          </a:p>
          <a:p>
            <a:pPr marL="342900" indent="-342900">
              <a:lnSpc>
                <a:spcPct val="135000"/>
              </a:lnSpc>
              <a:spcAft>
                <a:spcPts val="1000"/>
              </a:spcAft>
              <a:buSzPct val="100000"/>
              <a:buChar char="•"/>
            </a:pPr>
            <a:r>
              <a:rPr lang="en-US" sz="1150" dirty="0">
                <a:solidFill>
                  <a:srgbClr val="C9B896"/>
                </a:solidFill>
                <a:latin typeface="Calibri" pitchFamily="34" charset="0"/>
                <a:ea typeface="Calibri" pitchFamily="34" charset="-122"/>
                <a:cs typeface="Calibri" pitchFamily="34" charset="-120"/>
              </a:rPr>
              <a:t>Operate from submarines, ships &amp; helicopters</a:t>
            </a:r>
            <a:endParaRPr lang="en-US" sz="1150" dirty="0"/>
          </a:p>
          <a:p>
            <a:pPr marL="342900" indent="-342900">
              <a:lnSpc>
                <a:spcPct val="135000"/>
              </a:lnSpc>
              <a:spcAft>
                <a:spcPts val="1000"/>
              </a:spcAft>
              <a:buSzPct val="100000"/>
              <a:buChar char="•"/>
            </a:pPr>
            <a:r>
              <a:rPr lang="en-US" sz="1150" dirty="0">
                <a:solidFill>
                  <a:srgbClr val="C9B896"/>
                </a:solidFill>
                <a:latin typeface="Calibri" pitchFamily="34" charset="0"/>
                <a:ea typeface="Calibri" pitchFamily="34" charset="-122"/>
                <a:cs typeface="Calibri" pitchFamily="34" charset="-120"/>
              </a:rPr>
              <a:t>Nickname: "Frogmen of India" / "Dadiwala Fauj" (bearded army)</a:t>
            </a:r>
            <a:endParaRPr lang="en-US" sz="1150" dirty="0"/>
          </a:p>
        </p:txBody>
      </p:sp>
      <p:sp>
        <p:nvSpPr>
          <p:cNvPr id="18" name="Text 14"/>
          <p:cNvSpPr/>
          <p:nvPr/>
        </p:nvSpPr>
        <p:spPr>
          <a:xfrm>
            <a:off x="457200" y="6473952"/>
            <a:ext cx="7315200" cy="274320"/>
          </a:xfrm>
          <a:prstGeom prst="rect">
            <a:avLst/>
          </a:prstGeom>
          <a:noFill/>
          <a:ln/>
        </p:spPr>
        <p:txBody>
          <a:bodyPr wrap="square" rtlCol="0" anchor="ctr"/>
          <a:lstStyle/>
          <a:p>
            <a:pPr indent="0" marL="0">
              <a:buNone/>
            </a:pPr>
            <a:r>
              <a:rPr lang="en-US" sz="1000" i="1" dirty="0">
                <a:solidFill>
                  <a:srgbClr val="C9B896"/>
                </a:solidFill>
                <a:latin typeface="Calibri" pitchFamily="34" charset="0"/>
                <a:ea typeface="Calibri" pitchFamily="34" charset="-122"/>
                <a:cs typeface="Calibri" pitchFamily="34" charset="-120"/>
              </a:rPr>
              <a:t>Indian Armed Forces  |  Special Forces</a:t>
            </a:r>
            <a:endParaRPr lang="en-US" sz="1000" dirty="0"/>
          </a:p>
        </p:txBody>
      </p:sp>
      <p:sp>
        <p:nvSpPr>
          <p:cNvPr id="19" name="Text 15"/>
          <p:cNvSpPr/>
          <p:nvPr/>
        </p:nvSpPr>
        <p:spPr>
          <a:xfrm>
            <a:off x="11274552" y="6473952"/>
            <a:ext cx="457200" cy="274320"/>
          </a:xfrm>
          <a:prstGeom prst="rect">
            <a:avLst/>
          </a:prstGeom>
          <a:noFill/>
          <a:ln/>
        </p:spPr>
        <p:txBody>
          <a:bodyPr wrap="square" rtlCol="0" anchor="ctr"/>
          <a:lstStyle/>
          <a:p>
            <a:pPr algn="r" indent="0" marL="0">
              <a:buNone/>
            </a:pPr>
            <a:r>
              <a:rPr lang="en-US" sz="1000" dirty="0">
                <a:solidFill>
                  <a:srgbClr val="C9B896"/>
                </a:solidFill>
                <a:latin typeface="Calibri" pitchFamily="34" charset="0"/>
                <a:ea typeface="Calibri" pitchFamily="34" charset="-122"/>
                <a:cs typeface="Calibri" pitchFamily="34" charset="-120"/>
              </a:rPr>
              <a:t>12</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1C2618"/>
          </a:solidFill>
          <a:ln/>
        </p:spPr>
      </p:sp>
      <p:sp>
        <p:nvSpPr>
          <p:cNvPr id="3" name="Text 1"/>
          <p:cNvSpPr/>
          <p:nvPr/>
        </p:nvSpPr>
        <p:spPr>
          <a:xfrm>
            <a:off x="566928" y="137160"/>
            <a:ext cx="7315200" cy="274320"/>
          </a:xfrm>
          <a:prstGeom prst="rect">
            <a:avLst/>
          </a:prstGeom>
          <a:noFill/>
          <a:ln/>
        </p:spPr>
        <p:txBody>
          <a:bodyPr wrap="square" rtlCol="0" anchor="ctr"/>
          <a:lstStyle/>
          <a:p>
            <a:pPr indent="0" marL="0">
              <a:buNone/>
            </a:pPr>
            <a:r>
              <a:rPr lang="en-US" sz="1200" b="1" spc="200" kern="0" dirty="0">
                <a:solidFill>
                  <a:srgbClr val="B8912F"/>
                </a:solidFill>
                <a:latin typeface="Calibri" pitchFamily="34" charset="0"/>
                <a:ea typeface="Calibri" pitchFamily="34" charset="-122"/>
                <a:cs typeface="Calibri" pitchFamily="34" charset="-120"/>
              </a:rPr>
              <a:t>ELITE UNITS</a:t>
            </a:r>
            <a:endParaRPr lang="en-US" sz="1200" dirty="0"/>
          </a:p>
        </p:txBody>
      </p:sp>
      <p:sp>
        <p:nvSpPr>
          <p:cNvPr id="4" name="Text 2"/>
          <p:cNvSpPr/>
          <p:nvPr/>
        </p:nvSpPr>
        <p:spPr>
          <a:xfrm>
            <a:off x="548640" y="365760"/>
            <a:ext cx="11091672" cy="685800"/>
          </a:xfrm>
          <a:prstGeom prst="rect">
            <a:avLst/>
          </a:prstGeom>
          <a:noFill/>
          <a:ln/>
        </p:spPr>
        <p:txBody>
          <a:bodyPr wrap="square" rtlCol="0" anchor="ctr"/>
          <a:lstStyle/>
          <a:p>
            <a:pPr indent="0" marL="0">
              <a:buNone/>
            </a:pPr>
            <a:r>
              <a:rPr lang="en-US" sz="3000" b="1" dirty="0">
                <a:solidFill>
                  <a:srgbClr val="F7F3E8"/>
                </a:solidFill>
                <a:latin typeface="Cambria" pitchFamily="34" charset="0"/>
                <a:ea typeface="Cambria" pitchFamily="34" charset="-122"/>
                <a:cs typeface="Cambria" pitchFamily="34" charset="-120"/>
              </a:rPr>
              <a:t>Special Forces of India (contd.)</a:t>
            </a:r>
            <a:endParaRPr lang="en-US" sz="3000" dirty="0"/>
          </a:p>
        </p:txBody>
      </p:sp>
      <p:sp>
        <p:nvSpPr>
          <p:cNvPr id="5" name="Shape 3"/>
          <p:cNvSpPr/>
          <p:nvPr/>
        </p:nvSpPr>
        <p:spPr>
          <a:xfrm>
            <a:off x="548640" y="1691640"/>
            <a:ext cx="5440680" cy="4297680"/>
          </a:xfrm>
          <a:prstGeom prst="roundRect">
            <a:avLst>
              <a:gd name="adj" fmla="val 2128"/>
            </a:avLst>
          </a:prstGeom>
          <a:solidFill>
            <a:srgbClr val="26241C"/>
          </a:solidFill>
          <a:ln w="12700">
            <a:solidFill>
              <a:srgbClr val="4A4030"/>
            </a:solidFill>
            <a:prstDash val="solid"/>
          </a:ln>
        </p:spPr>
      </p:sp>
      <p:sp>
        <p:nvSpPr>
          <p:cNvPr id="6" name="Shape 4"/>
          <p:cNvSpPr/>
          <p:nvPr/>
        </p:nvSpPr>
        <p:spPr>
          <a:xfrm>
            <a:off x="868680" y="1965960"/>
            <a:ext cx="777240" cy="777240"/>
          </a:xfrm>
          <a:prstGeom prst="ellipse">
            <a:avLst/>
          </a:prstGeom>
          <a:solidFill>
            <a:srgbClr val="1B3A5C"/>
          </a:solidFill>
          <a:ln/>
        </p:spPr>
      </p:sp>
      <p:pic>
        <p:nvPicPr>
          <p:cNvPr id="7" name="Image 0" descr="/home/claude/ppt/icons/jet.png">    </p:cNvPr>
          <p:cNvPicPr>
            <a:picLocks noChangeAspect="1"/>
          </p:cNvPicPr>
          <p:nvPr/>
        </p:nvPicPr>
        <p:blipFill>
          <a:blip r:embed="rId1"/>
          <a:stretch>
            <a:fillRect/>
          </a:stretch>
        </p:blipFill>
        <p:spPr>
          <a:xfrm>
            <a:off x="1043559" y="2140839"/>
            <a:ext cx="427482" cy="427482"/>
          </a:xfrm>
          <a:prstGeom prst="rect">
            <a:avLst/>
          </a:prstGeom>
        </p:spPr>
      </p:pic>
      <p:sp>
        <p:nvSpPr>
          <p:cNvPr id="8" name="Text 5"/>
          <p:cNvSpPr/>
          <p:nvPr/>
        </p:nvSpPr>
        <p:spPr>
          <a:xfrm>
            <a:off x="1783080" y="1993392"/>
            <a:ext cx="3931920" cy="411480"/>
          </a:xfrm>
          <a:prstGeom prst="rect">
            <a:avLst/>
          </a:prstGeom>
          <a:noFill/>
          <a:ln/>
        </p:spPr>
        <p:txBody>
          <a:bodyPr wrap="square" rtlCol="0" anchor="ctr"/>
          <a:lstStyle/>
          <a:p>
            <a:pPr indent="0" marL="0">
              <a:buNone/>
            </a:pPr>
            <a:r>
              <a:rPr lang="en-US" sz="1550" b="1" dirty="0">
                <a:solidFill>
                  <a:srgbClr val="F7F3E8"/>
                </a:solidFill>
                <a:latin typeface="Cambria" pitchFamily="34" charset="0"/>
                <a:ea typeface="Cambria" pitchFamily="34" charset="-122"/>
                <a:cs typeface="Cambria" pitchFamily="34" charset="-120"/>
              </a:rPr>
              <a:t>GARUD COMMANDO FORCE</a:t>
            </a:r>
            <a:endParaRPr lang="en-US" sz="1550" dirty="0"/>
          </a:p>
        </p:txBody>
      </p:sp>
      <p:sp>
        <p:nvSpPr>
          <p:cNvPr id="9" name="Text 6"/>
          <p:cNvSpPr/>
          <p:nvPr/>
        </p:nvSpPr>
        <p:spPr>
          <a:xfrm>
            <a:off x="1783080" y="2395728"/>
            <a:ext cx="3931920" cy="320040"/>
          </a:xfrm>
          <a:prstGeom prst="rect">
            <a:avLst/>
          </a:prstGeom>
          <a:noFill/>
          <a:ln/>
        </p:spPr>
        <p:txBody>
          <a:bodyPr wrap="square" rtlCol="0" anchor="ctr"/>
          <a:lstStyle/>
          <a:p>
            <a:pPr indent="0" marL="0">
              <a:buNone/>
            </a:pPr>
            <a:r>
              <a:rPr lang="en-US" sz="1100" i="1" dirty="0">
                <a:solidFill>
                  <a:srgbClr val="B8912F"/>
                </a:solidFill>
                <a:latin typeface="Calibri" pitchFamily="34" charset="0"/>
                <a:ea typeface="Calibri" pitchFamily="34" charset="-122"/>
                <a:cs typeface="Calibri" pitchFamily="34" charset="-120"/>
              </a:rPr>
              <a:t>Indian Air Force</a:t>
            </a:r>
            <a:endParaRPr lang="en-US" sz="1100" dirty="0"/>
          </a:p>
        </p:txBody>
      </p:sp>
      <p:sp>
        <p:nvSpPr>
          <p:cNvPr id="10" name="Text 7"/>
          <p:cNvSpPr/>
          <p:nvPr/>
        </p:nvSpPr>
        <p:spPr>
          <a:xfrm>
            <a:off x="868680" y="2926080"/>
            <a:ext cx="4846320" cy="2880360"/>
          </a:xfrm>
          <a:prstGeom prst="rect">
            <a:avLst/>
          </a:prstGeom>
          <a:noFill/>
          <a:ln/>
        </p:spPr>
        <p:txBody>
          <a:bodyPr wrap="square" rtlCol="0" anchor="ctr"/>
          <a:lstStyle/>
          <a:p>
            <a:pPr marL="342900" indent="-342900">
              <a:lnSpc>
                <a:spcPct val="135000"/>
              </a:lnSpc>
              <a:spcAft>
                <a:spcPts val="1000"/>
              </a:spcAft>
              <a:buSzPct val="100000"/>
              <a:buChar char="•"/>
            </a:pPr>
            <a:r>
              <a:rPr lang="en-US" sz="1150" dirty="0">
                <a:solidFill>
                  <a:srgbClr val="C9B896"/>
                </a:solidFill>
                <a:latin typeface="Calibri" pitchFamily="34" charset="0"/>
                <a:ea typeface="Calibri" pitchFamily="34" charset="-122"/>
                <a:cs typeface="Calibri" pitchFamily="34" charset="-120"/>
              </a:rPr>
              <a:t>Raised in 2004 for air-base defence &amp; combat search-and-rescue</a:t>
            </a:r>
            <a:endParaRPr lang="en-US" sz="1150" dirty="0"/>
          </a:p>
          <a:p>
            <a:pPr marL="342900" indent="-342900">
              <a:lnSpc>
                <a:spcPct val="135000"/>
              </a:lnSpc>
              <a:spcAft>
                <a:spcPts val="1000"/>
              </a:spcAft>
              <a:buSzPct val="100000"/>
              <a:buChar char="•"/>
            </a:pPr>
            <a:r>
              <a:rPr lang="en-US" sz="1150" dirty="0">
                <a:solidFill>
                  <a:srgbClr val="C9B896"/>
                </a:solidFill>
                <a:latin typeface="Calibri" pitchFamily="34" charset="0"/>
                <a:ea typeface="Calibri" pitchFamily="34" charset="-122"/>
                <a:cs typeface="Calibri" pitchFamily="34" charset="-120"/>
              </a:rPr>
              <a:t>Trained alongside Army Para SF and Navy MARCOS</a:t>
            </a:r>
            <a:endParaRPr lang="en-US" sz="1150" dirty="0"/>
          </a:p>
          <a:p>
            <a:pPr marL="342900" indent="-342900">
              <a:lnSpc>
                <a:spcPct val="135000"/>
              </a:lnSpc>
              <a:spcAft>
                <a:spcPts val="1000"/>
              </a:spcAft>
              <a:buSzPct val="100000"/>
              <a:buChar char="•"/>
            </a:pPr>
            <a:r>
              <a:rPr lang="en-US" sz="1150" dirty="0">
                <a:solidFill>
                  <a:srgbClr val="C9B896"/>
                </a:solidFill>
                <a:latin typeface="Calibri" pitchFamily="34" charset="0"/>
                <a:ea typeface="Calibri" pitchFamily="34" charset="-122"/>
                <a:cs typeface="Calibri" pitchFamily="34" charset="-120"/>
              </a:rPr>
              <a:t>Specialise in rapid-response airfield seizure &amp; protection</a:t>
            </a:r>
            <a:endParaRPr lang="en-US" sz="1150" dirty="0"/>
          </a:p>
          <a:p>
            <a:pPr marL="342900" indent="-342900">
              <a:lnSpc>
                <a:spcPct val="135000"/>
              </a:lnSpc>
              <a:spcAft>
                <a:spcPts val="1000"/>
              </a:spcAft>
              <a:buSzPct val="100000"/>
              <a:buChar char="•"/>
            </a:pPr>
            <a:r>
              <a:rPr lang="en-US" sz="1150" dirty="0">
                <a:solidFill>
                  <a:srgbClr val="C9B896"/>
                </a:solidFill>
                <a:latin typeface="Calibri" pitchFamily="34" charset="0"/>
                <a:ea typeface="Calibri" pitchFamily="34" charset="-122"/>
                <a:cs typeface="Calibri" pitchFamily="34" charset="-120"/>
              </a:rPr>
              <a:t>Deployed in disaster relief and high-value asset security</a:t>
            </a:r>
            <a:endParaRPr lang="en-US" sz="1150" dirty="0"/>
          </a:p>
        </p:txBody>
      </p:sp>
      <p:sp>
        <p:nvSpPr>
          <p:cNvPr id="11" name="Shape 8"/>
          <p:cNvSpPr/>
          <p:nvPr/>
        </p:nvSpPr>
        <p:spPr>
          <a:xfrm>
            <a:off x="6172200" y="1691640"/>
            <a:ext cx="5440680" cy="4297680"/>
          </a:xfrm>
          <a:prstGeom prst="roundRect">
            <a:avLst>
              <a:gd name="adj" fmla="val 2128"/>
            </a:avLst>
          </a:prstGeom>
          <a:solidFill>
            <a:srgbClr val="26241C"/>
          </a:solidFill>
          <a:ln w="12700">
            <a:solidFill>
              <a:srgbClr val="4A4030"/>
            </a:solidFill>
            <a:prstDash val="solid"/>
          </a:ln>
        </p:spPr>
      </p:sp>
      <p:sp>
        <p:nvSpPr>
          <p:cNvPr id="12" name="Shape 9"/>
          <p:cNvSpPr/>
          <p:nvPr/>
        </p:nvSpPr>
        <p:spPr>
          <a:xfrm>
            <a:off x="6492240" y="1965960"/>
            <a:ext cx="777240" cy="777240"/>
          </a:xfrm>
          <a:prstGeom prst="ellipse">
            <a:avLst/>
          </a:prstGeom>
          <a:solidFill>
            <a:srgbClr val="6B2C2C"/>
          </a:solidFill>
          <a:ln/>
        </p:spPr>
      </p:sp>
      <p:pic>
        <p:nvPicPr>
          <p:cNvPr id="13" name="Image 1" descr="/home/claude/ppt/icons/usershield.png">    </p:cNvPr>
          <p:cNvPicPr>
            <a:picLocks noChangeAspect="1"/>
          </p:cNvPicPr>
          <p:nvPr/>
        </p:nvPicPr>
        <p:blipFill>
          <a:blip r:embed="rId2"/>
          <a:stretch>
            <a:fillRect/>
          </a:stretch>
        </p:blipFill>
        <p:spPr>
          <a:xfrm>
            <a:off x="6667119" y="2140839"/>
            <a:ext cx="427482" cy="427482"/>
          </a:xfrm>
          <a:prstGeom prst="rect">
            <a:avLst/>
          </a:prstGeom>
        </p:spPr>
      </p:pic>
      <p:sp>
        <p:nvSpPr>
          <p:cNvPr id="14" name="Text 10"/>
          <p:cNvSpPr/>
          <p:nvPr/>
        </p:nvSpPr>
        <p:spPr>
          <a:xfrm>
            <a:off x="7406640" y="1993392"/>
            <a:ext cx="3931920" cy="411480"/>
          </a:xfrm>
          <a:prstGeom prst="rect">
            <a:avLst/>
          </a:prstGeom>
          <a:noFill/>
          <a:ln/>
        </p:spPr>
        <p:txBody>
          <a:bodyPr wrap="square" rtlCol="0" anchor="ctr"/>
          <a:lstStyle/>
          <a:p>
            <a:pPr indent="0" marL="0">
              <a:buNone/>
            </a:pPr>
            <a:r>
              <a:rPr lang="en-US" sz="1550" b="1" dirty="0">
                <a:solidFill>
                  <a:srgbClr val="F7F3E8"/>
                </a:solidFill>
                <a:latin typeface="Cambria" pitchFamily="34" charset="0"/>
                <a:ea typeface="Cambria" pitchFamily="34" charset="-122"/>
                <a:cs typeface="Cambria" pitchFamily="34" charset="-120"/>
              </a:rPr>
              <a:t>NSG &amp; OTHER ELITE UNITS</a:t>
            </a:r>
            <a:endParaRPr lang="en-US" sz="1550" dirty="0"/>
          </a:p>
        </p:txBody>
      </p:sp>
      <p:sp>
        <p:nvSpPr>
          <p:cNvPr id="15" name="Text 11"/>
          <p:cNvSpPr/>
          <p:nvPr/>
        </p:nvSpPr>
        <p:spPr>
          <a:xfrm>
            <a:off x="7406640" y="2395728"/>
            <a:ext cx="3931920" cy="320040"/>
          </a:xfrm>
          <a:prstGeom prst="rect">
            <a:avLst/>
          </a:prstGeom>
          <a:noFill/>
          <a:ln/>
        </p:spPr>
        <p:txBody>
          <a:bodyPr wrap="square" rtlCol="0" anchor="ctr"/>
          <a:lstStyle/>
          <a:p>
            <a:pPr indent="0" marL="0">
              <a:buNone/>
            </a:pPr>
            <a:r>
              <a:rPr lang="en-US" sz="1100" i="1" dirty="0">
                <a:solidFill>
                  <a:srgbClr val="B8912F"/>
                </a:solidFill>
                <a:latin typeface="Calibri" pitchFamily="34" charset="0"/>
                <a:ea typeface="Calibri" pitchFamily="34" charset="-122"/>
                <a:cs typeface="Calibri" pitchFamily="34" charset="-120"/>
              </a:rPr>
              <a:t>National Security Guard + more</a:t>
            </a:r>
            <a:endParaRPr lang="en-US" sz="1100" dirty="0"/>
          </a:p>
        </p:txBody>
      </p:sp>
      <p:sp>
        <p:nvSpPr>
          <p:cNvPr id="16" name="Text 12"/>
          <p:cNvSpPr/>
          <p:nvPr/>
        </p:nvSpPr>
        <p:spPr>
          <a:xfrm>
            <a:off x="6492240" y="2926080"/>
            <a:ext cx="4846320" cy="2880360"/>
          </a:xfrm>
          <a:prstGeom prst="rect">
            <a:avLst/>
          </a:prstGeom>
          <a:noFill/>
          <a:ln/>
        </p:spPr>
        <p:txBody>
          <a:bodyPr wrap="square" rtlCol="0" anchor="ctr"/>
          <a:lstStyle/>
          <a:p>
            <a:pPr marL="342900" indent="-342900">
              <a:lnSpc>
                <a:spcPct val="135000"/>
              </a:lnSpc>
              <a:spcAft>
                <a:spcPts val="1000"/>
              </a:spcAft>
              <a:buSzPct val="100000"/>
              <a:buChar char="•"/>
            </a:pPr>
            <a:r>
              <a:rPr lang="en-US" sz="1150" dirty="0">
                <a:solidFill>
                  <a:srgbClr val="C9B896"/>
                </a:solidFill>
                <a:latin typeface="Calibri" pitchFamily="34" charset="0"/>
                <a:ea typeface="Calibri" pitchFamily="34" charset="-122"/>
                <a:cs typeface="Calibri" pitchFamily="34" charset="-120"/>
              </a:rPr>
              <a:t>NSG ("Black Cats") — federal counter-terrorism force, drawn from Army &amp; police, famed for the 2008 Mumbai response</a:t>
            </a:r>
            <a:endParaRPr lang="en-US" sz="1150" dirty="0"/>
          </a:p>
          <a:p>
            <a:pPr marL="342900" indent="-342900">
              <a:lnSpc>
                <a:spcPct val="135000"/>
              </a:lnSpc>
              <a:spcAft>
                <a:spcPts val="1000"/>
              </a:spcAft>
              <a:buSzPct val="100000"/>
              <a:buChar char="•"/>
            </a:pPr>
            <a:r>
              <a:rPr lang="en-US" sz="1150" dirty="0">
                <a:solidFill>
                  <a:srgbClr val="C9B896"/>
                </a:solidFill>
                <a:latin typeface="Calibri" pitchFamily="34" charset="0"/>
                <a:ea typeface="Calibri" pitchFamily="34" charset="-122"/>
                <a:cs typeface="Calibri" pitchFamily="34" charset="-120"/>
              </a:rPr>
              <a:t>Special Frontier Force (SFF) — covert high-altitude unit, Cabinet Secretariat</a:t>
            </a:r>
            <a:endParaRPr lang="en-US" sz="1150" dirty="0"/>
          </a:p>
          <a:p>
            <a:pPr marL="342900" indent="-342900">
              <a:lnSpc>
                <a:spcPct val="135000"/>
              </a:lnSpc>
              <a:spcAft>
                <a:spcPts val="1000"/>
              </a:spcAft>
              <a:buSzPct val="100000"/>
              <a:buChar char="•"/>
            </a:pPr>
            <a:r>
              <a:rPr lang="en-US" sz="1150" dirty="0">
                <a:solidFill>
                  <a:srgbClr val="C9B896"/>
                </a:solidFill>
                <a:latin typeface="Calibri" pitchFamily="34" charset="0"/>
                <a:ea typeface="Calibri" pitchFamily="34" charset="-122"/>
                <a:cs typeface="Calibri" pitchFamily="34" charset="-120"/>
              </a:rPr>
              <a:t>Force One (Maharashtra), COBRA (jungle warfare) — state/paramilitary elite wings</a:t>
            </a:r>
            <a:endParaRPr lang="en-US" sz="1150" dirty="0"/>
          </a:p>
        </p:txBody>
      </p:sp>
      <p:sp>
        <p:nvSpPr>
          <p:cNvPr id="17" name="Text 13"/>
          <p:cNvSpPr/>
          <p:nvPr/>
        </p:nvSpPr>
        <p:spPr>
          <a:xfrm>
            <a:off x="457200" y="6473952"/>
            <a:ext cx="7315200" cy="274320"/>
          </a:xfrm>
          <a:prstGeom prst="rect">
            <a:avLst/>
          </a:prstGeom>
          <a:noFill/>
          <a:ln/>
        </p:spPr>
        <p:txBody>
          <a:bodyPr wrap="square" rtlCol="0" anchor="ctr"/>
          <a:lstStyle/>
          <a:p>
            <a:pPr indent="0" marL="0">
              <a:buNone/>
            </a:pPr>
            <a:r>
              <a:rPr lang="en-US" sz="1000" i="1" dirty="0">
                <a:solidFill>
                  <a:srgbClr val="C9B896"/>
                </a:solidFill>
                <a:latin typeface="Calibri" pitchFamily="34" charset="0"/>
                <a:ea typeface="Calibri" pitchFamily="34" charset="-122"/>
                <a:cs typeface="Calibri" pitchFamily="34" charset="-120"/>
              </a:rPr>
              <a:t>Indian Armed Forces  |  Special Forces</a:t>
            </a:r>
            <a:endParaRPr lang="en-US" sz="1000" dirty="0"/>
          </a:p>
        </p:txBody>
      </p:sp>
      <p:sp>
        <p:nvSpPr>
          <p:cNvPr id="18" name="Text 14"/>
          <p:cNvSpPr/>
          <p:nvPr/>
        </p:nvSpPr>
        <p:spPr>
          <a:xfrm>
            <a:off x="11274552" y="6473952"/>
            <a:ext cx="457200" cy="274320"/>
          </a:xfrm>
          <a:prstGeom prst="rect">
            <a:avLst/>
          </a:prstGeom>
          <a:noFill/>
          <a:ln/>
        </p:spPr>
        <p:txBody>
          <a:bodyPr wrap="square" rtlCol="0" anchor="ctr"/>
          <a:lstStyle/>
          <a:p>
            <a:pPr algn="r" indent="0" marL="0">
              <a:buNone/>
            </a:pPr>
            <a:r>
              <a:rPr lang="en-US" sz="1000" dirty="0">
                <a:solidFill>
                  <a:srgbClr val="C9B896"/>
                </a:solidFill>
                <a:latin typeface="Calibri" pitchFamily="34" charset="0"/>
                <a:ea typeface="Calibri" pitchFamily="34" charset="-122"/>
                <a:cs typeface="Calibri" pitchFamily="34" charset="-120"/>
              </a:rPr>
              <a:t>13</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F7F3E8"/>
          </a:solidFill>
          <a:ln/>
        </p:spPr>
      </p:sp>
      <p:sp>
        <p:nvSpPr>
          <p:cNvPr id="3" name="Text 1"/>
          <p:cNvSpPr/>
          <p:nvPr/>
        </p:nvSpPr>
        <p:spPr>
          <a:xfrm>
            <a:off x="566928" y="137160"/>
            <a:ext cx="7315200" cy="274320"/>
          </a:xfrm>
          <a:prstGeom prst="rect">
            <a:avLst/>
          </a:prstGeom>
          <a:noFill/>
          <a:ln/>
        </p:spPr>
        <p:txBody>
          <a:bodyPr wrap="square" rtlCol="0" anchor="ctr"/>
          <a:lstStyle/>
          <a:p>
            <a:pPr indent="0" marL="0">
              <a:buNone/>
            </a:pPr>
            <a:r>
              <a:rPr lang="en-US" sz="1200" b="1" spc="200" kern="0" dirty="0">
                <a:solidFill>
                  <a:srgbClr val="B8912F"/>
                </a:solidFill>
                <a:latin typeface="Calibri" pitchFamily="34" charset="0"/>
                <a:ea typeface="Calibri" pitchFamily="34" charset="-122"/>
                <a:cs typeface="Calibri" pitchFamily="34" charset="-120"/>
              </a:rPr>
              <a:t>MILITARY HISTORY</a:t>
            </a:r>
            <a:endParaRPr lang="en-US" sz="1200" dirty="0"/>
          </a:p>
        </p:txBody>
      </p:sp>
      <p:sp>
        <p:nvSpPr>
          <p:cNvPr id="4" name="Text 2"/>
          <p:cNvSpPr/>
          <p:nvPr/>
        </p:nvSpPr>
        <p:spPr>
          <a:xfrm>
            <a:off x="548640" y="365760"/>
            <a:ext cx="11091672" cy="685800"/>
          </a:xfrm>
          <a:prstGeom prst="rect">
            <a:avLst/>
          </a:prstGeom>
          <a:noFill/>
          <a:ln/>
        </p:spPr>
        <p:txBody>
          <a:bodyPr wrap="square" rtlCol="0" anchor="ctr"/>
          <a:lstStyle/>
          <a:p>
            <a:pPr indent="0" marL="0">
              <a:buNone/>
            </a:pPr>
            <a:r>
              <a:rPr lang="en-US" sz="3000" b="1" dirty="0">
                <a:solidFill>
                  <a:srgbClr val="23281C"/>
                </a:solidFill>
                <a:latin typeface="Cambria" pitchFamily="34" charset="0"/>
                <a:ea typeface="Cambria" pitchFamily="34" charset="-122"/>
                <a:cs typeface="Cambria" pitchFamily="34" charset="-120"/>
              </a:rPr>
              <a:t>Major Wars &amp; Conflicts Since Independence</a:t>
            </a:r>
            <a:endParaRPr lang="en-US" sz="3000" dirty="0"/>
          </a:p>
        </p:txBody>
      </p:sp>
      <p:sp>
        <p:nvSpPr>
          <p:cNvPr id="5" name="Shape 3"/>
          <p:cNvSpPr/>
          <p:nvPr/>
        </p:nvSpPr>
        <p:spPr>
          <a:xfrm>
            <a:off x="640080" y="2834640"/>
            <a:ext cx="10881360" cy="0"/>
          </a:xfrm>
          <a:prstGeom prst="line">
            <a:avLst/>
          </a:prstGeom>
          <a:noFill/>
          <a:ln w="38100">
            <a:solidFill>
              <a:srgbClr val="B8912F"/>
            </a:solidFill>
            <a:prstDash val="solid"/>
          </a:ln>
        </p:spPr>
      </p:sp>
      <p:sp>
        <p:nvSpPr>
          <p:cNvPr id="6" name="Shape 4"/>
          <p:cNvSpPr/>
          <p:nvPr/>
        </p:nvSpPr>
        <p:spPr>
          <a:xfrm>
            <a:off x="557784" y="2752344"/>
            <a:ext cx="164592" cy="164592"/>
          </a:xfrm>
          <a:prstGeom prst="ellipse">
            <a:avLst/>
          </a:prstGeom>
          <a:solidFill>
            <a:srgbClr val="6B2C2C"/>
          </a:solidFill>
          <a:ln w="19050">
            <a:solidFill>
              <a:srgbClr val="FFFFFF"/>
            </a:solidFill>
            <a:prstDash val="solid"/>
          </a:ln>
        </p:spPr>
      </p:sp>
      <p:sp>
        <p:nvSpPr>
          <p:cNvPr id="7" name="Shape 5"/>
          <p:cNvSpPr/>
          <p:nvPr/>
        </p:nvSpPr>
        <p:spPr>
          <a:xfrm>
            <a:off x="640080" y="2057400"/>
            <a:ext cx="0" cy="777240"/>
          </a:xfrm>
          <a:prstGeom prst="line">
            <a:avLst/>
          </a:prstGeom>
          <a:noFill/>
          <a:ln w="12700">
            <a:solidFill>
              <a:srgbClr val="C9BC9A"/>
            </a:solidFill>
            <a:prstDash val="solid"/>
          </a:ln>
        </p:spPr>
      </p:sp>
      <p:sp>
        <p:nvSpPr>
          <p:cNvPr id="8" name="Text 6"/>
          <p:cNvSpPr/>
          <p:nvPr/>
        </p:nvSpPr>
        <p:spPr>
          <a:xfrm>
            <a:off x="-182880" y="1600200"/>
            <a:ext cx="1645920" cy="274320"/>
          </a:xfrm>
          <a:prstGeom prst="rect">
            <a:avLst/>
          </a:prstGeom>
          <a:noFill/>
          <a:ln/>
        </p:spPr>
        <p:txBody>
          <a:bodyPr wrap="square" rtlCol="0" anchor="ctr"/>
          <a:lstStyle/>
          <a:p>
            <a:pPr algn="ctr" indent="0" marL="0">
              <a:buNone/>
            </a:pPr>
            <a:r>
              <a:rPr lang="en-US" sz="1150" b="1" dirty="0">
                <a:solidFill>
                  <a:srgbClr val="6B2C2C"/>
                </a:solidFill>
                <a:latin typeface="Calibri" pitchFamily="34" charset="0"/>
                <a:ea typeface="Calibri" pitchFamily="34" charset="-122"/>
                <a:cs typeface="Calibri" pitchFamily="34" charset="-120"/>
              </a:rPr>
              <a:t>1947–48</a:t>
            </a:r>
            <a:endParaRPr lang="en-US" sz="1150" dirty="0"/>
          </a:p>
        </p:txBody>
      </p:sp>
      <p:sp>
        <p:nvSpPr>
          <p:cNvPr id="9" name="Text 7"/>
          <p:cNvSpPr/>
          <p:nvPr/>
        </p:nvSpPr>
        <p:spPr>
          <a:xfrm>
            <a:off x="-228600" y="1892808"/>
            <a:ext cx="1737360" cy="457200"/>
          </a:xfrm>
          <a:prstGeom prst="rect">
            <a:avLst/>
          </a:prstGeom>
          <a:noFill/>
          <a:ln/>
        </p:spPr>
        <p:txBody>
          <a:bodyPr wrap="square" rtlCol="0" anchor="ctr"/>
          <a:lstStyle/>
          <a:p>
            <a:pPr algn="ctr" indent="0" marL="0">
              <a:lnSpc>
                <a:spcPct val="105000"/>
              </a:lnSpc>
              <a:buNone/>
            </a:pPr>
            <a:r>
              <a:rPr lang="en-US" sz="950" dirty="0">
                <a:solidFill>
                  <a:srgbClr val="23281C"/>
                </a:solidFill>
                <a:latin typeface="Calibri" pitchFamily="34" charset="0"/>
                <a:ea typeface="Calibri" pitchFamily="34" charset="-122"/>
                <a:cs typeface="Calibri" pitchFamily="34" charset="-120"/>
              </a:rPr>
              <a:t>First Kashmir War</a:t>
            </a:r>
            <a:endParaRPr lang="en-US" sz="950" dirty="0"/>
          </a:p>
        </p:txBody>
      </p:sp>
      <p:sp>
        <p:nvSpPr>
          <p:cNvPr id="10" name="Shape 8"/>
          <p:cNvSpPr/>
          <p:nvPr/>
        </p:nvSpPr>
        <p:spPr>
          <a:xfrm>
            <a:off x="2112264" y="2752344"/>
            <a:ext cx="164592" cy="164592"/>
          </a:xfrm>
          <a:prstGeom prst="ellipse">
            <a:avLst/>
          </a:prstGeom>
          <a:solidFill>
            <a:srgbClr val="6B2C2C"/>
          </a:solidFill>
          <a:ln w="19050">
            <a:solidFill>
              <a:srgbClr val="FFFFFF"/>
            </a:solidFill>
            <a:prstDash val="solid"/>
          </a:ln>
        </p:spPr>
      </p:sp>
      <p:sp>
        <p:nvSpPr>
          <p:cNvPr id="11" name="Shape 9"/>
          <p:cNvSpPr/>
          <p:nvPr/>
        </p:nvSpPr>
        <p:spPr>
          <a:xfrm>
            <a:off x="2194560" y="2834640"/>
            <a:ext cx="0" cy="777240"/>
          </a:xfrm>
          <a:prstGeom prst="line">
            <a:avLst/>
          </a:prstGeom>
          <a:noFill/>
          <a:ln w="12700">
            <a:solidFill>
              <a:srgbClr val="C9BC9A"/>
            </a:solidFill>
            <a:prstDash val="solid"/>
          </a:ln>
        </p:spPr>
      </p:sp>
      <p:sp>
        <p:nvSpPr>
          <p:cNvPr id="12" name="Text 10"/>
          <p:cNvSpPr/>
          <p:nvPr/>
        </p:nvSpPr>
        <p:spPr>
          <a:xfrm>
            <a:off x="1371600" y="3657600"/>
            <a:ext cx="1645920" cy="274320"/>
          </a:xfrm>
          <a:prstGeom prst="rect">
            <a:avLst/>
          </a:prstGeom>
          <a:noFill/>
          <a:ln/>
        </p:spPr>
        <p:txBody>
          <a:bodyPr wrap="square" rtlCol="0" anchor="ctr"/>
          <a:lstStyle/>
          <a:p>
            <a:pPr algn="ctr" indent="0" marL="0">
              <a:buNone/>
            </a:pPr>
            <a:r>
              <a:rPr lang="en-US" sz="1150" b="1" dirty="0">
                <a:solidFill>
                  <a:srgbClr val="6B2C2C"/>
                </a:solidFill>
                <a:latin typeface="Calibri" pitchFamily="34" charset="0"/>
                <a:ea typeface="Calibri" pitchFamily="34" charset="-122"/>
                <a:cs typeface="Calibri" pitchFamily="34" charset="-120"/>
              </a:rPr>
              <a:t>1961</a:t>
            </a:r>
            <a:endParaRPr lang="en-US" sz="1150" dirty="0"/>
          </a:p>
        </p:txBody>
      </p:sp>
      <p:sp>
        <p:nvSpPr>
          <p:cNvPr id="13" name="Text 11"/>
          <p:cNvSpPr/>
          <p:nvPr/>
        </p:nvSpPr>
        <p:spPr>
          <a:xfrm>
            <a:off x="1325880" y="3931920"/>
            <a:ext cx="1737360" cy="457200"/>
          </a:xfrm>
          <a:prstGeom prst="rect">
            <a:avLst/>
          </a:prstGeom>
          <a:noFill/>
          <a:ln/>
        </p:spPr>
        <p:txBody>
          <a:bodyPr wrap="square" rtlCol="0" anchor="ctr"/>
          <a:lstStyle/>
          <a:p>
            <a:pPr algn="ctr" indent="0" marL="0">
              <a:lnSpc>
                <a:spcPct val="105000"/>
              </a:lnSpc>
              <a:buNone/>
            </a:pPr>
            <a:r>
              <a:rPr lang="en-US" sz="950" dirty="0">
                <a:solidFill>
                  <a:srgbClr val="23281C"/>
                </a:solidFill>
                <a:latin typeface="Calibri" pitchFamily="34" charset="0"/>
                <a:ea typeface="Calibri" pitchFamily="34" charset="-122"/>
                <a:cs typeface="Calibri" pitchFamily="34" charset="-120"/>
              </a:rPr>
              <a:t>Goa Annexed</a:t>
            </a:r>
            <a:endParaRPr lang="en-US" sz="950" dirty="0"/>
          </a:p>
        </p:txBody>
      </p:sp>
      <p:sp>
        <p:nvSpPr>
          <p:cNvPr id="14" name="Shape 12"/>
          <p:cNvSpPr/>
          <p:nvPr/>
        </p:nvSpPr>
        <p:spPr>
          <a:xfrm>
            <a:off x="3666744" y="2752344"/>
            <a:ext cx="164592" cy="164592"/>
          </a:xfrm>
          <a:prstGeom prst="ellipse">
            <a:avLst/>
          </a:prstGeom>
          <a:solidFill>
            <a:srgbClr val="6B2C2C"/>
          </a:solidFill>
          <a:ln w="19050">
            <a:solidFill>
              <a:srgbClr val="FFFFFF"/>
            </a:solidFill>
            <a:prstDash val="solid"/>
          </a:ln>
        </p:spPr>
      </p:sp>
      <p:sp>
        <p:nvSpPr>
          <p:cNvPr id="15" name="Shape 13"/>
          <p:cNvSpPr/>
          <p:nvPr/>
        </p:nvSpPr>
        <p:spPr>
          <a:xfrm>
            <a:off x="3749040" y="2057400"/>
            <a:ext cx="0" cy="777240"/>
          </a:xfrm>
          <a:prstGeom prst="line">
            <a:avLst/>
          </a:prstGeom>
          <a:noFill/>
          <a:ln w="12700">
            <a:solidFill>
              <a:srgbClr val="C9BC9A"/>
            </a:solidFill>
            <a:prstDash val="solid"/>
          </a:ln>
        </p:spPr>
      </p:sp>
      <p:sp>
        <p:nvSpPr>
          <p:cNvPr id="16" name="Text 14"/>
          <p:cNvSpPr/>
          <p:nvPr/>
        </p:nvSpPr>
        <p:spPr>
          <a:xfrm>
            <a:off x="2926080" y="1600200"/>
            <a:ext cx="1645920" cy="274320"/>
          </a:xfrm>
          <a:prstGeom prst="rect">
            <a:avLst/>
          </a:prstGeom>
          <a:noFill/>
          <a:ln/>
        </p:spPr>
        <p:txBody>
          <a:bodyPr wrap="square" rtlCol="0" anchor="ctr"/>
          <a:lstStyle/>
          <a:p>
            <a:pPr algn="ctr" indent="0" marL="0">
              <a:buNone/>
            </a:pPr>
            <a:r>
              <a:rPr lang="en-US" sz="1150" b="1" dirty="0">
                <a:solidFill>
                  <a:srgbClr val="6B2C2C"/>
                </a:solidFill>
                <a:latin typeface="Calibri" pitchFamily="34" charset="0"/>
                <a:ea typeface="Calibri" pitchFamily="34" charset="-122"/>
                <a:cs typeface="Calibri" pitchFamily="34" charset="-120"/>
              </a:rPr>
              <a:t>1962</a:t>
            </a:r>
            <a:endParaRPr lang="en-US" sz="1150" dirty="0"/>
          </a:p>
        </p:txBody>
      </p:sp>
      <p:sp>
        <p:nvSpPr>
          <p:cNvPr id="17" name="Text 15"/>
          <p:cNvSpPr/>
          <p:nvPr/>
        </p:nvSpPr>
        <p:spPr>
          <a:xfrm>
            <a:off x="2880360" y="1892808"/>
            <a:ext cx="1737360" cy="457200"/>
          </a:xfrm>
          <a:prstGeom prst="rect">
            <a:avLst/>
          </a:prstGeom>
          <a:noFill/>
          <a:ln/>
        </p:spPr>
        <p:txBody>
          <a:bodyPr wrap="square" rtlCol="0" anchor="ctr"/>
          <a:lstStyle/>
          <a:p>
            <a:pPr algn="ctr" indent="0" marL="0">
              <a:lnSpc>
                <a:spcPct val="105000"/>
              </a:lnSpc>
              <a:buNone/>
            </a:pPr>
            <a:r>
              <a:rPr lang="en-US" sz="950" dirty="0">
                <a:solidFill>
                  <a:srgbClr val="23281C"/>
                </a:solidFill>
                <a:latin typeface="Calibri" pitchFamily="34" charset="0"/>
                <a:ea typeface="Calibri" pitchFamily="34" charset="-122"/>
                <a:cs typeface="Calibri" pitchFamily="34" charset="-120"/>
              </a:rPr>
              <a:t>Sino-Indian War</a:t>
            </a:r>
            <a:endParaRPr lang="en-US" sz="950" dirty="0"/>
          </a:p>
        </p:txBody>
      </p:sp>
      <p:sp>
        <p:nvSpPr>
          <p:cNvPr id="18" name="Shape 16"/>
          <p:cNvSpPr/>
          <p:nvPr/>
        </p:nvSpPr>
        <p:spPr>
          <a:xfrm>
            <a:off x="5221224" y="2752344"/>
            <a:ext cx="164592" cy="164592"/>
          </a:xfrm>
          <a:prstGeom prst="ellipse">
            <a:avLst/>
          </a:prstGeom>
          <a:solidFill>
            <a:srgbClr val="6B2C2C"/>
          </a:solidFill>
          <a:ln w="19050">
            <a:solidFill>
              <a:srgbClr val="FFFFFF"/>
            </a:solidFill>
            <a:prstDash val="solid"/>
          </a:ln>
        </p:spPr>
      </p:sp>
      <p:sp>
        <p:nvSpPr>
          <p:cNvPr id="19" name="Shape 17"/>
          <p:cNvSpPr/>
          <p:nvPr/>
        </p:nvSpPr>
        <p:spPr>
          <a:xfrm>
            <a:off x="5303520" y="2834640"/>
            <a:ext cx="0" cy="777240"/>
          </a:xfrm>
          <a:prstGeom prst="line">
            <a:avLst/>
          </a:prstGeom>
          <a:noFill/>
          <a:ln w="12700">
            <a:solidFill>
              <a:srgbClr val="C9BC9A"/>
            </a:solidFill>
            <a:prstDash val="solid"/>
          </a:ln>
        </p:spPr>
      </p:sp>
      <p:sp>
        <p:nvSpPr>
          <p:cNvPr id="20" name="Text 18"/>
          <p:cNvSpPr/>
          <p:nvPr/>
        </p:nvSpPr>
        <p:spPr>
          <a:xfrm>
            <a:off x="4480560" y="3657600"/>
            <a:ext cx="1645920" cy="274320"/>
          </a:xfrm>
          <a:prstGeom prst="rect">
            <a:avLst/>
          </a:prstGeom>
          <a:noFill/>
          <a:ln/>
        </p:spPr>
        <p:txBody>
          <a:bodyPr wrap="square" rtlCol="0" anchor="ctr"/>
          <a:lstStyle/>
          <a:p>
            <a:pPr algn="ctr" indent="0" marL="0">
              <a:buNone/>
            </a:pPr>
            <a:r>
              <a:rPr lang="en-US" sz="1150" b="1" dirty="0">
                <a:solidFill>
                  <a:srgbClr val="6B2C2C"/>
                </a:solidFill>
                <a:latin typeface="Calibri" pitchFamily="34" charset="0"/>
                <a:ea typeface="Calibri" pitchFamily="34" charset="-122"/>
                <a:cs typeface="Calibri" pitchFamily="34" charset="-120"/>
              </a:rPr>
              <a:t>1965</a:t>
            </a:r>
            <a:endParaRPr lang="en-US" sz="1150" dirty="0"/>
          </a:p>
        </p:txBody>
      </p:sp>
      <p:sp>
        <p:nvSpPr>
          <p:cNvPr id="21" name="Text 19"/>
          <p:cNvSpPr/>
          <p:nvPr/>
        </p:nvSpPr>
        <p:spPr>
          <a:xfrm>
            <a:off x="4434840" y="3931920"/>
            <a:ext cx="1737360" cy="457200"/>
          </a:xfrm>
          <a:prstGeom prst="rect">
            <a:avLst/>
          </a:prstGeom>
          <a:noFill/>
          <a:ln/>
        </p:spPr>
        <p:txBody>
          <a:bodyPr wrap="square" rtlCol="0" anchor="ctr"/>
          <a:lstStyle/>
          <a:p>
            <a:pPr algn="ctr" indent="0" marL="0">
              <a:lnSpc>
                <a:spcPct val="105000"/>
              </a:lnSpc>
              <a:buNone/>
            </a:pPr>
            <a:r>
              <a:rPr lang="en-US" sz="950" dirty="0">
                <a:solidFill>
                  <a:srgbClr val="23281C"/>
                </a:solidFill>
                <a:latin typeface="Calibri" pitchFamily="34" charset="0"/>
                <a:ea typeface="Calibri" pitchFamily="34" charset="-122"/>
                <a:cs typeface="Calibri" pitchFamily="34" charset="-120"/>
              </a:rPr>
              <a:t>Second Indo-Pak War</a:t>
            </a:r>
            <a:endParaRPr lang="en-US" sz="950" dirty="0"/>
          </a:p>
        </p:txBody>
      </p:sp>
      <p:sp>
        <p:nvSpPr>
          <p:cNvPr id="22" name="Shape 20"/>
          <p:cNvSpPr/>
          <p:nvPr/>
        </p:nvSpPr>
        <p:spPr>
          <a:xfrm>
            <a:off x="6775704" y="2752344"/>
            <a:ext cx="164592" cy="164592"/>
          </a:xfrm>
          <a:prstGeom prst="ellipse">
            <a:avLst/>
          </a:prstGeom>
          <a:solidFill>
            <a:srgbClr val="6B2C2C"/>
          </a:solidFill>
          <a:ln w="19050">
            <a:solidFill>
              <a:srgbClr val="FFFFFF"/>
            </a:solidFill>
            <a:prstDash val="solid"/>
          </a:ln>
        </p:spPr>
      </p:sp>
      <p:sp>
        <p:nvSpPr>
          <p:cNvPr id="23" name="Shape 21"/>
          <p:cNvSpPr/>
          <p:nvPr/>
        </p:nvSpPr>
        <p:spPr>
          <a:xfrm>
            <a:off x="6858000" y="2057400"/>
            <a:ext cx="0" cy="777240"/>
          </a:xfrm>
          <a:prstGeom prst="line">
            <a:avLst/>
          </a:prstGeom>
          <a:noFill/>
          <a:ln w="12700">
            <a:solidFill>
              <a:srgbClr val="C9BC9A"/>
            </a:solidFill>
            <a:prstDash val="solid"/>
          </a:ln>
        </p:spPr>
      </p:sp>
      <p:sp>
        <p:nvSpPr>
          <p:cNvPr id="24" name="Text 22"/>
          <p:cNvSpPr/>
          <p:nvPr/>
        </p:nvSpPr>
        <p:spPr>
          <a:xfrm>
            <a:off x="6035040" y="1600200"/>
            <a:ext cx="1645920" cy="274320"/>
          </a:xfrm>
          <a:prstGeom prst="rect">
            <a:avLst/>
          </a:prstGeom>
          <a:noFill/>
          <a:ln/>
        </p:spPr>
        <p:txBody>
          <a:bodyPr wrap="square" rtlCol="0" anchor="ctr"/>
          <a:lstStyle/>
          <a:p>
            <a:pPr algn="ctr" indent="0" marL="0">
              <a:buNone/>
            </a:pPr>
            <a:r>
              <a:rPr lang="en-US" sz="1150" b="1" dirty="0">
                <a:solidFill>
                  <a:srgbClr val="6B2C2C"/>
                </a:solidFill>
                <a:latin typeface="Calibri" pitchFamily="34" charset="0"/>
                <a:ea typeface="Calibri" pitchFamily="34" charset="-122"/>
                <a:cs typeface="Calibri" pitchFamily="34" charset="-120"/>
              </a:rPr>
              <a:t>1971</a:t>
            </a:r>
            <a:endParaRPr lang="en-US" sz="1150" dirty="0"/>
          </a:p>
        </p:txBody>
      </p:sp>
      <p:sp>
        <p:nvSpPr>
          <p:cNvPr id="25" name="Text 23"/>
          <p:cNvSpPr/>
          <p:nvPr/>
        </p:nvSpPr>
        <p:spPr>
          <a:xfrm>
            <a:off x="5989320" y="1892808"/>
            <a:ext cx="1737360" cy="457200"/>
          </a:xfrm>
          <a:prstGeom prst="rect">
            <a:avLst/>
          </a:prstGeom>
          <a:noFill/>
          <a:ln/>
        </p:spPr>
        <p:txBody>
          <a:bodyPr wrap="square" rtlCol="0" anchor="ctr"/>
          <a:lstStyle/>
          <a:p>
            <a:pPr algn="ctr" indent="0" marL="0">
              <a:lnSpc>
                <a:spcPct val="105000"/>
              </a:lnSpc>
              <a:buNone/>
            </a:pPr>
            <a:r>
              <a:rPr lang="en-US" sz="950" dirty="0">
                <a:solidFill>
                  <a:srgbClr val="23281C"/>
                </a:solidFill>
                <a:latin typeface="Calibri" pitchFamily="34" charset="0"/>
                <a:ea typeface="Calibri" pitchFamily="34" charset="-122"/>
                <a:cs typeface="Calibri" pitchFamily="34" charset="-120"/>
              </a:rPr>
              <a:t>Bangladesh Liberation War</a:t>
            </a:r>
            <a:endParaRPr lang="en-US" sz="950" dirty="0"/>
          </a:p>
        </p:txBody>
      </p:sp>
      <p:sp>
        <p:nvSpPr>
          <p:cNvPr id="26" name="Shape 24"/>
          <p:cNvSpPr/>
          <p:nvPr/>
        </p:nvSpPr>
        <p:spPr>
          <a:xfrm>
            <a:off x="8330184" y="2752344"/>
            <a:ext cx="164592" cy="164592"/>
          </a:xfrm>
          <a:prstGeom prst="ellipse">
            <a:avLst/>
          </a:prstGeom>
          <a:solidFill>
            <a:srgbClr val="6B2C2C"/>
          </a:solidFill>
          <a:ln w="19050">
            <a:solidFill>
              <a:srgbClr val="FFFFFF"/>
            </a:solidFill>
            <a:prstDash val="solid"/>
          </a:ln>
        </p:spPr>
      </p:sp>
      <p:sp>
        <p:nvSpPr>
          <p:cNvPr id="27" name="Shape 25"/>
          <p:cNvSpPr/>
          <p:nvPr/>
        </p:nvSpPr>
        <p:spPr>
          <a:xfrm>
            <a:off x="8412480" y="2834640"/>
            <a:ext cx="0" cy="777240"/>
          </a:xfrm>
          <a:prstGeom prst="line">
            <a:avLst/>
          </a:prstGeom>
          <a:noFill/>
          <a:ln w="12700">
            <a:solidFill>
              <a:srgbClr val="C9BC9A"/>
            </a:solidFill>
            <a:prstDash val="solid"/>
          </a:ln>
        </p:spPr>
      </p:sp>
      <p:sp>
        <p:nvSpPr>
          <p:cNvPr id="28" name="Text 26"/>
          <p:cNvSpPr/>
          <p:nvPr/>
        </p:nvSpPr>
        <p:spPr>
          <a:xfrm>
            <a:off x="7589520" y="3657600"/>
            <a:ext cx="1645920" cy="274320"/>
          </a:xfrm>
          <a:prstGeom prst="rect">
            <a:avLst/>
          </a:prstGeom>
          <a:noFill/>
          <a:ln/>
        </p:spPr>
        <p:txBody>
          <a:bodyPr wrap="square" rtlCol="0" anchor="ctr"/>
          <a:lstStyle/>
          <a:p>
            <a:pPr algn="ctr" indent="0" marL="0">
              <a:buNone/>
            </a:pPr>
            <a:r>
              <a:rPr lang="en-US" sz="1150" b="1" dirty="0">
                <a:solidFill>
                  <a:srgbClr val="6B2C2C"/>
                </a:solidFill>
                <a:latin typeface="Calibri" pitchFamily="34" charset="0"/>
                <a:ea typeface="Calibri" pitchFamily="34" charset="-122"/>
                <a:cs typeface="Calibri" pitchFamily="34" charset="-120"/>
              </a:rPr>
              <a:t>1984</a:t>
            </a:r>
            <a:endParaRPr lang="en-US" sz="1150" dirty="0"/>
          </a:p>
        </p:txBody>
      </p:sp>
      <p:sp>
        <p:nvSpPr>
          <p:cNvPr id="29" name="Text 27"/>
          <p:cNvSpPr/>
          <p:nvPr/>
        </p:nvSpPr>
        <p:spPr>
          <a:xfrm>
            <a:off x="7543800" y="3931920"/>
            <a:ext cx="1737360" cy="457200"/>
          </a:xfrm>
          <a:prstGeom prst="rect">
            <a:avLst/>
          </a:prstGeom>
          <a:noFill/>
          <a:ln/>
        </p:spPr>
        <p:txBody>
          <a:bodyPr wrap="square" rtlCol="0" anchor="ctr"/>
          <a:lstStyle/>
          <a:p>
            <a:pPr algn="ctr" indent="0" marL="0">
              <a:lnSpc>
                <a:spcPct val="105000"/>
              </a:lnSpc>
              <a:buNone/>
            </a:pPr>
            <a:r>
              <a:rPr lang="en-US" sz="950" dirty="0">
                <a:solidFill>
                  <a:srgbClr val="23281C"/>
                </a:solidFill>
                <a:latin typeface="Calibri" pitchFamily="34" charset="0"/>
                <a:ea typeface="Calibri" pitchFamily="34" charset="-122"/>
                <a:cs typeface="Calibri" pitchFamily="34" charset="-120"/>
              </a:rPr>
              <a:t>Siachen — Op Meghdoot</a:t>
            </a:r>
            <a:endParaRPr lang="en-US" sz="950" dirty="0"/>
          </a:p>
        </p:txBody>
      </p:sp>
      <p:sp>
        <p:nvSpPr>
          <p:cNvPr id="30" name="Shape 28"/>
          <p:cNvSpPr/>
          <p:nvPr/>
        </p:nvSpPr>
        <p:spPr>
          <a:xfrm>
            <a:off x="9884664" y="2752344"/>
            <a:ext cx="164592" cy="164592"/>
          </a:xfrm>
          <a:prstGeom prst="ellipse">
            <a:avLst/>
          </a:prstGeom>
          <a:solidFill>
            <a:srgbClr val="6B2C2C"/>
          </a:solidFill>
          <a:ln w="19050">
            <a:solidFill>
              <a:srgbClr val="FFFFFF"/>
            </a:solidFill>
            <a:prstDash val="solid"/>
          </a:ln>
        </p:spPr>
      </p:sp>
      <p:sp>
        <p:nvSpPr>
          <p:cNvPr id="31" name="Shape 29"/>
          <p:cNvSpPr/>
          <p:nvPr/>
        </p:nvSpPr>
        <p:spPr>
          <a:xfrm>
            <a:off x="9966960" y="2057400"/>
            <a:ext cx="0" cy="777240"/>
          </a:xfrm>
          <a:prstGeom prst="line">
            <a:avLst/>
          </a:prstGeom>
          <a:noFill/>
          <a:ln w="12700">
            <a:solidFill>
              <a:srgbClr val="C9BC9A"/>
            </a:solidFill>
            <a:prstDash val="solid"/>
          </a:ln>
        </p:spPr>
      </p:sp>
      <p:sp>
        <p:nvSpPr>
          <p:cNvPr id="32" name="Text 30"/>
          <p:cNvSpPr/>
          <p:nvPr/>
        </p:nvSpPr>
        <p:spPr>
          <a:xfrm>
            <a:off x="9144000" y="1600200"/>
            <a:ext cx="1645920" cy="274320"/>
          </a:xfrm>
          <a:prstGeom prst="rect">
            <a:avLst/>
          </a:prstGeom>
          <a:noFill/>
          <a:ln/>
        </p:spPr>
        <p:txBody>
          <a:bodyPr wrap="square" rtlCol="0" anchor="ctr"/>
          <a:lstStyle/>
          <a:p>
            <a:pPr algn="ctr" indent="0" marL="0">
              <a:buNone/>
            </a:pPr>
            <a:r>
              <a:rPr lang="en-US" sz="1150" b="1" dirty="0">
                <a:solidFill>
                  <a:srgbClr val="6B2C2C"/>
                </a:solidFill>
                <a:latin typeface="Calibri" pitchFamily="34" charset="0"/>
                <a:ea typeface="Calibri" pitchFamily="34" charset="-122"/>
                <a:cs typeface="Calibri" pitchFamily="34" charset="-120"/>
              </a:rPr>
              <a:t>1999</a:t>
            </a:r>
            <a:endParaRPr lang="en-US" sz="1150" dirty="0"/>
          </a:p>
        </p:txBody>
      </p:sp>
      <p:sp>
        <p:nvSpPr>
          <p:cNvPr id="33" name="Text 31"/>
          <p:cNvSpPr/>
          <p:nvPr/>
        </p:nvSpPr>
        <p:spPr>
          <a:xfrm>
            <a:off x="9098280" y="1892808"/>
            <a:ext cx="1737360" cy="457200"/>
          </a:xfrm>
          <a:prstGeom prst="rect">
            <a:avLst/>
          </a:prstGeom>
          <a:noFill/>
          <a:ln/>
        </p:spPr>
        <p:txBody>
          <a:bodyPr wrap="square" rtlCol="0" anchor="ctr"/>
          <a:lstStyle/>
          <a:p>
            <a:pPr algn="ctr" indent="0" marL="0">
              <a:lnSpc>
                <a:spcPct val="105000"/>
              </a:lnSpc>
              <a:buNone/>
            </a:pPr>
            <a:r>
              <a:rPr lang="en-US" sz="950" dirty="0">
                <a:solidFill>
                  <a:srgbClr val="23281C"/>
                </a:solidFill>
                <a:latin typeface="Calibri" pitchFamily="34" charset="0"/>
                <a:ea typeface="Calibri" pitchFamily="34" charset="-122"/>
                <a:cs typeface="Calibri" pitchFamily="34" charset="-120"/>
              </a:rPr>
              <a:t>Kargil War</a:t>
            </a:r>
            <a:endParaRPr lang="en-US" sz="950" dirty="0"/>
          </a:p>
        </p:txBody>
      </p:sp>
      <p:sp>
        <p:nvSpPr>
          <p:cNvPr id="34" name="Shape 32"/>
          <p:cNvSpPr/>
          <p:nvPr/>
        </p:nvSpPr>
        <p:spPr>
          <a:xfrm>
            <a:off x="11439144" y="2752344"/>
            <a:ext cx="164592" cy="164592"/>
          </a:xfrm>
          <a:prstGeom prst="ellipse">
            <a:avLst/>
          </a:prstGeom>
          <a:solidFill>
            <a:srgbClr val="6B2C2C"/>
          </a:solidFill>
          <a:ln w="19050">
            <a:solidFill>
              <a:srgbClr val="FFFFFF"/>
            </a:solidFill>
            <a:prstDash val="solid"/>
          </a:ln>
        </p:spPr>
      </p:sp>
      <p:sp>
        <p:nvSpPr>
          <p:cNvPr id="35" name="Shape 33"/>
          <p:cNvSpPr/>
          <p:nvPr/>
        </p:nvSpPr>
        <p:spPr>
          <a:xfrm>
            <a:off x="11521440" y="2834640"/>
            <a:ext cx="0" cy="777240"/>
          </a:xfrm>
          <a:prstGeom prst="line">
            <a:avLst/>
          </a:prstGeom>
          <a:noFill/>
          <a:ln w="12700">
            <a:solidFill>
              <a:srgbClr val="C9BC9A"/>
            </a:solidFill>
            <a:prstDash val="solid"/>
          </a:ln>
        </p:spPr>
      </p:sp>
      <p:sp>
        <p:nvSpPr>
          <p:cNvPr id="36" name="Text 34"/>
          <p:cNvSpPr/>
          <p:nvPr/>
        </p:nvSpPr>
        <p:spPr>
          <a:xfrm>
            <a:off x="10698480" y="3657600"/>
            <a:ext cx="1645920" cy="274320"/>
          </a:xfrm>
          <a:prstGeom prst="rect">
            <a:avLst/>
          </a:prstGeom>
          <a:noFill/>
          <a:ln/>
        </p:spPr>
        <p:txBody>
          <a:bodyPr wrap="square" rtlCol="0" anchor="ctr"/>
          <a:lstStyle/>
          <a:p>
            <a:pPr algn="ctr" indent="0" marL="0">
              <a:buNone/>
            </a:pPr>
            <a:r>
              <a:rPr lang="en-US" sz="1150" b="1" dirty="0">
                <a:solidFill>
                  <a:srgbClr val="6B2C2C"/>
                </a:solidFill>
                <a:latin typeface="Calibri" pitchFamily="34" charset="0"/>
                <a:ea typeface="Calibri" pitchFamily="34" charset="-122"/>
                <a:cs typeface="Calibri" pitchFamily="34" charset="-120"/>
              </a:rPr>
              <a:t>2016–20</a:t>
            </a:r>
            <a:endParaRPr lang="en-US" sz="1150" dirty="0"/>
          </a:p>
        </p:txBody>
      </p:sp>
      <p:sp>
        <p:nvSpPr>
          <p:cNvPr id="37" name="Text 35"/>
          <p:cNvSpPr/>
          <p:nvPr/>
        </p:nvSpPr>
        <p:spPr>
          <a:xfrm>
            <a:off x="10652760" y="3931920"/>
            <a:ext cx="1737360" cy="457200"/>
          </a:xfrm>
          <a:prstGeom prst="rect">
            <a:avLst/>
          </a:prstGeom>
          <a:noFill/>
          <a:ln/>
        </p:spPr>
        <p:txBody>
          <a:bodyPr wrap="square" rtlCol="0" anchor="ctr"/>
          <a:lstStyle/>
          <a:p>
            <a:pPr algn="ctr" indent="0" marL="0">
              <a:lnSpc>
                <a:spcPct val="105000"/>
              </a:lnSpc>
              <a:buNone/>
            </a:pPr>
            <a:r>
              <a:rPr lang="en-US" sz="950" dirty="0">
                <a:solidFill>
                  <a:srgbClr val="23281C"/>
                </a:solidFill>
                <a:latin typeface="Calibri" pitchFamily="34" charset="0"/>
                <a:ea typeface="Calibri" pitchFamily="34" charset="-122"/>
                <a:cs typeface="Calibri" pitchFamily="34" charset="-120"/>
              </a:rPr>
              <a:t>Surgical Strikes, Balakot, Galwan</a:t>
            </a:r>
            <a:endParaRPr lang="en-US" sz="950" dirty="0"/>
          </a:p>
        </p:txBody>
      </p:sp>
      <p:sp>
        <p:nvSpPr>
          <p:cNvPr id="38" name="Text 36"/>
          <p:cNvSpPr/>
          <p:nvPr/>
        </p:nvSpPr>
        <p:spPr>
          <a:xfrm>
            <a:off x="566928" y="5897880"/>
            <a:ext cx="11064240" cy="548640"/>
          </a:xfrm>
          <a:prstGeom prst="rect">
            <a:avLst/>
          </a:prstGeom>
          <a:noFill/>
          <a:ln/>
        </p:spPr>
        <p:txBody>
          <a:bodyPr wrap="square" rtlCol="0" anchor="ctr"/>
          <a:lstStyle/>
          <a:p>
            <a:pPr indent="0" marL="0">
              <a:buNone/>
            </a:pPr>
            <a:r>
              <a:rPr lang="en-US" sz="1100" i="1" dirty="0">
                <a:solidFill>
                  <a:srgbClr val="4A5548"/>
                </a:solidFill>
                <a:latin typeface="Calibri" pitchFamily="34" charset="0"/>
                <a:ea typeface="Calibri" pitchFamily="34" charset="-122"/>
                <a:cs typeface="Calibri" pitchFamily="34" charset="-120"/>
              </a:rPr>
              <a:t>From safeguarding Kashmir in 1947 to the birth of Bangladesh in 1971 and the high-altitude battles of Kargil, the Armed Forces have shaped — and been shaped by — every major conflict in independent India's history.</a:t>
            </a:r>
            <a:endParaRPr lang="en-US" sz="1100" dirty="0"/>
          </a:p>
        </p:txBody>
      </p:sp>
      <p:sp>
        <p:nvSpPr>
          <p:cNvPr id="39" name="Text 37"/>
          <p:cNvSpPr/>
          <p:nvPr/>
        </p:nvSpPr>
        <p:spPr>
          <a:xfrm>
            <a:off x="457200" y="6473952"/>
            <a:ext cx="7315200" cy="274320"/>
          </a:xfrm>
          <a:prstGeom prst="rect">
            <a:avLst/>
          </a:prstGeom>
          <a:noFill/>
          <a:ln/>
        </p:spPr>
        <p:txBody>
          <a:bodyPr wrap="square" rtlCol="0" anchor="ctr"/>
          <a:lstStyle/>
          <a:p>
            <a:pPr indent="0" marL="0">
              <a:buNone/>
            </a:pPr>
            <a:r>
              <a:rPr lang="en-US" sz="1000" i="1" dirty="0">
                <a:solidFill>
                  <a:srgbClr val="4A5548"/>
                </a:solidFill>
                <a:latin typeface="Calibri" pitchFamily="34" charset="0"/>
                <a:ea typeface="Calibri" pitchFamily="34" charset="-122"/>
                <a:cs typeface="Calibri" pitchFamily="34" charset="-120"/>
              </a:rPr>
              <a:t>Indian Armed Forces  |  Wars &amp; Conflicts</a:t>
            </a:r>
            <a:endParaRPr lang="en-US" sz="1000" dirty="0"/>
          </a:p>
        </p:txBody>
      </p:sp>
      <p:sp>
        <p:nvSpPr>
          <p:cNvPr id="40" name="Text 38"/>
          <p:cNvSpPr/>
          <p:nvPr/>
        </p:nvSpPr>
        <p:spPr>
          <a:xfrm>
            <a:off x="11274552" y="6473952"/>
            <a:ext cx="457200" cy="274320"/>
          </a:xfrm>
          <a:prstGeom prst="rect">
            <a:avLst/>
          </a:prstGeom>
          <a:noFill/>
          <a:ln/>
        </p:spPr>
        <p:txBody>
          <a:bodyPr wrap="square" rtlCol="0" anchor="ctr"/>
          <a:lstStyle/>
          <a:p>
            <a:pPr algn="r" indent="0" marL="0">
              <a:buNone/>
            </a:pPr>
            <a:r>
              <a:rPr lang="en-US" sz="1000" dirty="0">
                <a:solidFill>
                  <a:srgbClr val="4A5548"/>
                </a:solidFill>
                <a:latin typeface="Calibri" pitchFamily="34" charset="0"/>
                <a:ea typeface="Calibri" pitchFamily="34" charset="-122"/>
                <a:cs typeface="Calibri" pitchFamily="34" charset="-120"/>
              </a:rPr>
              <a:t>14</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EFE8D6"/>
          </a:solidFill>
          <a:ln/>
        </p:spPr>
      </p:sp>
      <p:sp>
        <p:nvSpPr>
          <p:cNvPr id="3" name="Text 1"/>
          <p:cNvSpPr/>
          <p:nvPr/>
        </p:nvSpPr>
        <p:spPr>
          <a:xfrm>
            <a:off x="566928" y="137160"/>
            <a:ext cx="7315200" cy="274320"/>
          </a:xfrm>
          <a:prstGeom prst="rect">
            <a:avLst/>
          </a:prstGeom>
          <a:noFill/>
          <a:ln/>
        </p:spPr>
        <p:txBody>
          <a:bodyPr wrap="square" rtlCol="0" anchor="ctr"/>
          <a:lstStyle/>
          <a:p>
            <a:pPr indent="0" marL="0">
              <a:buNone/>
            </a:pPr>
            <a:r>
              <a:rPr lang="en-US" sz="1200" b="1" spc="200" kern="0" dirty="0">
                <a:solidFill>
                  <a:srgbClr val="B8912F"/>
                </a:solidFill>
                <a:latin typeface="Calibri" pitchFamily="34" charset="0"/>
                <a:ea typeface="Calibri" pitchFamily="34" charset="-122"/>
                <a:cs typeface="Calibri" pitchFamily="34" charset="-120"/>
              </a:rPr>
              <a:t>MILITARY HISTORY</a:t>
            </a:r>
            <a:endParaRPr lang="en-US" sz="1200" dirty="0"/>
          </a:p>
        </p:txBody>
      </p:sp>
      <p:sp>
        <p:nvSpPr>
          <p:cNvPr id="4" name="Text 2"/>
          <p:cNvSpPr/>
          <p:nvPr/>
        </p:nvSpPr>
        <p:spPr>
          <a:xfrm>
            <a:off x="548640" y="365760"/>
            <a:ext cx="11091672" cy="685800"/>
          </a:xfrm>
          <a:prstGeom prst="rect">
            <a:avLst/>
          </a:prstGeom>
          <a:noFill/>
          <a:ln/>
        </p:spPr>
        <p:txBody>
          <a:bodyPr wrap="square" rtlCol="0" anchor="ctr"/>
          <a:lstStyle/>
          <a:p>
            <a:pPr indent="0" marL="0">
              <a:buNone/>
            </a:pPr>
            <a:r>
              <a:rPr lang="en-US" sz="3000" b="1" dirty="0">
                <a:solidFill>
                  <a:srgbClr val="23281C"/>
                </a:solidFill>
                <a:latin typeface="Cambria" pitchFamily="34" charset="0"/>
                <a:ea typeface="Cambria" pitchFamily="34" charset="-122"/>
                <a:cs typeface="Cambria" pitchFamily="34" charset="-120"/>
              </a:rPr>
              <a:t>First Kashmir War &amp; the Sino-Indian War</a:t>
            </a:r>
            <a:endParaRPr lang="en-US" sz="3000" dirty="0"/>
          </a:p>
        </p:txBody>
      </p:sp>
      <p:sp>
        <p:nvSpPr>
          <p:cNvPr id="5" name="Shape 3"/>
          <p:cNvSpPr/>
          <p:nvPr/>
        </p:nvSpPr>
        <p:spPr>
          <a:xfrm>
            <a:off x="548640" y="1600200"/>
            <a:ext cx="5440680" cy="4434840"/>
          </a:xfrm>
          <a:prstGeom prst="roundRect">
            <a:avLst>
              <a:gd name="adj" fmla="val 2062"/>
            </a:avLst>
          </a:prstGeom>
          <a:solidFill>
            <a:srgbClr val="FFFFFF"/>
          </a:solidFill>
          <a:ln w="12700">
            <a:solidFill>
              <a:srgbClr val="E2D9C0"/>
            </a:solidFill>
            <a:prstDash val="solid"/>
          </a:ln>
          <a:effectLst>
            <a:outerShdw sx="100000" sy="100000" kx="0" ky="0" algn="bl" rotWithShape="0" blurRad="76200" dist="25400" dir="5400000">
              <a:srgbClr val="000000">
                <a:alpha val="15000"/>
              </a:srgbClr>
            </a:outerShdw>
          </a:effectLst>
        </p:spPr>
      </p:sp>
      <p:sp>
        <p:nvSpPr>
          <p:cNvPr id="6" name="Shape 4"/>
          <p:cNvSpPr/>
          <p:nvPr/>
        </p:nvSpPr>
        <p:spPr>
          <a:xfrm>
            <a:off x="548640" y="1600200"/>
            <a:ext cx="5440680" cy="822960"/>
          </a:xfrm>
          <a:prstGeom prst="rect">
            <a:avLst/>
          </a:prstGeom>
          <a:solidFill>
            <a:srgbClr val="6B2C2C"/>
          </a:solidFill>
          <a:ln/>
        </p:spPr>
      </p:sp>
      <p:sp>
        <p:nvSpPr>
          <p:cNvPr id="7" name="Shape 5"/>
          <p:cNvSpPr/>
          <p:nvPr/>
        </p:nvSpPr>
        <p:spPr>
          <a:xfrm>
            <a:off x="804672" y="1764792"/>
            <a:ext cx="502920" cy="502920"/>
          </a:xfrm>
          <a:prstGeom prst="ellipse">
            <a:avLst/>
          </a:prstGeom>
          <a:solidFill>
            <a:srgbClr val="23281C"/>
          </a:solidFill>
          <a:ln/>
        </p:spPr>
      </p:sp>
      <p:pic>
        <p:nvPicPr>
          <p:cNvPr id="8" name="Image 0" descr="/home/claude/ppt/icons/mountain.png">    </p:cNvPr>
          <p:cNvPicPr>
            <a:picLocks noChangeAspect="1"/>
          </p:cNvPicPr>
          <p:nvPr/>
        </p:nvPicPr>
        <p:blipFill>
          <a:blip r:embed="rId1"/>
          <a:stretch>
            <a:fillRect/>
          </a:stretch>
        </p:blipFill>
        <p:spPr>
          <a:xfrm>
            <a:off x="900227" y="1860347"/>
            <a:ext cx="311810" cy="311810"/>
          </a:xfrm>
          <a:prstGeom prst="rect">
            <a:avLst/>
          </a:prstGeom>
        </p:spPr>
      </p:pic>
      <p:sp>
        <p:nvSpPr>
          <p:cNvPr id="9" name="Text 6"/>
          <p:cNvSpPr/>
          <p:nvPr/>
        </p:nvSpPr>
        <p:spPr>
          <a:xfrm>
            <a:off x="1463040" y="1627632"/>
            <a:ext cx="4297680" cy="365760"/>
          </a:xfrm>
          <a:prstGeom prst="rect">
            <a:avLst/>
          </a:prstGeom>
          <a:noFill/>
          <a:ln/>
        </p:spPr>
        <p:txBody>
          <a:bodyPr wrap="square" rtlCol="0" anchor="ctr"/>
          <a:lstStyle/>
          <a:p>
            <a:pPr indent="0" marL="0">
              <a:buNone/>
            </a:pPr>
            <a:r>
              <a:rPr lang="en-US" sz="1550" b="1" dirty="0">
                <a:solidFill>
                  <a:srgbClr val="FFFFFF"/>
                </a:solidFill>
                <a:latin typeface="Cambria" pitchFamily="34" charset="0"/>
                <a:ea typeface="Cambria" pitchFamily="34" charset="-122"/>
                <a:cs typeface="Cambria" pitchFamily="34" charset="-120"/>
              </a:rPr>
              <a:t>FIRST KASHMIR WAR</a:t>
            </a:r>
            <a:endParaRPr lang="en-US" sz="1550" dirty="0"/>
          </a:p>
        </p:txBody>
      </p:sp>
      <p:sp>
        <p:nvSpPr>
          <p:cNvPr id="10" name="Text 7"/>
          <p:cNvSpPr/>
          <p:nvPr/>
        </p:nvSpPr>
        <p:spPr>
          <a:xfrm>
            <a:off x="1463040" y="1965960"/>
            <a:ext cx="4297680" cy="320040"/>
          </a:xfrm>
          <a:prstGeom prst="rect">
            <a:avLst/>
          </a:prstGeom>
          <a:noFill/>
          <a:ln/>
        </p:spPr>
        <p:txBody>
          <a:bodyPr wrap="square" rtlCol="0" anchor="ctr"/>
          <a:lstStyle/>
          <a:p>
            <a:pPr indent="0" marL="0">
              <a:buNone/>
            </a:pPr>
            <a:r>
              <a:rPr lang="en-US" sz="1050" i="1" dirty="0">
                <a:solidFill>
                  <a:srgbClr val="EFE8D6"/>
                </a:solidFill>
                <a:latin typeface="Calibri" pitchFamily="34" charset="0"/>
                <a:ea typeface="Calibri" pitchFamily="34" charset="-122"/>
                <a:cs typeface="Calibri" pitchFamily="34" charset="-120"/>
              </a:rPr>
              <a:t>October 1947 – January 1949</a:t>
            </a:r>
            <a:endParaRPr lang="en-US" sz="1050" dirty="0"/>
          </a:p>
        </p:txBody>
      </p:sp>
      <p:sp>
        <p:nvSpPr>
          <p:cNvPr id="11" name="Text 8"/>
          <p:cNvSpPr/>
          <p:nvPr/>
        </p:nvSpPr>
        <p:spPr>
          <a:xfrm>
            <a:off x="841248" y="2606040"/>
            <a:ext cx="4892040" cy="3246120"/>
          </a:xfrm>
          <a:prstGeom prst="rect">
            <a:avLst/>
          </a:prstGeom>
          <a:noFill/>
          <a:ln/>
        </p:spPr>
        <p:txBody>
          <a:bodyPr wrap="square" rtlCol="0" anchor="ctr"/>
          <a:lstStyle/>
          <a:p>
            <a:pPr marL="342900" indent="-342900">
              <a:lnSpc>
                <a:spcPct val="132000"/>
              </a:lnSpc>
              <a:spcAft>
                <a:spcPts val="900"/>
              </a:spcAft>
              <a:buSzPct val="100000"/>
              <a:buChar char="•"/>
            </a:pPr>
            <a:r>
              <a:rPr lang="en-US" sz="1100" dirty="0">
                <a:solidFill>
                  <a:srgbClr val="23281C"/>
                </a:solidFill>
                <a:latin typeface="Calibri" pitchFamily="34" charset="0"/>
                <a:ea typeface="Calibri" pitchFamily="34" charset="-122"/>
                <a:cs typeface="Calibri" pitchFamily="34" charset="-120"/>
              </a:rPr>
              <a:t>Erupted after tribal militias backed by Pakistan invaded Jammu &amp; Kashmir</a:t>
            </a:r>
            <a:endParaRPr lang="en-US" sz="1100" dirty="0"/>
          </a:p>
          <a:p>
            <a:pPr marL="342900" indent="-342900">
              <a:lnSpc>
                <a:spcPct val="132000"/>
              </a:lnSpc>
              <a:spcAft>
                <a:spcPts val="900"/>
              </a:spcAft>
              <a:buSzPct val="100000"/>
              <a:buChar char="•"/>
            </a:pPr>
            <a:r>
              <a:rPr lang="en-US" sz="1100" dirty="0">
                <a:solidFill>
                  <a:srgbClr val="23281C"/>
                </a:solidFill>
                <a:latin typeface="Calibri" pitchFamily="34" charset="0"/>
                <a:ea typeface="Calibri" pitchFamily="34" charset="-122"/>
                <a:cs typeface="Calibri" pitchFamily="34" charset="-120"/>
              </a:rPr>
              <a:t>Maharaja Hari Singh acceded to India; Indian troops airlifted into Srinagar</a:t>
            </a:r>
            <a:endParaRPr lang="en-US" sz="1100" dirty="0"/>
          </a:p>
          <a:p>
            <a:pPr marL="342900" indent="-342900">
              <a:lnSpc>
                <a:spcPct val="132000"/>
              </a:lnSpc>
              <a:spcAft>
                <a:spcPts val="900"/>
              </a:spcAft>
              <a:buSzPct val="100000"/>
              <a:buChar char="•"/>
            </a:pPr>
            <a:r>
              <a:rPr lang="en-US" sz="1100" dirty="0">
                <a:solidFill>
                  <a:srgbClr val="23281C"/>
                </a:solidFill>
                <a:latin typeface="Calibri" pitchFamily="34" charset="0"/>
                <a:ea typeface="Calibri" pitchFamily="34" charset="-122"/>
                <a:cs typeface="Calibri" pitchFamily="34" charset="-120"/>
              </a:rPr>
              <a:t>Fierce fighting across the Kashmir Valley, Jammu and Ladakh sectors</a:t>
            </a:r>
            <a:endParaRPr lang="en-US" sz="1100" dirty="0"/>
          </a:p>
          <a:p>
            <a:pPr marL="342900" indent="-342900">
              <a:lnSpc>
                <a:spcPct val="132000"/>
              </a:lnSpc>
              <a:spcAft>
                <a:spcPts val="900"/>
              </a:spcAft>
              <a:buSzPct val="100000"/>
              <a:buChar char="•"/>
            </a:pPr>
            <a:r>
              <a:rPr lang="en-US" sz="1100" dirty="0">
                <a:solidFill>
                  <a:srgbClr val="23281C"/>
                </a:solidFill>
                <a:latin typeface="Calibri" pitchFamily="34" charset="0"/>
                <a:ea typeface="Calibri" pitchFamily="34" charset="-122"/>
                <a:cs typeface="Calibri" pitchFamily="34" charset="-120"/>
              </a:rPr>
              <a:t>Ended in a UN-mediated ceasefire (Jan 1949), creating the Cease-fire Line — later the Line of Control</a:t>
            </a:r>
            <a:endParaRPr lang="en-US" sz="1100" dirty="0"/>
          </a:p>
        </p:txBody>
      </p:sp>
      <p:sp>
        <p:nvSpPr>
          <p:cNvPr id="12" name="Shape 9"/>
          <p:cNvSpPr/>
          <p:nvPr/>
        </p:nvSpPr>
        <p:spPr>
          <a:xfrm>
            <a:off x="6172200" y="1600200"/>
            <a:ext cx="5440680" cy="4434840"/>
          </a:xfrm>
          <a:prstGeom prst="roundRect">
            <a:avLst>
              <a:gd name="adj" fmla="val 2062"/>
            </a:avLst>
          </a:prstGeom>
          <a:solidFill>
            <a:srgbClr val="FFFFFF"/>
          </a:solidFill>
          <a:ln w="12700">
            <a:solidFill>
              <a:srgbClr val="E2D9C0"/>
            </a:solidFill>
            <a:prstDash val="solid"/>
          </a:ln>
          <a:effectLst>
            <a:outerShdw sx="100000" sy="100000" kx="0" ky="0" algn="bl" rotWithShape="0" blurRad="76200" dist="25400" dir="5400000">
              <a:srgbClr val="000000">
                <a:alpha val="15000"/>
              </a:srgbClr>
            </a:outerShdw>
          </a:effectLst>
        </p:spPr>
      </p:sp>
      <p:sp>
        <p:nvSpPr>
          <p:cNvPr id="13" name="Shape 10"/>
          <p:cNvSpPr/>
          <p:nvPr/>
        </p:nvSpPr>
        <p:spPr>
          <a:xfrm>
            <a:off x="6172200" y="1600200"/>
            <a:ext cx="5440680" cy="822960"/>
          </a:xfrm>
          <a:prstGeom prst="rect">
            <a:avLst/>
          </a:prstGeom>
          <a:solidFill>
            <a:srgbClr val="4A5548"/>
          </a:solidFill>
          <a:ln/>
        </p:spPr>
      </p:sp>
      <p:sp>
        <p:nvSpPr>
          <p:cNvPr id="14" name="Shape 11"/>
          <p:cNvSpPr/>
          <p:nvPr/>
        </p:nvSpPr>
        <p:spPr>
          <a:xfrm>
            <a:off x="6428232" y="1764792"/>
            <a:ext cx="502920" cy="502920"/>
          </a:xfrm>
          <a:prstGeom prst="ellipse">
            <a:avLst/>
          </a:prstGeom>
          <a:solidFill>
            <a:srgbClr val="23281C"/>
          </a:solidFill>
          <a:ln/>
        </p:spPr>
      </p:sp>
      <p:pic>
        <p:nvPicPr>
          <p:cNvPr id="15" name="Image 1" descr="/home/claude/ppt/icons/mountain.png">    </p:cNvPr>
          <p:cNvPicPr>
            <a:picLocks noChangeAspect="1"/>
          </p:cNvPicPr>
          <p:nvPr/>
        </p:nvPicPr>
        <p:blipFill>
          <a:blip r:embed="rId2"/>
          <a:stretch>
            <a:fillRect/>
          </a:stretch>
        </p:blipFill>
        <p:spPr>
          <a:xfrm>
            <a:off x="6523787" y="1860347"/>
            <a:ext cx="311810" cy="311810"/>
          </a:xfrm>
          <a:prstGeom prst="rect">
            <a:avLst/>
          </a:prstGeom>
        </p:spPr>
      </p:pic>
      <p:sp>
        <p:nvSpPr>
          <p:cNvPr id="16" name="Text 12"/>
          <p:cNvSpPr/>
          <p:nvPr/>
        </p:nvSpPr>
        <p:spPr>
          <a:xfrm>
            <a:off x="7086600" y="1627632"/>
            <a:ext cx="4297680" cy="365760"/>
          </a:xfrm>
          <a:prstGeom prst="rect">
            <a:avLst/>
          </a:prstGeom>
          <a:noFill/>
          <a:ln/>
        </p:spPr>
        <p:txBody>
          <a:bodyPr wrap="square" rtlCol="0" anchor="ctr"/>
          <a:lstStyle/>
          <a:p>
            <a:pPr indent="0" marL="0">
              <a:buNone/>
            </a:pPr>
            <a:r>
              <a:rPr lang="en-US" sz="1550" b="1" dirty="0">
                <a:solidFill>
                  <a:srgbClr val="FFFFFF"/>
                </a:solidFill>
                <a:latin typeface="Cambria" pitchFamily="34" charset="0"/>
                <a:ea typeface="Cambria" pitchFamily="34" charset="-122"/>
                <a:cs typeface="Cambria" pitchFamily="34" charset="-120"/>
              </a:rPr>
              <a:t>SINO-INDIAN WAR</a:t>
            </a:r>
            <a:endParaRPr lang="en-US" sz="1550" dirty="0"/>
          </a:p>
        </p:txBody>
      </p:sp>
      <p:sp>
        <p:nvSpPr>
          <p:cNvPr id="17" name="Text 13"/>
          <p:cNvSpPr/>
          <p:nvPr/>
        </p:nvSpPr>
        <p:spPr>
          <a:xfrm>
            <a:off x="7086600" y="1965960"/>
            <a:ext cx="4297680" cy="320040"/>
          </a:xfrm>
          <a:prstGeom prst="rect">
            <a:avLst/>
          </a:prstGeom>
          <a:noFill/>
          <a:ln/>
        </p:spPr>
        <p:txBody>
          <a:bodyPr wrap="square" rtlCol="0" anchor="ctr"/>
          <a:lstStyle/>
          <a:p>
            <a:pPr indent="0" marL="0">
              <a:buNone/>
            </a:pPr>
            <a:r>
              <a:rPr lang="en-US" sz="1050" i="1" dirty="0">
                <a:solidFill>
                  <a:srgbClr val="EFE8D6"/>
                </a:solidFill>
                <a:latin typeface="Calibri" pitchFamily="34" charset="0"/>
                <a:ea typeface="Calibri" pitchFamily="34" charset="-122"/>
                <a:cs typeface="Calibri" pitchFamily="34" charset="-120"/>
              </a:rPr>
              <a:t>October – November 1962</a:t>
            </a:r>
            <a:endParaRPr lang="en-US" sz="1050" dirty="0"/>
          </a:p>
        </p:txBody>
      </p:sp>
      <p:sp>
        <p:nvSpPr>
          <p:cNvPr id="18" name="Text 14"/>
          <p:cNvSpPr/>
          <p:nvPr/>
        </p:nvSpPr>
        <p:spPr>
          <a:xfrm>
            <a:off x="6464808" y="2606040"/>
            <a:ext cx="4892040" cy="3246120"/>
          </a:xfrm>
          <a:prstGeom prst="rect">
            <a:avLst/>
          </a:prstGeom>
          <a:noFill/>
          <a:ln/>
        </p:spPr>
        <p:txBody>
          <a:bodyPr wrap="square" rtlCol="0" anchor="ctr"/>
          <a:lstStyle/>
          <a:p>
            <a:pPr marL="342900" indent="-342900">
              <a:lnSpc>
                <a:spcPct val="132000"/>
              </a:lnSpc>
              <a:spcAft>
                <a:spcPts val="900"/>
              </a:spcAft>
              <a:buSzPct val="100000"/>
              <a:buChar char="•"/>
            </a:pPr>
            <a:r>
              <a:rPr lang="en-US" sz="1100" dirty="0">
                <a:solidFill>
                  <a:srgbClr val="23281C"/>
                </a:solidFill>
                <a:latin typeface="Calibri" pitchFamily="34" charset="0"/>
                <a:ea typeface="Calibri" pitchFamily="34" charset="-122"/>
                <a:cs typeface="Calibri" pitchFamily="34" charset="-120"/>
              </a:rPr>
              <a:t>Fought over the disputed Himalayan border in Aksai Chin and NEFA (present-day Arunachal Pradesh)</a:t>
            </a:r>
            <a:endParaRPr lang="en-US" sz="1100" dirty="0"/>
          </a:p>
          <a:p>
            <a:pPr marL="342900" indent="-342900">
              <a:lnSpc>
                <a:spcPct val="132000"/>
              </a:lnSpc>
              <a:spcAft>
                <a:spcPts val="900"/>
              </a:spcAft>
              <a:buSzPct val="100000"/>
              <a:buChar char="•"/>
            </a:pPr>
            <a:r>
              <a:rPr lang="en-US" sz="1100" dirty="0">
                <a:solidFill>
                  <a:srgbClr val="23281C"/>
                </a:solidFill>
                <a:latin typeface="Calibri" pitchFamily="34" charset="0"/>
                <a:ea typeface="Calibri" pitchFamily="34" charset="-122"/>
                <a:cs typeface="Calibri" pitchFamily="34" charset="-120"/>
              </a:rPr>
              <a:t>China launched a large-scale offensive across both sectors</a:t>
            </a:r>
            <a:endParaRPr lang="en-US" sz="1100" dirty="0"/>
          </a:p>
          <a:p>
            <a:pPr marL="342900" indent="-342900">
              <a:lnSpc>
                <a:spcPct val="132000"/>
              </a:lnSpc>
              <a:spcAft>
                <a:spcPts val="900"/>
              </a:spcAft>
              <a:buSzPct val="100000"/>
              <a:buChar char="•"/>
            </a:pPr>
            <a:r>
              <a:rPr lang="en-US" sz="1100" dirty="0">
                <a:solidFill>
                  <a:srgbClr val="23281C"/>
                </a:solidFill>
                <a:latin typeface="Calibri" pitchFamily="34" charset="0"/>
                <a:ea typeface="Calibri" pitchFamily="34" charset="-122"/>
                <a:cs typeface="Calibri" pitchFamily="34" charset="-120"/>
              </a:rPr>
              <a:t>Fighting at extreme altitude in harsh winter conditions</a:t>
            </a:r>
            <a:endParaRPr lang="en-US" sz="1100" dirty="0"/>
          </a:p>
          <a:p>
            <a:pPr marL="342900" indent="-342900">
              <a:lnSpc>
                <a:spcPct val="132000"/>
              </a:lnSpc>
              <a:spcAft>
                <a:spcPts val="900"/>
              </a:spcAft>
              <a:buSzPct val="100000"/>
              <a:buChar char="•"/>
            </a:pPr>
            <a:r>
              <a:rPr lang="en-US" sz="1100" dirty="0">
                <a:solidFill>
                  <a:srgbClr val="23281C"/>
                </a:solidFill>
                <a:latin typeface="Calibri" pitchFamily="34" charset="0"/>
                <a:ea typeface="Calibri" pitchFamily="34" charset="-122"/>
                <a:cs typeface="Calibri" pitchFamily="34" charset="-120"/>
              </a:rPr>
              <a:t>China declared a unilateral ceasefire; the boundary dispute (McMahon Line) remains unresolved today</a:t>
            </a:r>
            <a:endParaRPr lang="en-US" sz="1100" dirty="0"/>
          </a:p>
        </p:txBody>
      </p:sp>
      <p:sp>
        <p:nvSpPr>
          <p:cNvPr id="19" name="Text 15"/>
          <p:cNvSpPr/>
          <p:nvPr/>
        </p:nvSpPr>
        <p:spPr>
          <a:xfrm>
            <a:off x="457200" y="6473952"/>
            <a:ext cx="7315200" cy="274320"/>
          </a:xfrm>
          <a:prstGeom prst="rect">
            <a:avLst/>
          </a:prstGeom>
          <a:noFill/>
          <a:ln/>
        </p:spPr>
        <p:txBody>
          <a:bodyPr wrap="square" rtlCol="0" anchor="ctr"/>
          <a:lstStyle/>
          <a:p>
            <a:pPr indent="0" marL="0">
              <a:buNone/>
            </a:pPr>
            <a:r>
              <a:rPr lang="en-US" sz="1000" i="1" dirty="0">
                <a:solidFill>
                  <a:srgbClr val="4A5548"/>
                </a:solidFill>
                <a:latin typeface="Calibri" pitchFamily="34" charset="0"/>
                <a:ea typeface="Calibri" pitchFamily="34" charset="-122"/>
                <a:cs typeface="Calibri" pitchFamily="34" charset="-120"/>
              </a:rPr>
              <a:t>Indian Armed Forces  |  Wars &amp; Conflicts</a:t>
            </a:r>
            <a:endParaRPr lang="en-US" sz="1000" dirty="0"/>
          </a:p>
        </p:txBody>
      </p:sp>
      <p:sp>
        <p:nvSpPr>
          <p:cNvPr id="20" name="Text 16"/>
          <p:cNvSpPr/>
          <p:nvPr/>
        </p:nvSpPr>
        <p:spPr>
          <a:xfrm>
            <a:off x="11274552" y="6473952"/>
            <a:ext cx="457200" cy="274320"/>
          </a:xfrm>
          <a:prstGeom prst="rect">
            <a:avLst/>
          </a:prstGeom>
          <a:noFill/>
          <a:ln/>
        </p:spPr>
        <p:txBody>
          <a:bodyPr wrap="square" rtlCol="0" anchor="ctr"/>
          <a:lstStyle/>
          <a:p>
            <a:pPr algn="r" indent="0" marL="0">
              <a:buNone/>
            </a:pPr>
            <a:r>
              <a:rPr lang="en-US" sz="1000" dirty="0">
                <a:solidFill>
                  <a:srgbClr val="4A5548"/>
                </a:solidFill>
                <a:latin typeface="Calibri" pitchFamily="34" charset="0"/>
                <a:ea typeface="Calibri" pitchFamily="34" charset="-122"/>
                <a:cs typeface="Calibri" pitchFamily="34" charset="-120"/>
              </a:rPr>
              <a:t>15</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EFE8D6"/>
          </a:solidFill>
          <a:ln/>
        </p:spPr>
      </p:sp>
      <p:sp>
        <p:nvSpPr>
          <p:cNvPr id="3" name="Text 1"/>
          <p:cNvSpPr/>
          <p:nvPr/>
        </p:nvSpPr>
        <p:spPr>
          <a:xfrm>
            <a:off x="566928" y="137160"/>
            <a:ext cx="7315200" cy="274320"/>
          </a:xfrm>
          <a:prstGeom prst="rect">
            <a:avLst/>
          </a:prstGeom>
          <a:noFill/>
          <a:ln/>
        </p:spPr>
        <p:txBody>
          <a:bodyPr wrap="square" rtlCol="0" anchor="ctr"/>
          <a:lstStyle/>
          <a:p>
            <a:pPr indent="0" marL="0">
              <a:buNone/>
            </a:pPr>
            <a:r>
              <a:rPr lang="en-US" sz="1200" b="1" spc="200" kern="0" dirty="0">
                <a:solidFill>
                  <a:srgbClr val="B8912F"/>
                </a:solidFill>
                <a:latin typeface="Calibri" pitchFamily="34" charset="0"/>
                <a:ea typeface="Calibri" pitchFamily="34" charset="-122"/>
                <a:cs typeface="Calibri" pitchFamily="34" charset="-120"/>
              </a:rPr>
              <a:t>MILITARY HISTORY</a:t>
            </a:r>
            <a:endParaRPr lang="en-US" sz="1200" dirty="0"/>
          </a:p>
        </p:txBody>
      </p:sp>
      <p:sp>
        <p:nvSpPr>
          <p:cNvPr id="4" name="Text 2"/>
          <p:cNvSpPr/>
          <p:nvPr/>
        </p:nvSpPr>
        <p:spPr>
          <a:xfrm>
            <a:off x="548640" y="365760"/>
            <a:ext cx="11091672" cy="685800"/>
          </a:xfrm>
          <a:prstGeom prst="rect">
            <a:avLst/>
          </a:prstGeom>
          <a:noFill/>
          <a:ln/>
        </p:spPr>
        <p:txBody>
          <a:bodyPr wrap="square" rtlCol="0" anchor="ctr"/>
          <a:lstStyle/>
          <a:p>
            <a:pPr indent="0" marL="0">
              <a:buNone/>
            </a:pPr>
            <a:r>
              <a:rPr lang="en-US" sz="3000" b="1" dirty="0">
                <a:solidFill>
                  <a:srgbClr val="23281C"/>
                </a:solidFill>
                <a:latin typeface="Cambria" pitchFamily="34" charset="0"/>
                <a:ea typeface="Cambria" pitchFamily="34" charset="-122"/>
                <a:cs typeface="Cambria" pitchFamily="34" charset="-120"/>
              </a:rPr>
              <a:t>The 1965 War &amp; the Bangladesh Liberation War</a:t>
            </a:r>
            <a:endParaRPr lang="en-US" sz="3000" dirty="0"/>
          </a:p>
        </p:txBody>
      </p:sp>
      <p:sp>
        <p:nvSpPr>
          <p:cNvPr id="5" name="Shape 3"/>
          <p:cNvSpPr/>
          <p:nvPr/>
        </p:nvSpPr>
        <p:spPr>
          <a:xfrm>
            <a:off x="548640" y="1600200"/>
            <a:ext cx="5440680" cy="4434840"/>
          </a:xfrm>
          <a:prstGeom prst="roundRect">
            <a:avLst>
              <a:gd name="adj" fmla="val 2062"/>
            </a:avLst>
          </a:prstGeom>
          <a:solidFill>
            <a:srgbClr val="FFFFFF"/>
          </a:solidFill>
          <a:ln w="12700">
            <a:solidFill>
              <a:srgbClr val="E2D9C0"/>
            </a:solidFill>
            <a:prstDash val="solid"/>
          </a:ln>
          <a:effectLst>
            <a:outerShdw sx="100000" sy="100000" kx="0" ky="0" algn="bl" rotWithShape="0" blurRad="76200" dist="25400" dir="5400000">
              <a:srgbClr val="000000">
                <a:alpha val="15000"/>
              </a:srgbClr>
            </a:outerShdw>
          </a:effectLst>
        </p:spPr>
      </p:sp>
      <p:sp>
        <p:nvSpPr>
          <p:cNvPr id="6" name="Shape 4"/>
          <p:cNvSpPr/>
          <p:nvPr/>
        </p:nvSpPr>
        <p:spPr>
          <a:xfrm>
            <a:off x="548640" y="1600200"/>
            <a:ext cx="5440680" cy="822960"/>
          </a:xfrm>
          <a:prstGeom prst="rect">
            <a:avLst/>
          </a:prstGeom>
          <a:solidFill>
            <a:srgbClr val="2E3B24"/>
          </a:solidFill>
          <a:ln/>
        </p:spPr>
      </p:sp>
      <p:sp>
        <p:nvSpPr>
          <p:cNvPr id="7" name="Shape 5"/>
          <p:cNvSpPr/>
          <p:nvPr/>
        </p:nvSpPr>
        <p:spPr>
          <a:xfrm>
            <a:off x="804672" y="1764792"/>
            <a:ext cx="502920" cy="502920"/>
          </a:xfrm>
          <a:prstGeom prst="ellipse">
            <a:avLst/>
          </a:prstGeom>
          <a:solidFill>
            <a:srgbClr val="23281C"/>
          </a:solidFill>
          <a:ln/>
        </p:spPr>
      </p:sp>
      <p:pic>
        <p:nvPicPr>
          <p:cNvPr id="8" name="Image 0" descr="/home/claude/ppt/icons/tank.png">    </p:cNvPr>
          <p:cNvPicPr>
            <a:picLocks noChangeAspect="1"/>
          </p:cNvPicPr>
          <p:nvPr/>
        </p:nvPicPr>
        <p:blipFill>
          <a:blip r:embed="rId1"/>
          <a:stretch>
            <a:fillRect/>
          </a:stretch>
        </p:blipFill>
        <p:spPr>
          <a:xfrm>
            <a:off x="900227" y="1860347"/>
            <a:ext cx="311810" cy="311810"/>
          </a:xfrm>
          <a:prstGeom prst="rect">
            <a:avLst/>
          </a:prstGeom>
        </p:spPr>
      </p:pic>
      <p:sp>
        <p:nvSpPr>
          <p:cNvPr id="9" name="Text 6"/>
          <p:cNvSpPr/>
          <p:nvPr/>
        </p:nvSpPr>
        <p:spPr>
          <a:xfrm>
            <a:off x="1463040" y="1627632"/>
            <a:ext cx="4297680" cy="365760"/>
          </a:xfrm>
          <a:prstGeom prst="rect">
            <a:avLst/>
          </a:prstGeom>
          <a:noFill/>
          <a:ln/>
        </p:spPr>
        <p:txBody>
          <a:bodyPr wrap="square" rtlCol="0" anchor="ctr"/>
          <a:lstStyle/>
          <a:p>
            <a:pPr indent="0" marL="0">
              <a:buNone/>
            </a:pPr>
            <a:r>
              <a:rPr lang="en-US" sz="1550" b="1" dirty="0">
                <a:solidFill>
                  <a:srgbClr val="FFFFFF"/>
                </a:solidFill>
                <a:latin typeface="Cambria" pitchFamily="34" charset="0"/>
                <a:ea typeface="Cambria" pitchFamily="34" charset="-122"/>
                <a:cs typeface="Cambria" pitchFamily="34" charset="-120"/>
              </a:rPr>
              <a:t>SECOND INDO-PAK WAR</a:t>
            </a:r>
            <a:endParaRPr lang="en-US" sz="1550" dirty="0"/>
          </a:p>
        </p:txBody>
      </p:sp>
      <p:sp>
        <p:nvSpPr>
          <p:cNvPr id="10" name="Text 7"/>
          <p:cNvSpPr/>
          <p:nvPr/>
        </p:nvSpPr>
        <p:spPr>
          <a:xfrm>
            <a:off x="1463040" y="1965960"/>
            <a:ext cx="4297680" cy="320040"/>
          </a:xfrm>
          <a:prstGeom prst="rect">
            <a:avLst/>
          </a:prstGeom>
          <a:noFill/>
          <a:ln/>
        </p:spPr>
        <p:txBody>
          <a:bodyPr wrap="square" rtlCol="0" anchor="ctr"/>
          <a:lstStyle/>
          <a:p>
            <a:pPr indent="0" marL="0">
              <a:buNone/>
            </a:pPr>
            <a:r>
              <a:rPr lang="en-US" sz="1050" i="1" dirty="0">
                <a:solidFill>
                  <a:srgbClr val="EFE8D6"/>
                </a:solidFill>
                <a:latin typeface="Calibri" pitchFamily="34" charset="0"/>
                <a:ea typeface="Calibri" pitchFamily="34" charset="-122"/>
                <a:cs typeface="Calibri" pitchFamily="34" charset="-120"/>
              </a:rPr>
              <a:t>August – September 1965</a:t>
            </a:r>
            <a:endParaRPr lang="en-US" sz="1050" dirty="0"/>
          </a:p>
        </p:txBody>
      </p:sp>
      <p:sp>
        <p:nvSpPr>
          <p:cNvPr id="11" name="Text 8"/>
          <p:cNvSpPr/>
          <p:nvPr/>
        </p:nvSpPr>
        <p:spPr>
          <a:xfrm>
            <a:off x="841248" y="2606040"/>
            <a:ext cx="4892040" cy="3246120"/>
          </a:xfrm>
          <a:prstGeom prst="rect">
            <a:avLst/>
          </a:prstGeom>
          <a:noFill/>
          <a:ln/>
        </p:spPr>
        <p:txBody>
          <a:bodyPr wrap="square" rtlCol="0" anchor="ctr"/>
          <a:lstStyle/>
          <a:p>
            <a:pPr marL="342900" indent="-342900">
              <a:lnSpc>
                <a:spcPct val="132000"/>
              </a:lnSpc>
              <a:spcAft>
                <a:spcPts val="900"/>
              </a:spcAft>
              <a:buSzPct val="100000"/>
              <a:buChar char="•"/>
            </a:pPr>
            <a:r>
              <a:rPr lang="en-US" sz="1100" dirty="0">
                <a:solidFill>
                  <a:srgbClr val="23281C"/>
                </a:solidFill>
                <a:latin typeface="Calibri" pitchFamily="34" charset="0"/>
                <a:ea typeface="Calibri" pitchFamily="34" charset="-122"/>
                <a:cs typeface="Calibri" pitchFamily="34" charset="-120"/>
              </a:rPr>
              <a:t>Triggered by Pakistan's Operation Gibraltar — infiltration of forces into Jammu &amp; Kashmir</a:t>
            </a:r>
            <a:endParaRPr lang="en-US" sz="1100" dirty="0"/>
          </a:p>
          <a:p>
            <a:pPr marL="342900" indent="-342900">
              <a:lnSpc>
                <a:spcPct val="132000"/>
              </a:lnSpc>
              <a:spcAft>
                <a:spcPts val="900"/>
              </a:spcAft>
              <a:buSzPct val="100000"/>
              <a:buChar char="•"/>
            </a:pPr>
            <a:r>
              <a:rPr lang="en-US" sz="1100" dirty="0">
                <a:solidFill>
                  <a:srgbClr val="23281C"/>
                </a:solidFill>
                <a:latin typeface="Calibri" pitchFamily="34" charset="0"/>
                <a:ea typeface="Calibri" pitchFamily="34" charset="-122"/>
                <a:cs typeface="Calibri" pitchFamily="34" charset="-120"/>
              </a:rPr>
              <a:t>Full-scale war followed, including one of history's largest tank battles at Asal Uttar</a:t>
            </a:r>
            <a:endParaRPr lang="en-US" sz="1100" dirty="0"/>
          </a:p>
          <a:p>
            <a:pPr marL="342900" indent="-342900">
              <a:lnSpc>
                <a:spcPct val="132000"/>
              </a:lnSpc>
              <a:spcAft>
                <a:spcPts val="900"/>
              </a:spcAft>
              <a:buSzPct val="100000"/>
              <a:buChar char="•"/>
            </a:pPr>
            <a:r>
              <a:rPr lang="en-US" sz="1100" dirty="0">
                <a:solidFill>
                  <a:srgbClr val="23281C"/>
                </a:solidFill>
                <a:latin typeface="Calibri" pitchFamily="34" charset="0"/>
                <a:ea typeface="Calibri" pitchFamily="34" charset="-122"/>
                <a:cs typeface="Calibri" pitchFamily="34" charset="-120"/>
              </a:rPr>
              <a:t>Fighting spread across Punjab, Rajasthan and Kashmir sectors</a:t>
            </a:r>
            <a:endParaRPr lang="en-US" sz="1100" dirty="0"/>
          </a:p>
          <a:p>
            <a:pPr marL="342900" indent="-342900">
              <a:lnSpc>
                <a:spcPct val="132000"/>
              </a:lnSpc>
              <a:spcAft>
                <a:spcPts val="900"/>
              </a:spcAft>
              <a:buSzPct val="100000"/>
              <a:buChar char="•"/>
            </a:pPr>
            <a:r>
              <a:rPr lang="en-US" sz="1100" dirty="0">
                <a:solidFill>
                  <a:srgbClr val="23281C"/>
                </a:solidFill>
                <a:latin typeface="Calibri" pitchFamily="34" charset="0"/>
                <a:ea typeface="Calibri" pitchFamily="34" charset="-122"/>
                <a:cs typeface="Calibri" pitchFamily="34" charset="-120"/>
              </a:rPr>
              <a:t>Ended via the Soviet-mediated Tashkent Agreement (Jan 1966); pre-war positions largely restored</a:t>
            </a:r>
            <a:endParaRPr lang="en-US" sz="1100" dirty="0"/>
          </a:p>
        </p:txBody>
      </p:sp>
      <p:sp>
        <p:nvSpPr>
          <p:cNvPr id="12" name="Shape 9"/>
          <p:cNvSpPr/>
          <p:nvPr/>
        </p:nvSpPr>
        <p:spPr>
          <a:xfrm>
            <a:off x="6172200" y="1600200"/>
            <a:ext cx="5440680" cy="4434840"/>
          </a:xfrm>
          <a:prstGeom prst="roundRect">
            <a:avLst>
              <a:gd name="adj" fmla="val 2062"/>
            </a:avLst>
          </a:prstGeom>
          <a:solidFill>
            <a:srgbClr val="FFFFFF"/>
          </a:solidFill>
          <a:ln w="12700">
            <a:solidFill>
              <a:srgbClr val="E2D9C0"/>
            </a:solidFill>
            <a:prstDash val="solid"/>
          </a:ln>
          <a:effectLst>
            <a:outerShdw sx="100000" sy="100000" kx="0" ky="0" algn="bl" rotWithShape="0" blurRad="76200" dist="25400" dir="5400000">
              <a:srgbClr val="000000">
                <a:alpha val="15000"/>
              </a:srgbClr>
            </a:outerShdw>
          </a:effectLst>
        </p:spPr>
      </p:sp>
      <p:sp>
        <p:nvSpPr>
          <p:cNvPr id="13" name="Shape 10"/>
          <p:cNvSpPr/>
          <p:nvPr/>
        </p:nvSpPr>
        <p:spPr>
          <a:xfrm>
            <a:off x="6172200" y="1600200"/>
            <a:ext cx="5440680" cy="822960"/>
          </a:xfrm>
          <a:prstGeom prst="rect">
            <a:avLst/>
          </a:prstGeom>
          <a:solidFill>
            <a:srgbClr val="B8912F"/>
          </a:solidFill>
          <a:ln/>
        </p:spPr>
      </p:sp>
      <p:sp>
        <p:nvSpPr>
          <p:cNvPr id="14" name="Shape 11"/>
          <p:cNvSpPr/>
          <p:nvPr/>
        </p:nvSpPr>
        <p:spPr>
          <a:xfrm>
            <a:off x="6428232" y="1764792"/>
            <a:ext cx="502920" cy="502920"/>
          </a:xfrm>
          <a:prstGeom prst="ellipse">
            <a:avLst/>
          </a:prstGeom>
          <a:solidFill>
            <a:srgbClr val="23281C"/>
          </a:solidFill>
          <a:ln/>
        </p:spPr>
      </p:sp>
      <p:pic>
        <p:nvPicPr>
          <p:cNvPr id="15" name="Image 1" descr="/home/claude/ppt/icons/flag.png">    </p:cNvPr>
          <p:cNvPicPr>
            <a:picLocks noChangeAspect="1"/>
          </p:cNvPicPr>
          <p:nvPr/>
        </p:nvPicPr>
        <p:blipFill>
          <a:blip r:embed="rId2"/>
          <a:stretch>
            <a:fillRect/>
          </a:stretch>
        </p:blipFill>
        <p:spPr>
          <a:xfrm>
            <a:off x="6523787" y="1860347"/>
            <a:ext cx="311810" cy="311810"/>
          </a:xfrm>
          <a:prstGeom prst="rect">
            <a:avLst/>
          </a:prstGeom>
        </p:spPr>
      </p:pic>
      <p:sp>
        <p:nvSpPr>
          <p:cNvPr id="16" name="Text 12"/>
          <p:cNvSpPr/>
          <p:nvPr/>
        </p:nvSpPr>
        <p:spPr>
          <a:xfrm>
            <a:off x="7086600" y="1627632"/>
            <a:ext cx="4297680" cy="365760"/>
          </a:xfrm>
          <a:prstGeom prst="rect">
            <a:avLst/>
          </a:prstGeom>
          <a:noFill/>
          <a:ln/>
        </p:spPr>
        <p:txBody>
          <a:bodyPr wrap="square" rtlCol="0" anchor="ctr"/>
          <a:lstStyle/>
          <a:p>
            <a:pPr indent="0" marL="0">
              <a:buNone/>
            </a:pPr>
            <a:r>
              <a:rPr lang="en-US" sz="1550" b="1" dirty="0">
                <a:solidFill>
                  <a:srgbClr val="FFFFFF"/>
                </a:solidFill>
                <a:latin typeface="Cambria" pitchFamily="34" charset="0"/>
                <a:ea typeface="Cambria" pitchFamily="34" charset="-122"/>
                <a:cs typeface="Cambria" pitchFamily="34" charset="-120"/>
              </a:rPr>
              <a:t>BANGLADESH LIBERATION WAR</a:t>
            </a:r>
            <a:endParaRPr lang="en-US" sz="1550" dirty="0"/>
          </a:p>
        </p:txBody>
      </p:sp>
      <p:sp>
        <p:nvSpPr>
          <p:cNvPr id="17" name="Text 13"/>
          <p:cNvSpPr/>
          <p:nvPr/>
        </p:nvSpPr>
        <p:spPr>
          <a:xfrm>
            <a:off x="7086600" y="1965960"/>
            <a:ext cx="4297680" cy="320040"/>
          </a:xfrm>
          <a:prstGeom prst="rect">
            <a:avLst/>
          </a:prstGeom>
          <a:noFill/>
          <a:ln/>
        </p:spPr>
        <p:txBody>
          <a:bodyPr wrap="square" rtlCol="0" anchor="ctr"/>
          <a:lstStyle/>
          <a:p>
            <a:pPr indent="0" marL="0">
              <a:buNone/>
            </a:pPr>
            <a:r>
              <a:rPr lang="en-US" sz="1050" i="1" dirty="0">
                <a:solidFill>
                  <a:srgbClr val="EFE8D6"/>
                </a:solidFill>
                <a:latin typeface="Calibri" pitchFamily="34" charset="0"/>
                <a:ea typeface="Calibri" pitchFamily="34" charset="-122"/>
                <a:cs typeface="Calibri" pitchFamily="34" charset="-120"/>
              </a:rPr>
              <a:t>3–16 December 1971 (full war)</a:t>
            </a:r>
            <a:endParaRPr lang="en-US" sz="1050" dirty="0"/>
          </a:p>
        </p:txBody>
      </p:sp>
      <p:sp>
        <p:nvSpPr>
          <p:cNvPr id="18" name="Text 14"/>
          <p:cNvSpPr/>
          <p:nvPr/>
        </p:nvSpPr>
        <p:spPr>
          <a:xfrm>
            <a:off x="6464808" y="2606040"/>
            <a:ext cx="4892040" cy="3246120"/>
          </a:xfrm>
          <a:prstGeom prst="rect">
            <a:avLst/>
          </a:prstGeom>
          <a:noFill/>
          <a:ln/>
        </p:spPr>
        <p:txBody>
          <a:bodyPr wrap="square" rtlCol="0" anchor="ctr"/>
          <a:lstStyle/>
          <a:p>
            <a:pPr marL="342900" indent="-342900">
              <a:lnSpc>
                <a:spcPct val="132000"/>
              </a:lnSpc>
              <a:spcAft>
                <a:spcPts val="900"/>
              </a:spcAft>
              <a:buSzPct val="100000"/>
              <a:buChar char="•"/>
            </a:pPr>
            <a:r>
              <a:rPr lang="en-US" sz="1100" dirty="0">
                <a:solidFill>
                  <a:srgbClr val="23281C"/>
                </a:solidFill>
                <a:latin typeface="Calibri" pitchFamily="34" charset="0"/>
                <a:ea typeface="Calibri" pitchFamily="34" charset="-122"/>
                <a:cs typeface="Calibri" pitchFamily="34" charset="-120"/>
              </a:rPr>
              <a:t>Followed a massive refugee crisis as India supported the Mukti Bahini resistance in East Pakistan</a:t>
            </a:r>
            <a:endParaRPr lang="en-US" sz="1100" dirty="0"/>
          </a:p>
          <a:p>
            <a:pPr marL="342900" indent="-342900">
              <a:lnSpc>
                <a:spcPct val="132000"/>
              </a:lnSpc>
              <a:spcAft>
                <a:spcPts val="900"/>
              </a:spcAft>
              <a:buSzPct val="100000"/>
              <a:buChar char="•"/>
            </a:pPr>
            <a:r>
              <a:rPr lang="en-US" sz="1100" dirty="0">
                <a:solidFill>
                  <a:srgbClr val="23281C"/>
                </a:solidFill>
                <a:latin typeface="Calibri" pitchFamily="34" charset="0"/>
                <a:ea typeface="Calibri" pitchFamily="34" charset="-122"/>
                <a:cs typeface="Calibri" pitchFamily="34" charset="-120"/>
              </a:rPr>
              <a:t>India fought a coordinated two-front war on land, sea and air</a:t>
            </a:r>
            <a:endParaRPr lang="en-US" sz="1100" dirty="0"/>
          </a:p>
          <a:p>
            <a:pPr marL="342900" indent="-342900">
              <a:lnSpc>
                <a:spcPct val="132000"/>
              </a:lnSpc>
              <a:spcAft>
                <a:spcPts val="900"/>
              </a:spcAft>
              <a:buSzPct val="100000"/>
              <a:buChar char="•"/>
            </a:pPr>
            <a:r>
              <a:rPr lang="en-US" sz="1100" dirty="0">
                <a:solidFill>
                  <a:srgbClr val="23281C"/>
                </a:solidFill>
                <a:latin typeface="Calibri" pitchFamily="34" charset="0"/>
                <a:ea typeface="Calibri" pitchFamily="34" charset="-122"/>
                <a:cs typeface="Calibri" pitchFamily="34" charset="-120"/>
              </a:rPr>
              <a:t>Pakistani forces surrendered at Dhaka on 16 Dec 1971 — about 93,000 troops, one of the largest surrenders since WWII</a:t>
            </a:r>
            <a:endParaRPr lang="en-US" sz="1100" dirty="0"/>
          </a:p>
          <a:p>
            <a:pPr marL="342900" indent="-342900">
              <a:lnSpc>
                <a:spcPct val="132000"/>
              </a:lnSpc>
              <a:spcAft>
                <a:spcPts val="900"/>
              </a:spcAft>
              <a:buSzPct val="100000"/>
              <a:buChar char="•"/>
            </a:pPr>
            <a:r>
              <a:rPr lang="en-US" sz="1100" dirty="0">
                <a:solidFill>
                  <a:srgbClr val="23281C"/>
                </a:solidFill>
                <a:latin typeface="Calibri" pitchFamily="34" charset="0"/>
                <a:ea typeface="Calibri" pitchFamily="34" charset="-122"/>
                <a:cs typeface="Calibri" pitchFamily="34" charset="-120"/>
              </a:rPr>
              <a:t>Led directly to the creation of Bangladesh; formalised by the 1972 Simla Agreement</a:t>
            </a:r>
            <a:endParaRPr lang="en-US" sz="1100" dirty="0"/>
          </a:p>
        </p:txBody>
      </p:sp>
      <p:sp>
        <p:nvSpPr>
          <p:cNvPr id="19" name="Text 15"/>
          <p:cNvSpPr/>
          <p:nvPr/>
        </p:nvSpPr>
        <p:spPr>
          <a:xfrm>
            <a:off x="457200" y="6473952"/>
            <a:ext cx="7315200" cy="274320"/>
          </a:xfrm>
          <a:prstGeom prst="rect">
            <a:avLst/>
          </a:prstGeom>
          <a:noFill/>
          <a:ln/>
        </p:spPr>
        <p:txBody>
          <a:bodyPr wrap="square" rtlCol="0" anchor="ctr"/>
          <a:lstStyle/>
          <a:p>
            <a:pPr indent="0" marL="0">
              <a:buNone/>
            </a:pPr>
            <a:r>
              <a:rPr lang="en-US" sz="1000" i="1" dirty="0">
                <a:solidFill>
                  <a:srgbClr val="4A5548"/>
                </a:solidFill>
                <a:latin typeface="Calibri" pitchFamily="34" charset="0"/>
                <a:ea typeface="Calibri" pitchFamily="34" charset="-122"/>
                <a:cs typeface="Calibri" pitchFamily="34" charset="-120"/>
              </a:rPr>
              <a:t>Indian Armed Forces  |  Wars &amp; Conflicts</a:t>
            </a:r>
            <a:endParaRPr lang="en-US" sz="1000" dirty="0"/>
          </a:p>
        </p:txBody>
      </p:sp>
      <p:sp>
        <p:nvSpPr>
          <p:cNvPr id="20" name="Text 16"/>
          <p:cNvSpPr/>
          <p:nvPr/>
        </p:nvSpPr>
        <p:spPr>
          <a:xfrm>
            <a:off x="11274552" y="6473952"/>
            <a:ext cx="457200" cy="274320"/>
          </a:xfrm>
          <a:prstGeom prst="rect">
            <a:avLst/>
          </a:prstGeom>
          <a:noFill/>
          <a:ln/>
        </p:spPr>
        <p:txBody>
          <a:bodyPr wrap="square" rtlCol="0" anchor="ctr"/>
          <a:lstStyle/>
          <a:p>
            <a:pPr algn="r" indent="0" marL="0">
              <a:buNone/>
            </a:pPr>
            <a:r>
              <a:rPr lang="en-US" sz="1000" dirty="0">
                <a:solidFill>
                  <a:srgbClr val="4A5548"/>
                </a:solidFill>
                <a:latin typeface="Calibri" pitchFamily="34" charset="0"/>
                <a:ea typeface="Calibri" pitchFamily="34" charset="-122"/>
                <a:cs typeface="Calibri" pitchFamily="34" charset="-120"/>
              </a:rPr>
              <a:t>16</a:t>
            </a:r>
            <a:endParaRPr lang="en-US" sz="1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EFE8D6"/>
          </a:solidFill>
          <a:ln/>
        </p:spPr>
      </p:sp>
      <p:sp>
        <p:nvSpPr>
          <p:cNvPr id="3" name="Text 1"/>
          <p:cNvSpPr/>
          <p:nvPr/>
        </p:nvSpPr>
        <p:spPr>
          <a:xfrm>
            <a:off x="566928" y="137160"/>
            <a:ext cx="7315200" cy="274320"/>
          </a:xfrm>
          <a:prstGeom prst="rect">
            <a:avLst/>
          </a:prstGeom>
          <a:noFill/>
          <a:ln/>
        </p:spPr>
        <p:txBody>
          <a:bodyPr wrap="square" rtlCol="0" anchor="ctr"/>
          <a:lstStyle/>
          <a:p>
            <a:pPr indent="0" marL="0">
              <a:buNone/>
            </a:pPr>
            <a:r>
              <a:rPr lang="en-US" sz="1200" b="1" spc="200" kern="0" dirty="0">
                <a:solidFill>
                  <a:srgbClr val="B8912F"/>
                </a:solidFill>
                <a:latin typeface="Calibri" pitchFamily="34" charset="0"/>
                <a:ea typeface="Calibri" pitchFamily="34" charset="-122"/>
                <a:cs typeface="Calibri" pitchFamily="34" charset="-120"/>
              </a:rPr>
              <a:t>MILITARY HISTORY</a:t>
            </a:r>
            <a:endParaRPr lang="en-US" sz="1200" dirty="0"/>
          </a:p>
        </p:txBody>
      </p:sp>
      <p:sp>
        <p:nvSpPr>
          <p:cNvPr id="4" name="Text 2"/>
          <p:cNvSpPr/>
          <p:nvPr/>
        </p:nvSpPr>
        <p:spPr>
          <a:xfrm>
            <a:off x="548640" y="365760"/>
            <a:ext cx="11091672" cy="685800"/>
          </a:xfrm>
          <a:prstGeom prst="rect">
            <a:avLst/>
          </a:prstGeom>
          <a:noFill/>
          <a:ln/>
        </p:spPr>
        <p:txBody>
          <a:bodyPr wrap="square" rtlCol="0" anchor="ctr"/>
          <a:lstStyle/>
          <a:p>
            <a:pPr indent="0" marL="0">
              <a:buNone/>
            </a:pPr>
            <a:r>
              <a:rPr lang="en-US" sz="3000" b="1" dirty="0">
                <a:solidFill>
                  <a:srgbClr val="23281C"/>
                </a:solidFill>
                <a:latin typeface="Cambria" pitchFamily="34" charset="0"/>
                <a:ea typeface="Cambria" pitchFamily="34" charset="-122"/>
                <a:cs typeface="Cambria" pitchFamily="34" charset="-120"/>
              </a:rPr>
              <a:t>Siachen Glacier &amp; the Kargil War</a:t>
            </a:r>
            <a:endParaRPr lang="en-US" sz="3000" dirty="0"/>
          </a:p>
        </p:txBody>
      </p:sp>
      <p:sp>
        <p:nvSpPr>
          <p:cNvPr id="5" name="Shape 3"/>
          <p:cNvSpPr/>
          <p:nvPr/>
        </p:nvSpPr>
        <p:spPr>
          <a:xfrm>
            <a:off x="548640" y="1600200"/>
            <a:ext cx="5440680" cy="4434840"/>
          </a:xfrm>
          <a:prstGeom prst="roundRect">
            <a:avLst>
              <a:gd name="adj" fmla="val 2062"/>
            </a:avLst>
          </a:prstGeom>
          <a:solidFill>
            <a:srgbClr val="FFFFFF"/>
          </a:solidFill>
          <a:ln w="12700">
            <a:solidFill>
              <a:srgbClr val="E2D9C0"/>
            </a:solidFill>
            <a:prstDash val="solid"/>
          </a:ln>
          <a:effectLst>
            <a:outerShdw sx="100000" sy="100000" kx="0" ky="0" algn="bl" rotWithShape="0" blurRad="76200" dist="25400" dir="5400000">
              <a:srgbClr val="000000">
                <a:alpha val="15000"/>
              </a:srgbClr>
            </a:outerShdw>
          </a:effectLst>
        </p:spPr>
      </p:sp>
      <p:sp>
        <p:nvSpPr>
          <p:cNvPr id="6" name="Shape 4"/>
          <p:cNvSpPr/>
          <p:nvPr/>
        </p:nvSpPr>
        <p:spPr>
          <a:xfrm>
            <a:off x="548640" y="1600200"/>
            <a:ext cx="5440680" cy="822960"/>
          </a:xfrm>
          <a:prstGeom prst="rect">
            <a:avLst/>
          </a:prstGeom>
          <a:solidFill>
            <a:srgbClr val="3E5C76"/>
          </a:solidFill>
          <a:ln/>
        </p:spPr>
      </p:sp>
      <p:sp>
        <p:nvSpPr>
          <p:cNvPr id="7" name="Shape 5"/>
          <p:cNvSpPr/>
          <p:nvPr/>
        </p:nvSpPr>
        <p:spPr>
          <a:xfrm>
            <a:off x="804672" y="1764792"/>
            <a:ext cx="502920" cy="502920"/>
          </a:xfrm>
          <a:prstGeom prst="ellipse">
            <a:avLst/>
          </a:prstGeom>
          <a:solidFill>
            <a:srgbClr val="23281C"/>
          </a:solidFill>
          <a:ln/>
        </p:spPr>
      </p:sp>
      <p:pic>
        <p:nvPicPr>
          <p:cNvPr id="8" name="Image 0" descr="/home/claude/ppt/icons/mountain.png">    </p:cNvPr>
          <p:cNvPicPr>
            <a:picLocks noChangeAspect="1"/>
          </p:cNvPicPr>
          <p:nvPr/>
        </p:nvPicPr>
        <p:blipFill>
          <a:blip r:embed="rId1"/>
          <a:stretch>
            <a:fillRect/>
          </a:stretch>
        </p:blipFill>
        <p:spPr>
          <a:xfrm>
            <a:off x="900227" y="1860347"/>
            <a:ext cx="311810" cy="311810"/>
          </a:xfrm>
          <a:prstGeom prst="rect">
            <a:avLst/>
          </a:prstGeom>
        </p:spPr>
      </p:pic>
      <p:sp>
        <p:nvSpPr>
          <p:cNvPr id="9" name="Text 6"/>
          <p:cNvSpPr/>
          <p:nvPr/>
        </p:nvSpPr>
        <p:spPr>
          <a:xfrm>
            <a:off x="1463040" y="1627632"/>
            <a:ext cx="4297680" cy="365760"/>
          </a:xfrm>
          <a:prstGeom prst="rect">
            <a:avLst/>
          </a:prstGeom>
          <a:noFill/>
          <a:ln/>
        </p:spPr>
        <p:txBody>
          <a:bodyPr wrap="square" rtlCol="0" anchor="ctr"/>
          <a:lstStyle/>
          <a:p>
            <a:pPr indent="0" marL="0">
              <a:buNone/>
            </a:pPr>
            <a:r>
              <a:rPr lang="en-US" sz="1550" b="1" dirty="0">
                <a:solidFill>
                  <a:srgbClr val="FFFFFF"/>
                </a:solidFill>
                <a:latin typeface="Cambria" pitchFamily="34" charset="0"/>
                <a:ea typeface="Cambria" pitchFamily="34" charset="-122"/>
                <a:cs typeface="Cambria" pitchFamily="34" charset="-120"/>
              </a:rPr>
              <a:t>SIACHEN — OPERATION MEGHDOOT</a:t>
            </a:r>
            <a:endParaRPr lang="en-US" sz="1550" dirty="0"/>
          </a:p>
        </p:txBody>
      </p:sp>
      <p:sp>
        <p:nvSpPr>
          <p:cNvPr id="10" name="Text 7"/>
          <p:cNvSpPr/>
          <p:nvPr/>
        </p:nvSpPr>
        <p:spPr>
          <a:xfrm>
            <a:off x="1463040" y="1965960"/>
            <a:ext cx="4297680" cy="320040"/>
          </a:xfrm>
          <a:prstGeom prst="rect">
            <a:avLst/>
          </a:prstGeom>
          <a:noFill/>
          <a:ln/>
        </p:spPr>
        <p:txBody>
          <a:bodyPr wrap="square" rtlCol="0" anchor="ctr"/>
          <a:lstStyle/>
          <a:p>
            <a:pPr indent="0" marL="0">
              <a:buNone/>
            </a:pPr>
            <a:r>
              <a:rPr lang="en-US" sz="1050" i="1" dirty="0">
                <a:solidFill>
                  <a:srgbClr val="EFE8D6"/>
                </a:solidFill>
                <a:latin typeface="Calibri" pitchFamily="34" charset="0"/>
                <a:ea typeface="Calibri" pitchFamily="34" charset="-122"/>
                <a:cs typeface="Calibri" pitchFamily="34" charset="-120"/>
              </a:rPr>
              <a:t>Since April 1984</a:t>
            </a:r>
            <a:endParaRPr lang="en-US" sz="1050" dirty="0"/>
          </a:p>
        </p:txBody>
      </p:sp>
      <p:sp>
        <p:nvSpPr>
          <p:cNvPr id="11" name="Text 8"/>
          <p:cNvSpPr/>
          <p:nvPr/>
        </p:nvSpPr>
        <p:spPr>
          <a:xfrm>
            <a:off x="841248" y="2606040"/>
            <a:ext cx="4892040" cy="3246120"/>
          </a:xfrm>
          <a:prstGeom prst="rect">
            <a:avLst/>
          </a:prstGeom>
          <a:noFill/>
          <a:ln/>
        </p:spPr>
        <p:txBody>
          <a:bodyPr wrap="square" rtlCol="0" anchor="ctr"/>
          <a:lstStyle/>
          <a:p>
            <a:pPr marL="342900" indent="-342900">
              <a:lnSpc>
                <a:spcPct val="132000"/>
              </a:lnSpc>
              <a:spcAft>
                <a:spcPts val="900"/>
              </a:spcAft>
              <a:buSzPct val="100000"/>
              <a:buChar char="•"/>
            </a:pPr>
            <a:r>
              <a:rPr lang="en-US" sz="1100" dirty="0">
                <a:solidFill>
                  <a:srgbClr val="23281C"/>
                </a:solidFill>
                <a:latin typeface="Calibri" pitchFamily="34" charset="0"/>
                <a:ea typeface="Calibri" pitchFamily="34" charset="-122"/>
                <a:cs typeface="Calibri" pitchFamily="34" charset="-120"/>
              </a:rPr>
              <a:t>India pre-emptively secured the Siachen Glacier, forestalling a reported Pakistani move</a:t>
            </a:r>
            <a:endParaRPr lang="en-US" sz="1100" dirty="0"/>
          </a:p>
          <a:p>
            <a:pPr marL="342900" indent="-342900">
              <a:lnSpc>
                <a:spcPct val="132000"/>
              </a:lnSpc>
              <a:spcAft>
                <a:spcPts val="900"/>
              </a:spcAft>
              <a:buSzPct val="100000"/>
              <a:buChar char="•"/>
            </a:pPr>
            <a:r>
              <a:rPr lang="en-US" sz="1100" dirty="0">
                <a:solidFill>
                  <a:srgbClr val="23281C"/>
                </a:solidFill>
                <a:latin typeface="Calibri" pitchFamily="34" charset="0"/>
                <a:ea typeface="Calibri" pitchFamily="34" charset="-122"/>
                <a:cs typeface="Calibri" pitchFamily="34" charset="-120"/>
              </a:rPr>
              <a:t>World's highest militarised zone, with posts above 20,000 feet</a:t>
            </a:r>
            <a:endParaRPr lang="en-US" sz="1100" dirty="0"/>
          </a:p>
          <a:p>
            <a:pPr marL="342900" indent="-342900">
              <a:lnSpc>
                <a:spcPct val="132000"/>
              </a:lnSpc>
              <a:spcAft>
                <a:spcPts val="900"/>
              </a:spcAft>
              <a:buSzPct val="100000"/>
              <a:buChar char="•"/>
            </a:pPr>
            <a:r>
              <a:rPr lang="en-US" sz="1100" dirty="0">
                <a:solidFill>
                  <a:srgbClr val="23281C"/>
                </a:solidFill>
                <a:latin typeface="Calibri" pitchFamily="34" charset="0"/>
                <a:ea typeface="Calibri" pitchFamily="34" charset="-122"/>
                <a:cs typeface="Calibri" pitchFamily="34" charset="-120"/>
              </a:rPr>
              <a:t>Troops face extreme cold and altitude — historically a greater challenge than enemy fire</a:t>
            </a:r>
            <a:endParaRPr lang="en-US" sz="1100" dirty="0"/>
          </a:p>
          <a:p>
            <a:pPr marL="342900" indent="-342900">
              <a:lnSpc>
                <a:spcPct val="132000"/>
              </a:lnSpc>
              <a:spcAft>
                <a:spcPts val="900"/>
              </a:spcAft>
              <a:buSzPct val="100000"/>
              <a:buChar char="•"/>
            </a:pPr>
            <a:r>
              <a:rPr lang="en-US" sz="1100" dirty="0">
                <a:solidFill>
                  <a:srgbClr val="23281C"/>
                </a:solidFill>
                <a:latin typeface="Calibri" pitchFamily="34" charset="0"/>
                <a:ea typeface="Calibri" pitchFamily="34" charset="-122"/>
                <a:cs typeface="Calibri" pitchFamily="34" charset="-120"/>
              </a:rPr>
              <a:t>India has maintained continuous control of the glacier ever since</a:t>
            </a:r>
            <a:endParaRPr lang="en-US" sz="1100" dirty="0"/>
          </a:p>
        </p:txBody>
      </p:sp>
      <p:sp>
        <p:nvSpPr>
          <p:cNvPr id="12" name="Shape 9"/>
          <p:cNvSpPr/>
          <p:nvPr/>
        </p:nvSpPr>
        <p:spPr>
          <a:xfrm>
            <a:off x="6172200" y="1600200"/>
            <a:ext cx="5440680" cy="4434840"/>
          </a:xfrm>
          <a:prstGeom prst="roundRect">
            <a:avLst>
              <a:gd name="adj" fmla="val 2062"/>
            </a:avLst>
          </a:prstGeom>
          <a:solidFill>
            <a:srgbClr val="FFFFFF"/>
          </a:solidFill>
          <a:ln w="12700">
            <a:solidFill>
              <a:srgbClr val="E2D9C0"/>
            </a:solidFill>
            <a:prstDash val="solid"/>
          </a:ln>
          <a:effectLst>
            <a:outerShdw sx="100000" sy="100000" kx="0" ky="0" algn="bl" rotWithShape="0" blurRad="76200" dist="25400" dir="5400000">
              <a:srgbClr val="000000">
                <a:alpha val="15000"/>
              </a:srgbClr>
            </a:outerShdw>
          </a:effectLst>
        </p:spPr>
      </p:sp>
      <p:sp>
        <p:nvSpPr>
          <p:cNvPr id="13" name="Shape 10"/>
          <p:cNvSpPr/>
          <p:nvPr/>
        </p:nvSpPr>
        <p:spPr>
          <a:xfrm>
            <a:off x="6172200" y="1600200"/>
            <a:ext cx="5440680" cy="822960"/>
          </a:xfrm>
          <a:prstGeom prst="rect">
            <a:avLst/>
          </a:prstGeom>
          <a:solidFill>
            <a:srgbClr val="6B2C2C"/>
          </a:solidFill>
          <a:ln/>
        </p:spPr>
      </p:sp>
      <p:sp>
        <p:nvSpPr>
          <p:cNvPr id="14" name="Shape 11"/>
          <p:cNvSpPr/>
          <p:nvPr/>
        </p:nvSpPr>
        <p:spPr>
          <a:xfrm>
            <a:off x="6428232" y="1764792"/>
            <a:ext cx="502920" cy="502920"/>
          </a:xfrm>
          <a:prstGeom prst="ellipse">
            <a:avLst/>
          </a:prstGeom>
          <a:solidFill>
            <a:srgbClr val="23281C"/>
          </a:solidFill>
          <a:ln/>
        </p:spPr>
      </p:sp>
      <p:pic>
        <p:nvPicPr>
          <p:cNvPr id="15" name="Image 1" descr="/home/claude/ppt/icons/crosshairs.png">    </p:cNvPr>
          <p:cNvPicPr>
            <a:picLocks noChangeAspect="1"/>
          </p:cNvPicPr>
          <p:nvPr/>
        </p:nvPicPr>
        <p:blipFill>
          <a:blip r:embed="rId2"/>
          <a:stretch>
            <a:fillRect/>
          </a:stretch>
        </p:blipFill>
        <p:spPr>
          <a:xfrm>
            <a:off x="6523787" y="1860347"/>
            <a:ext cx="311810" cy="311810"/>
          </a:xfrm>
          <a:prstGeom prst="rect">
            <a:avLst/>
          </a:prstGeom>
        </p:spPr>
      </p:pic>
      <p:sp>
        <p:nvSpPr>
          <p:cNvPr id="16" name="Text 12"/>
          <p:cNvSpPr/>
          <p:nvPr/>
        </p:nvSpPr>
        <p:spPr>
          <a:xfrm>
            <a:off x="7086600" y="1627632"/>
            <a:ext cx="4297680" cy="365760"/>
          </a:xfrm>
          <a:prstGeom prst="rect">
            <a:avLst/>
          </a:prstGeom>
          <a:noFill/>
          <a:ln/>
        </p:spPr>
        <p:txBody>
          <a:bodyPr wrap="square" rtlCol="0" anchor="ctr"/>
          <a:lstStyle/>
          <a:p>
            <a:pPr indent="0" marL="0">
              <a:buNone/>
            </a:pPr>
            <a:r>
              <a:rPr lang="en-US" sz="1550" b="1" dirty="0">
                <a:solidFill>
                  <a:srgbClr val="FFFFFF"/>
                </a:solidFill>
                <a:latin typeface="Cambria" pitchFamily="34" charset="0"/>
                <a:ea typeface="Cambria" pitchFamily="34" charset="-122"/>
                <a:cs typeface="Cambria" pitchFamily="34" charset="-120"/>
              </a:rPr>
              <a:t>KARGIL WAR — OPERATION VIJAY</a:t>
            </a:r>
            <a:endParaRPr lang="en-US" sz="1550" dirty="0"/>
          </a:p>
        </p:txBody>
      </p:sp>
      <p:sp>
        <p:nvSpPr>
          <p:cNvPr id="17" name="Text 13"/>
          <p:cNvSpPr/>
          <p:nvPr/>
        </p:nvSpPr>
        <p:spPr>
          <a:xfrm>
            <a:off x="7086600" y="1965960"/>
            <a:ext cx="4297680" cy="320040"/>
          </a:xfrm>
          <a:prstGeom prst="rect">
            <a:avLst/>
          </a:prstGeom>
          <a:noFill/>
          <a:ln/>
        </p:spPr>
        <p:txBody>
          <a:bodyPr wrap="square" rtlCol="0" anchor="ctr"/>
          <a:lstStyle/>
          <a:p>
            <a:pPr indent="0" marL="0">
              <a:buNone/>
            </a:pPr>
            <a:r>
              <a:rPr lang="en-US" sz="1050" i="1" dirty="0">
                <a:solidFill>
                  <a:srgbClr val="EFE8D6"/>
                </a:solidFill>
                <a:latin typeface="Calibri" pitchFamily="34" charset="0"/>
                <a:ea typeface="Calibri" pitchFamily="34" charset="-122"/>
                <a:cs typeface="Calibri" pitchFamily="34" charset="-120"/>
              </a:rPr>
              <a:t>May – July 1999</a:t>
            </a:r>
            <a:endParaRPr lang="en-US" sz="1050" dirty="0"/>
          </a:p>
        </p:txBody>
      </p:sp>
      <p:sp>
        <p:nvSpPr>
          <p:cNvPr id="18" name="Text 14"/>
          <p:cNvSpPr/>
          <p:nvPr/>
        </p:nvSpPr>
        <p:spPr>
          <a:xfrm>
            <a:off x="6464808" y="2606040"/>
            <a:ext cx="4892040" cy="3246120"/>
          </a:xfrm>
          <a:prstGeom prst="rect">
            <a:avLst/>
          </a:prstGeom>
          <a:noFill/>
          <a:ln/>
        </p:spPr>
        <p:txBody>
          <a:bodyPr wrap="square" rtlCol="0" anchor="ctr"/>
          <a:lstStyle/>
          <a:p>
            <a:pPr marL="342900" indent="-342900">
              <a:lnSpc>
                <a:spcPct val="132000"/>
              </a:lnSpc>
              <a:spcAft>
                <a:spcPts val="900"/>
              </a:spcAft>
              <a:buSzPct val="100000"/>
              <a:buChar char="•"/>
            </a:pPr>
            <a:r>
              <a:rPr lang="en-US" sz="1100" dirty="0">
                <a:solidFill>
                  <a:srgbClr val="23281C"/>
                </a:solidFill>
                <a:latin typeface="Calibri" pitchFamily="34" charset="0"/>
                <a:ea typeface="Calibri" pitchFamily="34" charset="-122"/>
                <a:cs typeface="Calibri" pitchFamily="34" charset="-120"/>
              </a:rPr>
              <a:t>Pakistani troops and militants covertly occupied high-altitude posts on the Indian side of the LoC in Kargil</a:t>
            </a:r>
            <a:endParaRPr lang="en-US" sz="1100" dirty="0"/>
          </a:p>
          <a:p>
            <a:pPr marL="342900" indent="-342900">
              <a:lnSpc>
                <a:spcPct val="132000"/>
              </a:lnSpc>
              <a:spcAft>
                <a:spcPts val="900"/>
              </a:spcAft>
              <a:buSzPct val="100000"/>
              <a:buChar char="•"/>
            </a:pPr>
            <a:r>
              <a:rPr lang="en-US" sz="1100" dirty="0">
                <a:solidFill>
                  <a:srgbClr val="23281C"/>
                </a:solidFill>
                <a:latin typeface="Calibri" pitchFamily="34" charset="0"/>
                <a:ea typeface="Calibri" pitchFamily="34" charset="-122"/>
                <a:cs typeface="Calibri" pitchFamily="34" charset="-120"/>
              </a:rPr>
              <a:t>India launched Op Vijay to recapture peaks including Tiger Hill and Tololing</a:t>
            </a:r>
            <a:endParaRPr lang="en-US" sz="1100" dirty="0"/>
          </a:p>
          <a:p>
            <a:pPr marL="342900" indent="-342900">
              <a:lnSpc>
                <a:spcPct val="132000"/>
              </a:lnSpc>
              <a:spcAft>
                <a:spcPts val="900"/>
              </a:spcAft>
              <a:buSzPct val="100000"/>
              <a:buChar char="•"/>
            </a:pPr>
            <a:r>
              <a:rPr lang="en-US" sz="1100" dirty="0">
                <a:solidFill>
                  <a:srgbClr val="23281C"/>
                </a:solidFill>
                <a:latin typeface="Calibri" pitchFamily="34" charset="0"/>
                <a:ea typeface="Calibri" pitchFamily="34" charset="-122"/>
                <a:cs typeface="Calibri" pitchFamily="34" charset="-120"/>
              </a:rPr>
              <a:t>Fought at altitudes up to 18,000 feet — extraordinarily difficult terrain for offensive operations</a:t>
            </a:r>
            <a:endParaRPr lang="en-US" sz="1100" dirty="0"/>
          </a:p>
          <a:p>
            <a:pPr marL="342900" indent="-342900">
              <a:lnSpc>
                <a:spcPct val="132000"/>
              </a:lnSpc>
              <a:spcAft>
                <a:spcPts val="900"/>
              </a:spcAft>
              <a:buSzPct val="100000"/>
              <a:buChar char="•"/>
            </a:pPr>
            <a:r>
              <a:rPr lang="en-US" sz="1100" dirty="0">
                <a:solidFill>
                  <a:srgbClr val="23281C"/>
                </a:solidFill>
                <a:latin typeface="Calibri" pitchFamily="34" charset="0"/>
                <a:ea typeface="Calibri" pitchFamily="34" charset="-122"/>
                <a:cs typeface="Calibri" pitchFamily="34" charset="-120"/>
              </a:rPr>
              <a:t>India declared victory on 26 July 1999, observed annually as Kargil Vijay Diwas</a:t>
            </a:r>
            <a:endParaRPr lang="en-US" sz="1100" dirty="0"/>
          </a:p>
        </p:txBody>
      </p:sp>
      <p:sp>
        <p:nvSpPr>
          <p:cNvPr id="19" name="Text 15"/>
          <p:cNvSpPr/>
          <p:nvPr/>
        </p:nvSpPr>
        <p:spPr>
          <a:xfrm>
            <a:off x="457200" y="6473952"/>
            <a:ext cx="7315200" cy="274320"/>
          </a:xfrm>
          <a:prstGeom prst="rect">
            <a:avLst/>
          </a:prstGeom>
          <a:noFill/>
          <a:ln/>
        </p:spPr>
        <p:txBody>
          <a:bodyPr wrap="square" rtlCol="0" anchor="ctr"/>
          <a:lstStyle/>
          <a:p>
            <a:pPr indent="0" marL="0">
              <a:buNone/>
            </a:pPr>
            <a:r>
              <a:rPr lang="en-US" sz="1000" i="1" dirty="0">
                <a:solidFill>
                  <a:srgbClr val="4A5548"/>
                </a:solidFill>
                <a:latin typeface="Calibri" pitchFamily="34" charset="0"/>
                <a:ea typeface="Calibri" pitchFamily="34" charset="-122"/>
                <a:cs typeface="Calibri" pitchFamily="34" charset="-120"/>
              </a:rPr>
              <a:t>Indian Armed Forces  |  Wars &amp; Conflicts</a:t>
            </a:r>
            <a:endParaRPr lang="en-US" sz="1000" dirty="0"/>
          </a:p>
        </p:txBody>
      </p:sp>
      <p:sp>
        <p:nvSpPr>
          <p:cNvPr id="20" name="Text 16"/>
          <p:cNvSpPr/>
          <p:nvPr/>
        </p:nvSpPr>
        <p:spPr>
          <a:xfrm>
            <a:off x="11274552" y="6473952"/>
            <a:ext cx="457200" cy="274320"/>
          </a:xfrm>
          <a:prstGeom prst="rect">
            <a:avLst/>
          </a:prstGeom>
          <a:noFill/>
          <a:ln/>
        </p:spPr>
        <p:txBody>
          <a:bodyPr wrap="square" rtlCol="0" anchor="ctr"/>
          <a:lstStyle/>
          <a:p>
            <a:pPr algn="r" indent="0" marL="0">
              <a:buNone/>
            </a:pPr>
            <a:r>
              <a:rPr lang="en-US" sz="1000" dirty="0">
                <a:solidFill>
                  <a:srgbClr val="4A5548"/>
                </a:solidFill>
                <a:latin typeface="Calibri" pitchFamily="34" charset="0"/>
                <a:ea typeface="Calibri" pitchFamily="34" charset="-122"/>
                <a:cs typeface="Calibri" pitchFamily="34" charset="-120"/>
              </a:rPr>
              <a:t>17</a:t>
            </a:r>
            <a:endParaRPr lang="en-US" sz="1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1C2618"/>
          </a:solidFill>
          <a:ln/>
        </p:spPr>
      </p:sp>
      <p:sp>
        <p:nvSpPr>
          <p:cNvPr id="3" name="Text 1"/>
          <p:cNvSpPr/>
          <p:nvPr/>
        </p:nvSpPr>
        <p:spPr>
          <a:xfrm>
            <a:off x="566928" y="137160"/>
            <a:ext cx="7315200" cy="274320"/>
          </a:xfrm>
          <a:prstGeom prst="rect">
            <a:avLst/>
          </a:prstGeom>
          <a:noFill/>
          <a:ln/>
        </p:spPr>
        <p:txBody>
          <a:bodyPr wrap="square" rtlCol="0" anchor="ctr"/>
          <a:lstStyle/>
          <a:p>
            <a:pPr indent="0" marL="0">
              <a:buNone/>
            </a:pPr>
            <a:r>
              <a:rPr lang="en-US" sz="1200" b="1" spc="200" kern="0" dirty="0">
                <a:solidFill>
                  <a:srgbClr val="B8912F"/>
                </a:solidFill>
                <a:latin typeface="Calibri" pitchFamily="34" charset="0"/>
                <a:ea typeface="Calibri" pitchFamily="34" charset="-122"/>
                <a:cs typeface="Calibri" pitchFamily="34" charset="-120"/>
              </a:rPr>
              <a:t>MILITARY HISTORY</a:t>
            </a:r>
            <a:endParaRPr lang="en-US" sz="1200" dirty="0"/>
          </a:p>
        </p:txBody>
      </p:sp>
      <p:sp>
        <p:nvSpPr>
          <p:cNvPr id="4" name="Text 2"/>
          <p:cNvSpPr/>
          <p:nvPr/>
        </p:nvSpPr>
        <p:spPr>
          <a:xfrm>
            <a:off x="548640" y="365760"/>
            <a:ext cx="11091672" cy="685800"/>
          </a:xfrm>
          <a:prstGeom prst="rect">
            <a:avLst/>
          </a:prstGeom>
          <a:noFill/>
          <a:ln/>
        </p:spPr>
        <p:txBody>
          <a:bodyPr wrap="square" rtlCol="0" anchor="ctr"/>
          <a:lstStyle/>
          <a:p>
            <a:pPr indent="0" marL="0">
              <a:buNone/>
            </a:pPr>
            <a:r>
              <a:rPr lang="en-US" sz="3000" b="1" dirty="0">
                <a:solidFill>
                  <a:srgbClr val="F7F3E8"/>
                </a:solidFill>
                <a:latin typeface="Cambria" pitchFamily="34" charset="0"/>
                <a:ea typeface="Cambria" pitchFamily="34" charset="-122"/>
                <a:cs typeface="Cambria" pitchFamily="34" charset="-120"/>
              </a:rPr>
              <a:t>Recent Cross-Border Operations</a:t>
            </a:r>
            <a:endParaRPr lang="en-US" sz="3000" dirty="0"/>
          </a:p>
        </p:txBody>
      </p:sp>
      <p:sp>
        <p:nvSpPr>
          <p:cNvPr id="5" name="Text 3"/>
          <p:cNvSpPr/>
          <p:nvPr/>
        </p:nvSpPr>
        <p:spPr>
          <a:xfrm>
            <a:off x="566928" y="960120"/>
            <a:ext cx="10607040" cy="457200"/>
          </a:xfrm>
          <a:prstGeom prst="rect">
            <a:avLst/>
          </a:prstGeom>
          <a:noFill/>
          <a:ln/>
        </p:spPr>
        <p:txBody>
          <a:bodyPr wrap="square" rtlCol="0" anchor="ctr"/>
          <a:lstStyle/>
          <a:p>
            <a:pPr indent="0" marL="0">
              <a:buNone/>
            </a:pPr>
            <a:r>
              <a:rPr lang="en-US" sz="1300" dirty="0">
                <a:solidFill>
                  <a:srgbClr val="C9B896"/>
                </a:solidFill>
                <a:latin typeface="Calibri" pitchFamily="34" charset="0"/>
                <a:ea typeface="Calibri" pitchFamily="34" charset="-122"/>
                <a:cs typeface="Calibri" pitchFamily="34" charset="-120"/>
              </a:rPr>
              <a:t>21st-century flashpoints that tested India's rapid-response and air-power capabilities.</a:t>
            </a:r>
            <a:endParaRPr lang="en-US" sz="1300" dirty="0"/>
          </a:p>
        </p:txBody>
      </p:sp>
      <p:sp>
        <p:nvSpPr>
          <p:cNvPr id="6" name="Shape 4"/>
          <p:cNvSpPr/>
          <p:nvPr/>
        </p:nvSpPr>
        <p:spPr>
          <a:xfrm>
            <a:off x="548640" y="1691640"/>
            <a:ext cx="3520440" cy="4297680"/>
          </a:xfrm>
          <a:prstGeom prst="roundRect">
            <a:avLst>
              <a:gd name="adj" fmla="val 2597"/>
            </a:avLst>
          </a:prstGeom>
          <a:solidFill>
            <a:srgbClr val="26241C"/>
          </a:solidFill>
          <a:ln w="12700">
            <a:solidFill>
              <a:srgbClr val="4A4030"/>
            </a:solidFill>
            <a:prstDash val="solid"/>
          </a:ln>
        </p:spPr>
      </p:sp>
      <p:sp>
        <p:nvSpPr>
          <p:cNvPr id="7" name="Shape 5"/>
          <p:cNvSpPr/>
          <p:nvPr/>
        </p:nvSpPr>
        <p:spPr>
          <a:xfrm>
            <a:off x="1897380" y="1965960"/>
            <a:ext cx="822960" cy="822960"/>
          </a:xfrm>
          <a:prstGeom prst="ellipse">
            <a:avLst/>
          </a:prstGeom>
          <a:solidFill>
            <a:srgbClr val="6B2C2C"/>
          </a:solidFill>
          <a:ln/>
        </p:spPr>
      </p:sp>
      <p:pic>
        <p:nvPicPr>
          <p:cNvPr id="8" name="Image 0" descr="/home/claude/ppt/icons/crosshairs.png">    </p:cNvPr>
          <p:cNvPicPr>
            <a:picLocks noChangeAspect="1"/>
          </p:cNvPicPr>
          <p:nvPr/>
        </p:nvPicPr>
        <p:blipFill>
          <a:blip r:embed="rId1"/>
          <a:stretch>
            <a:fillRect/>
          </a:stretch>
        </p:blipFill>
        <p:spPr>
          <a:xfrm>
            <a:off x="2082546" y="2151126"/>
            <a:ext cx="452628" cy="452628"/>
          </a:xfrm>
          <a:prstGeom prst="rect">
            <a:avLst/>
          </a:prstGeom>
        </p:spPr>
      </p:pic>
      <p:sp>
        <p:nvSpPr>
          <p:cNvPr id="9" name="Text 6"/>
          <p:cNvSpPr/>
          <p:nvPr/>
        </p:nvSpPr>
        <p:spPr>
          <a:xfrm>
            <a:off x="548640" y="2971800"/>
            <a:ext cx="3520440" cy="320040"/>
          </a:xfrm>
          <a:prstGeom prst="rect">
            <a:avLst/>
          </a:prstGeom>
          <a:noFill/>
          <a:ln/>
        </p:spPr>
        <p:txBody>
          <a:bodyPr wrap="square" rtlCol="0" anchor="ctr"/>
          <a:lstStyle/>
          <a:p>
            <a:pPr algn="ctr" indent="0" marL="0">
              <a:buNone/>
            </a:pPr>
            <a:r>
              <a:rPr lang="en-US" sz="1500" b="1" dirty="0">
                <a:solidFill>
                  <a:srgbClr val="B8912F"/>
                </a:solidFill>
                <a:latin typeface="Cambria" pitchFamily="34" charset="0"/>
                <a:ea typeface="Cambria" pitchFamily="34" charset="-122"/>
                <a:cs typeface="Cambria" pitchFamily="34" charset="-120"/>
              </a:rPr>
              <a:t>2016</a:t>
            </a:r>
            <a:endParaRPr lang="en-US" sz="1500" dirty="0"/>
          </a:p>
        </p:txBody>
      </p:sp>
      <p:sp>
        <p:nvSpPr>
          <p:cNvPr id="10" name="Text 7"/>
          <p:cNvSpPr/>
          <p:nvPr/>
        </p:nvSpPr>
        <p:spPr>
          <a:xfrm>
            <a:off x="731520" y="3319272"/>
            <a:ext cx="3154680" cy="502920"/>
          </a:xfrm>
          <a:prstGeom prst="rect">
            <a:avLst/>
          </a:prstGeom>
          <a:noFill/>
          <a:ln/>
        </p:spPr>
        <p:txBody>
          <a:bodyPr wrap="square" rtlCol="0" anchor="ctr"/>
          <a:lstStyle/>
          <a:p>
            <a:pPr algn="ctr" indent="0" marL="0">
              <a:buNone/>
            </a:pPr>
            <a:r>
              <a:rPr lang="en-US" sz="1450" b="1" dirty="0">
                <a:solidFill>
                  <a:srgbClr val="F7F3E8"/>
                </a:solidFill>
                <a:latin typeface="Cambria" pitchFamily="34" charset="0"/>
                <a:ea typeface="Cambria" pitchFamily="34" charset="-122"/>
                <a:cs typeface="Cambria" pitchFamily="34" charset="-120"/>
              </a:rPr>
              <a:t>Surgical Strikes</a:t>
            </a:r>
            <a:endParaRPr lang="en-US" sz="1450" dirty="0"/>
          </a:p>
        </p:txBody>
      </p:sp>
      <p:sp>
        <p:nvSpPr>
          <p:cNvPr id="11" name="Text 8"/>
          <p:cNvSpPr/>
          <p:nvPr/>
        </p:nvSpPr>
        <p:spPr>
          <a:xfrm>
            <a:off x="804672" y="3977640"/>
            <a:ext cx="3017520" cy="1874520"/>
          </a:xfrm>
          <a:prstGeom prst="rect">
            <a:avLst/>
          </a:prstGeom>
          <a:noFill/>
          <a:ln/>
        </p:spPr>
        <p:txBody>
          <a:bodyPr wrap="square" rtlCol="0" anchor="ctr"/>
          <a:lstStyle/>
          <a:p>
            <a:pPr algn="ctr" indent="0" marL="0">
              <a:lnSpc>
                <a:spcPct val="130000"/>
              </a:lnSpc>
              <a:buNone/>
            </a:pPr>
            <a:r>
              <a:rPr lang="en-US" sz="1080" dirty="0">
                <a:solidFill>
                  <a:srgbClr val="C9B896"/>
                </a:solidFill>
                <a:latin typeface="Calibri" pitchFamily="34" charset="0"/>
                <a:ea typeface="Calibri" pitchFamily="34" charset="-122"/>
                <a:cs typeface="Calibri" pitchFamily="34" charset="-120"/>
              </a:rPr>
              <a:t>Indian Army units crossed the LoC to strike militant launch-pads in PoK, following the Uri attack.</a:t>
            </a:r>
            <a:endParaRPr lang="en-US" sz="1080" dirty="0"/>
          </a:p>
        </p:txBody>
      </p:sp>
      <p:sp>
        <p:nvSpPr>
          <p:cNvPr id="12" name="Shape 9"/>
          <p:cNvSpPr/>
          <p:nvPr/>
        </p:nvSpPr>
        <p:spPr>
          <a:xfrm>
            <a:off x="4343400" y="1691640"/>
            <a:ext cx="3520440" cy="4297680"/>
          </a:xfrm>
          <a:prstGeom prst="roundRect">
            <a:avLst>
              <a:gd name="adj" fmla="val 2597"/>
            </a:avLst>
          </a:prstGeom>
          <a:solidFill>
            <a:srgbClr val="26241C"/>
          </a:solidFill>
          <a:ln w="12700">
            <a:solidFill>
              <a:srgbClr val="4A4030"/>
            </a:solidFill>
            <a:prstDash val="solid"/>
          </a:ln>
        </p:spPr>
      </p:sp>
      <p:sp>
        <p:nvSpPr>
          <p:cNvPr id="13" name="Shape 10"/>
          <p:cNvSpPr/>
          <p:nvPr/>
        </p:nvSpPr>
        <p:spPr>
          <a:xfrm>
            <a:off x="5692140" y="1965960"/>
            <a:ext cx="822960" cy="822960"/>
          </a:xfrm>
          <a:prstGeom prst="ellipse">
            <a:avLst/>
          </a:prstGeom>
          <a:solidFill>
            <a:srgbClr val="6B2C2C"/>
          </a:solidFill>
          <a:ln/>
        </p:spPr>
      </p:sp>
      <p:pic>
        <p:nvPicPr>
          <p:cNvPr id="14" name="Image 1" descr="/home/claude/ppt/icons/jet.png">    </p:cNvPr>
          <p:cNvPicPr>
            <a:picLocks noChangeAspect="1"/>
          </p:cNvPicPr>
          <p:nvPr/>
        </p:nvPicPr>
        <p:blipFill>
          <a:blip r:embed="rId2"/>
          <a:stretch>
            <a:fillRect/>
          </a:stretch>
        </p:blipFill>
        <p:spPr>
          <a:xfrm>
            <a:off x="5877306" y="2151126"/>
            <a:ext cx="452628" cy="452628"/>
          </a:xfrm>
          <a:prstGeom prst="rect">
            <a:avLst/>
          </a:prstGeom>
        </p:spPr>
      </p:pic>
      <p:sp>
        <p:nvSpPr>
          <p:cNvPr id="15" name="Text 11"/>
          <p:cNvSpPr/>
          <p:nvPr/>
        </p:nvSpPr>
        <p:spPr>
          <a:xfrm>
            <a:off x="4343400" y="2971800"/>
            <a:ext cx="3520440" cy="320040"/>
          </a:xfrm>
          <a:prstGeom prst="rect">
            <a:avLst/>
          </a:prstGeom>
          <a:noFill/>
          <a:ln/>
        </p:spPr>
        <p:txBody>
          <a:bodyPr wrap="square" rtlCol="0" anchor="ctr"/>
          <a:lstStyle/>
          <a:p>
            <a:pPr algn="ctr" indent="0" marL="0">
              <a:buNone/>
            </a:pPr>
            <a:r>
              <a:rPr lang="en-US" sz="1500" b="1" dirty="0">
                <a:solidFill>
                  <a:srgbClr val="B8912F"/>
                </a:solidFill>
                <a:latin typeface="Cambria" pitchFamily="34" charset="0"/>
                <a:ea typeface="Cambria" pitchFamily="34" charset="-122"/>
                <a:cs typeface="Cambria" pitchFamily="34" charset="-120"/>
              </a:rPr>
              <a:t>2019</a:t>
            </a:r>
            <a:endParaRPr lang="en-US" sz="1500" dirty="0"/>
          </a:p>
        </p:txBody>
      </p:sp>
      <p:sp>
        <p:nvSpPr>
          <p:cNvPr id="16" name="Text 12"/>
          <p:cNvSpPr/>
          <p:nvPr/>
        </p:nvSpPr>
        <p:spPr>
          <a:xfrm>
            <a:off x="4526280" y="3319272"/>
            <a:ext cx="3154680" cy="502920"/>
          </a:xfrm>
          <a:prstGeom prst="rect">
            <a:avLst/>
          </a:prstGeom>
          <a:noFill/>
          <a:ln/>
        </p:spPr>
        <p:txBody>
          <a:bodyPr wrap="square" rtlCol="0" anchor="ctr"/>
          <a:lstStyle/>
          <a:p>
            <a:pPr algn="ctr" indent="0" marL="0">
              <a:buNone/>
            </a:pPr>
            <a:r>
              <a:rPr lang="en-US" sz="1450" b="1" dirty="0">
                <a:solidFill>
                  <a:srgbClr val="F7F3E8"/>
                </a:solidFill>
                <a:latin typeface="Cambria" pitchFamily="34" charset="0"/>
                <a:ea typeface="Cambria" pitchFamily="34" charset="-122"/>
                <a:cs typeface="Cambria" pitchFamily="34" charset="-120"/>
              </a:rPr>
              <a:t>Balakot Airstrike</a:t>
            </a:r>
            <a:endParaRPr lang="en-US" sz="1450" dirty="0"/>
          </a:p>
        </p:txBody>
      </p:sp>
      <p:sp>
        <p:nvSpPr>
          <p:cNvPr id="17" name="Text 13"/>
          <p:cNvSpPr/>
          <p:nvPr/>
        </p:nvSpPr>
        <p:spPr>
          <a:xfrm>
            <a:off x="4599432" y="3977640"/>
            <a:ext cx="3017520" cy="1874520"/>
          </a:xfrm>
          <a:prstGeom prst="rect">
            <a:avLst/>
          </a:prstGeom>
          <a:noFill/>
          <a:ln/>
        </p:spPr>
        <p:txBody>
          <a:bodyPr wrap="square" rtlCol="0" anchor="ctr"/>
          <a:lstStyle/>
          <a:p>
            <a:pPr algn="ctr" indent="0" marL="0">
              <a:lnSpc>
                <a:spcPct val="130000"/>
              </a:lnSpc>
              <a:buNone/>
            </a:pPr>
            <a:r>
              <a:rPr lang="en-US" sz="1080" dirty="0">
                <a:solidFill>
                  <a:srgbClr val="C9B896"/>
                </a:solidFill>
                <a:latin typeface="Calibri" pitchFamily="34" charset="0"/>
                <a:ea typeface="Calibri" pitchFamily="34" charset="-122"/>
                <a:cs typeface="Calibri" pitchFamily="34" charset="-120"/>
              </a:rPr>
              <a:t>IAF Mirage 2000 jets struck a training camp in Balakot, Pakistan, after the Pulwama attack, followed by aerial engagement over Kashmir.</a:t>
            </a:r>
            <a:endParaRPr lang="en-US" sz="1080" dirty="0"/>
          </a:p>
        </p:txBody>
      </p:sp>
      <p:sp>
        <p:nvSpPr>
          <p:cNvPr id="18" name="Shape 14"/>
          <p:cNvSpPr/>
          <p:nvPr/>
        </p:nvSpPr>
        <p:spPr>
          <a:xfrm>
            <a:off x="8138160" y="1691640"/>
            <a:ext cx="3520440" cy="4297680"/>
          </a:xfrm>
          <a:prstGeom prst="roundRect">
            <a:avLst>
              <a:gd name="adj" fmla="val 2597"/>
            </a:avLst>
          </a:prstGeom>
          <a:solidFill>
            <a:srgbClr val="26241C"/>
          </a:solidFill>
          <a:ln w="12700">
            <a:solidFill>
              <a:srgbClr val="4A4030"/>
            </a:solidFill>
            <a:prstDash val="solid"/>
          </a:ln>
        </p:spPr>
      </p:sp>
      <p:sp>
        <p:nvSpPr>
          <p:cNvPr id="19" name="Shape 15"/>
          <p:cNvSpPr/>
          <p:nvPr/>
        </p:nvSpPr>
        <p:spPr>
          <a:xfrm>
            <a:off x="9486900" y="1965960"/>
            <a:ext cx="822960" cy="822960"/>
          </a:xfrm>
          <a:prstGeom prst="ellipse">
            <a:avLst/>
          </a:prstGeom>
          <a:solidFill>
            <a:srgbClr val="6B2C2C"/>
          </a:solidFill>
          <a:ln/>
        </p:spPr>
      </p:sp>
      <p:pic>
        <p:nvPicPr>
          <p:cNvPr id="20" name="Image 2" descr="/home/claude/ppt/icons/mountain.png">    </p:cNvPr>
          <p:cNvPicPr>
            <a:picLocks noChangeAspect="1"/>
          </p:cNvPicPr>
          <p:nvPr/>
        </p:nvPicPr>
        <p:blipFill>
          <a:blip r:embed="rId3"/>
          <a:stretch>
            <a:fillRect/>
          </a:stretch>
        </p:blipFill>
        <p:spPr>
          <a:xfrm>
            <a:off x="9672066" y="2151126"/>
            <a:ext cx="452628" cy="452628"/>
          </a:xfrm>
          <a:prstGeom prst="rect">
            <a:avLst/>
          </a:prstGeom>
        </p:spPr>
      </p:pic>
      <p:sp>
        <p:nvSpPr>
          <p:cNvPr id="21" name="Text 16"/>
          <p:cNvSpPr/>
          <p:nvPr/>
        </p:nvSpPr>
        <p:spPr>
          <a:xfrm>
            <a:off x="8138160" y="2971800"/>
            <a:ext cx="3520440" cy="320040"/>
          </a:xfrm>
          <a:prstGeom prst="rect">
            <a:avLst/>
          </a:prstGeom>
          <a:noFill/>
          <a:ln/>
        </p:spPr>
        <p:txBody>
          <a:bodyPr wrap="square" rtlCol="0" anchor="ctr"/>
          <a:lstStyle/>
          <a:p>
            <a:pPr algn="ctr" indent="0" marL="0">
              <a:buNone/>
            </a:pPr>
            <a:r>
              <a:rPr lang="en-US" sz="1500" b="1" dirty="0">
                <a:solidFill>
                  <a:srgbClr val="B8912F"/>
                </a:solidFill>
                <a:latin typeface="Cambria" pitchFamily="34" charset="0"/>
                <a:ea typeface="Cambria" pitchFamily="34" charset="-122"/>
                <a:cs typeface="Cambria" pitchFamily="34" charset="-120"/>
              </a:rPr>
              <a:t>2020</a:t>
            </a:r>
            <a:endParaRPr lang="en-US" sz="1500" dirty="0"/>
          </a:p>
        </p:txBody>
      </p:sp>
      <p:sp>
        <p:nvSpPr>
          <p:cNvPr id="22" name="Text 17"/>
          <p:cNvSpPr/>
          <p:nvPr/>
        </p:nvSpPr>
        <p:spPr>
          <a:xfrm>
            <a:off x="8321040" y="3319272"/>
            <a:ext cx="3154680" cy="502920"/>
          </a:xfrm>
          <a:prstGeom prst="rect">
            <a:avLst/>
          </a:prstGeom>
          <a:noFill/>
          <a:ln/>
        </p:spPr>
        <p:txBody>
          <a:bodyPr wrap="square" rtlCol="0" anchor="ctr"/>
          <a:lstStyle/>
          <a:p>
            <a:pPr algn="ctr" indent="0" marL="0">
              <a:buNone/>
            </a:pPr>
            <a:r>
              <a:rPr lang="en-US" sz="1450" b="1" dirty="0">
                <a:solidFill>
                  <a:srgbClr val="F7F3E8"/>
                </a:solidFill>
                <a:latin typeface="Cambria" pitchFamily="34" charset="0"/>
                <a:ea typeface="Cambria" pitchFamily="34" charset="-122"/>
                <a:cs typeface="Cambria" pitchFamily="34" charset="-120"/>
              </a:rPr>
              <a:t>Galwan Valley Clash</a:t>
            </a:r>
            <a:endParaRPr lang="en-US" sz="1450" dirty="0"/>
          </a:p>
        </p:txBody>
      </p:sp>
      <p:sp>
        <p:nvSpPr>
          <p:cNvPr id="23" name="Text 18"/>
          <p:cNvSpPr/>
          <p:nvPr/>
        </p:nvSpPr>
        <p:spPr>
          <a:xfrm>
            <a:off x="8394192" y="3977640"/>
            <a:ext cx="3017520" cy="1874520"/>
          </a:xfrm>
          <a:prstGeom prst="rect">
            <a:avLst/>
          </a:prstGeom>
          <a:noFill/>
          <a:ln/>
        </p:spPr>
        <p:txBody>
          <a:bodyPr wrap="square" rtlCol="0" anchor="ctr"/>
          <a:lstStyle/>
          <a:p>
            <a:pPr algn="ctr" indent="0" marL="0">
              <a:lnSpc>
                <a:spcPct val="130000"/>
              </a:lnSpc>
              <a:buNone/>
            </a:pPr>
            <a:r>
              <a:rPr lang="en-US" sz="1080" dirty="0">
                <a:solidFill>
                  <a:srgbClr val="C9B896"/>
                </a:solidFill>
                <a:latin typeface="Calibri" pitchFamily="34" charset="0"/>
                <a:ea typeface="Calibri" pitchFamily="34" charset="-122"/>
                <a:cs typeface="Calibri" pitchFamily="34" charset="-120"/>
              </a:rPr>
              <a:t>A violent hand-to-hand clash with Chinese forces in Ladakh — the first fatal India-China border incident in 45 years.</a:t>
            </a:r>
            <a:endParaRPr lang="en-US" sz="1080" dirty="0"/>
          </a:p>
        </p:txBody>
      </p:sp>
      <p:sp>
        <p:nvSpPr>
          <p:cNvPr id="24" name="Text 19"/>
          <p:cNvSpPr/>
          <p:nvPr/>
        </p:nvSpPr>
        <p:spPr>
          <a:xfrm>
            <a:off x="457200" y="6473952"/>
            <a:ext cx="7315200" cy="274320"/>
          </a:xfrm>
          <a:prstGeom prst="rect">
            <a:avLst/>
          </a:prstGeom>
          <a:noFill/>
          <a:ln/>
        </p:spPr>
        <p:txBody>
          <a:bodyPr wrap="square" rtlCol="0" anchor="ctr"/>
          <a:lstStyle/>
          <a:p>
            <a:pPr indent="0" marL="0">
              <a:buNone/>
            </a:pPr>
            <a:r>
              <a:rPr lang="en-US" sz="1000" i="1" dirty="0">
                <a:solidFill>
                  <a:srgbClr val="C9B896"/>
                </a:solidFill>
                <a:latin typeface="Calibri" pitchFamily="34" charset="0"/>
                <a:ea typeface="Calibri" pitchFamily="34" charset="-122"/>
                <a:cs typeface="Calibri" pitchFamily="34" charset="-120"/>
              </a:rPr>
              <a:t>Indian Armed Forces  |  Wars &amp; Conflicts</a:t>
            </a:r>
            <a:endParaRPr lang="en-US" sz="1000" dirty="0"/>
          </a:p>
        </p:txBody>
      </p:sp>
      <p:sp>
        <p:nvSpPr>
          <p:cNvPr id="25" name="Text 20"/>
          <p:cNvSpPr/>
          <p:nvPr/>
        </p:nvSpPr>
        <p:spPr>
          <a:xfrm>
            <a:off x="11274552" y="6473952"/>
            <a:ext cx="457200" cy="274320"/>
          </a:xfrm>
          <a:prstGeom prst="rect">
            <a:avLst/>
          </a:prstGeom>
          <a:noFill/>
          <a:ln/>
        </p:spPr>
        <p:txBody>
          <a:bodyPr wrap="square" rtlCol="0" anchor="ctr"/>
          <a:lstStyle/>
          <a:p>
            <a:pPr algn="r" indent="0" marL="0">
              <a:buNone/>
            </a:pPr>
            <a:r>
              <a:rPr lang="en-US" sz="1000" dirty="0">
                <a:solidFill>
                  <a:srgbClr val="C9B896"/>
                </a:solidFill>
                <a:latin typeface="Calibri" pitchFamily="34" charset="0"/>
                <a:ea typeface="Calibri" pitchFamily="34" charset="-122"/>
                <a:cs typeface="Calibri" pitchFamily="34" charset="-120"/>
              </a:rPr>
              <a:t>18</a:t>
            </a:r>
            <a:endParaRPr lang="en-US" sz="10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1C2618"/>
          </a:solidFill>
          <a:ln/>
        </p:spPr>
      </p:sp>
      <p:sp>
        <p:nvSpPr>
          <p:cNvPr id="3" name="Shape 1"/>
          <p:cNvSpPr/>
          <p:nvPr/>
        </p:nvSpPr>
        <p:spPr>
          <a:xfrm>
            <a:off x="0" y="0"/>
            <a:ext cx="4206240" cy="6858000"/>
          </a:xfrm>
          <a:prstGeom prst="rect">
            <a:avLst/>
          </a:prstGeom>
          <a:solidFill>
            <a:srgbClr val="2E3B24"/>
          </a:solidFill>
          <a:ln/>
        </p:spPr>
      </p:sp>
      <p:sp>
        <p:nvSpPr>
          <p:cNvPr id="4" name="Shape 2"/>
          <p:cNvSpPr/>
          <p:nvPr/>
        </p:nvSpPr>
        <p:spPr>
          <a:xfrm>
            <a:off x="822960" y="822960"/>
            <a:ext cx="1371600" cy="1371600"/>
          </a:xfrm>
          <a:prstGeom prst="ellipse">
            <a:avLst/>
          </a:prstGeom>
          <a:solidFill>
            <a:srgbClr val="B8912F"/>
          </a:solidFill>
          <a:ln/>
        </p:spPr>
      </p:sp>
      <p:pic>
        <p:nvPicPr>
          <p:cNvPr id="5" name="Image 0" descr="/home/claude/ppt/icons/medal.png">    </p:cNvPr>
          <p:cNvPicPr>
            <a:picLocks noChangeAspect="1"/>
          </p:cNvPicPr>
          <p:nvPr/>
        </p:nvPicPr>
        <p:blipFill>
          <a:blip r:embed="rId1"/>
          <a:stretch>
            <a:fillRect/>
          </a:stretch>
        </p:blipFill>
        <p:spPr>
          <a:xfrm>
            <a:off x="1097280" y="1097280"/>
            <a:ext cx="822960" cy="822960"/>
          </a:xfrm>
          <a:prstGeom prst="rect">
            <a:avLst/>
          </a:prstGeom>
        </p:spPr>
      </p:pic>
      <p:sp>
        <p:nvSpPr>
          <p:cNvPr id="6" name="Text 3"/>
          <p:cNvSpPr/>
          <p:nvPr/>
        </p:nvSpPr>
        <p:spPr>
          <a:xfrm>
            <a:off x="640080" y="2377440"/>
            <a:ext cx="3291840" cy="457200"/>
          </a:xfrm>
          <a:prstGeom prst="rect">
            <a:avLst/>
          </a:prstGeom>
          <a:noFill/>
          <a:ln/>
        </p:spPr>
        <p:txBody>
          <a:bodyPr wrap="square" rtlCol="0" anchor="ctr"/>
          <a:lstStyle/>
          <a:p>
            <a:pPr indent="0" marL="0">
              <a:buNone/>
            </a:pPr>
            <a:r>
              <a:rPr lang="en-US" sz="1800" i="1" dirty="0">
                <a:solidFill>
                  <a:srgbClr val="B8912F"/>
                </a:solidFill>
                <a:latin typeface="Cambria" pitchFamily="34" charset="0"/>
                <a:ea typeface="Cambria" pitchFamily="34" charset="-122"/>
                <a:cs typeface="Cambria" pitchFamily="34" charset="-120"/>
              </a:rPr>
              <a:t>जय हिन्द</a:t>
            </a:r>
            <a:endParaRPr lang="en-US" sz="1800" dirty="0"/>
          </a:p>
        </p:txBody>
      </p:sp>
      <p:sp>
        <p:nvSpPr>
          <p:cNvPr id="7" name="Text 4"/>
          <p:cNvSpPr/>
          <p:nvPr/>
        </p:nvSpPr>
        <p:spPr>
          <a:xfrm>
            <a:off x="640080" y="2834640"/>
            <a:ext cx="3291840" cy="548640"/>
          </a:xfrm>
          <a:prstGeom prst="rect">
            <a:avLst/>
          </a:prstGeom>
          <a:noFill/>
          <a:ln/>
        </p:spPr>
        <p:txBody>
          <a:bodyPr wrap="square" rtlCol="0" anchor="ctr"/>
          <a:lstStyle/>
          <a:p>
            <a:pPr indent="0" marL="0">
              <a:buNone/>
            </a:pPr>
            <a:r>
              <a:rPr lang="en-US" sz="2600" b="1" dirty="0">
                <a:solidFill>
                  <a:srgbClr val="F7F3E8"/>
                </a:solidFill>
                <a:latin typeface="Cambria" pitchFamily="34" charset="0"/>
                <a:ea typeface="Cambria" pitchFamily="34" charset="-122"/>
                <a:cs typeface="Cambria" pitchFamily="34" charset="-120"/>
              </a:rPr>
              <a:t>Jai Hind</a:t>
            </a:r>
            <a:endParaRPr lang="en-US" sz="2600" dirty="0"/>
          </a:p>
        </p:txBody>
      </p:sp>
      <p:sp>
        <p:nvSpPr>
          <p:cNvPr id="8" name="Text 5"/>
          <p:cNvSpPr/>
          <p:nvPr/>
        </p:nvSpPr>
        <p:spPr>
          <a:xfrm>
            <a:off x="640080" y="3429000"/>
            <a:ext cx="3291840" cy="365760"/>
          </a:xfrm>
          <a:prstGeom prst="rect">
            <a:avLst/>
          </a:prstGeom>
          <a:noFill/>
          <a:ln/>
        </p:spPr>
        <p:txBody>
          <a:bodyPr wrap="square" rtlCol="0" anchor="ctr"/>
          <a:lstStyle/>
          <a:p>
            <a:pPr indent="0" marL="0">
              <a:buNone/>
            </a:pPr>
            <a:r>
              <a:rPr lang="en-US" sz="1200" i="1" dirty="0">
                <a:solidFill>
                  <a:srgbClr val="C9B896"/>
                </a:solidFill>
                <a:latin typeface="Calibri" pitchFamily="34" charset="0"/>
                <a:ea typeface="Calibri" pitchFamily="34" charset="-122"/>
                <a:cs typeface="Calibri" pitchFamily="34" charset="-120"/>
              </a:rPr>
              <a:t>Victory to India</a:t>
            </a:r>
            <a:endParaRPr lang="en-US" sz="1200" dirty="0"/>
          </a:p>
        </p:txBody>
      </p:sp>
      <p:sp>
        <p:nvSpPr>
          <p:cNvPr id="9" name="Text 6"/>
          <p:cNvSpPr/>
          <p:nvPr/>
        </p:nvSpPr>
        <p:spPr>
          <a:xfrm>
            <a:off x="4663440" y="502920"/>
            <a:ext cx="6949440" cy="365760"/>
          </a:xfrm>
          <a:prstGeom prst="rect">
            <a:avLst/>
          </a:prstGeom>
          <a:noFill/>
          <a:ln/>
        </p:spPr>
        <p:txBody>
          <a:bodyPr wrap="square" rtlCol="0" anchor="ctr"/>
          <a:lstStyle/>
          <a:p>
            <a:pPr indent="0" marL="0">
              <a:buNone/>
            </a:pPr>
            <a:r>
              <a:rPr lang="en-US" sz="1300" b="1" spc="100" kern="0" dirty="0">
                <a:solidFill>
                  <a:srgbClr val="B8912F"/>
                </a:solidFill>
                <a:latin typeface="Calibri" pitchFamily="34" charset="0"/>
                <a:ea typeface="Calibri" pitchFamily="34" charset="-122"/>
                <a:cs typeface="Calibri" pitchFamily="34" charset="-120"/>
              </a:rPr>
              <a:t>BY THE NUMBERS</a:t>
            </a:r>
            <a:endParaRPr lang="en-US" sz="1300" dirty="0"/>
          </a:p>
        </p:txBody>
      </p:sp>
      <p:sp>
        <p:nvSpPr>
          <p:cNvPr id="10" name="Shape 7"/>
          <p:cNvSpPr/>
          <p:nvPr/>
        </p:nvSpPr>
        <p:spPr>
          <a:xfrm>
            <a:off x="4663440" y="960120"/>
            <a:ext cx="3200400" cy="1188720"/>
          </a:xfrm>
          <a:prstGeom prst="roundRect">
            <a:avLst>
              <a:gd name="adj" fmla="val 6154"/>
            </a:avLst>
          </a:prstGeom>
          <a:solidFill>
            <a:srgbClr val="24331C"/>
          </a:solidFill>
          <a:ln w="12700">
            <a:solidFill>
              <a:srgbClr val="3A4A2E"/>
            </a:solidFill>
            <a:prstDash val="solid"/>
          </a:ln>
        </p:spPr>
      </p:sp>
      <p:sp>
        <p:nvSpPr>
          <p:cNvPr id="11" name="Text 8"/>
          <p:cNvSpPr/>
          <p:nvPr/>
        </p:nvSpPr>
        <p:spPr>
          <a:xfrm>
            <a:off x="4846320" y="1051560"/>
            <a:ext cx="2834640" cy="502920"/>
          </a:xfrm>
          <a:prstGeom prst="rect">
            <a:avLst/>
          </a:prstGeom>
          <a:noFill/>
          <a:ln/>
        </p:spPr>
        <p:txBody>
          <a:bodyPr wrap="square" rtlCol="0" anchor="ctr"/>
          <a:lstStyle/>
          <a:p>
            <a:pPr indent="0" marL="0">
              <a:buNone/>
            </a:pPr>
            <a:r>
              <a:rPr lang="en-US" sz="2600" b="1" dirty="0">
                <a:solidFill>
                  <a:srgbClr val="D9B84F"/>
                </a:solidFill>
                <a:latin typeface="Cambria" pitchFamily="34" charset="0"/>
                <a:ea typeface="Cambria" pitchFamily="34" charset="-122"/>
                <a:cs typeface="Cambria" pitchFamily="34" charset="-120"/>
              </a:rPr>
              <a:t>1.46M+</a:t>
            </a:r>
            <a:endParaRPr lang="en-US" sz="2600" dirty="0"/>
          </a:p>
        </p:txBody>
      </p:sp>
      <p:sp>
        <p:nvSpPr>
          <p:cNvPr id="12" name="Text 9"/>
          <p:cNvSpPr/>
          <p:nvPr/>
        </p:nvSpPr>
        <p:spPr>
          <a:xfrm>
            <a:off x="4846320" y="1581912"/>
            <a:ext cx="2834640" cy="502920"/>
          </a:xfrm>
          <a:prstGeom prst="rect">
            <a:avLst/>
          </a:prstGeom>
          <a:noFill/>
          <a:ln/>
        </p:spPr>
        <p:txBody>
          <a:bodyPr wrap="square" rtlCol="0" anchor="ctr"/>
          <a:lstStyle/>
          <a:p>
            <a:pPr indent="0" marL="0">
              <a:lnSpc>
                <a:spcPct val="115000"/>
              </a:lnSpc>
              <a:buNone/>
            </a:pPr>
            <a:r>
              <a:rPr lang="en-US" sz="1000" dirty="0">
                <a:solidFill>
                  <a:srgbClr val="C9B896"/>
                </a:solidFill>
                <a:latin typeface="Calibri" pitchFamily="34" charset="0"/>
                <a:ea typeface="Calibri" pitchFamily="34" charset="-122"/>
                <a:cs typeface="Calibri" pitchFamily="34" charset="-120"/>
              </a:rPr>
              <a:t>Active-duty personnel across all services</a:t>
            </a:r>
            <a:endParaRPr lang="en-US" sz="1000" dirty="0"/>
          </a:p>
        </p:txBody>
      </p:sp>
      <p:sp>
        <p:nvSpPr>
          <p:cNvPr id="13" name="Shape 10"/>
          <p:cNvSpPr/>
          <p:nvPr/>
        </p:nvSpPr>
        <p:spPr>
          <a:xfrm>
            <a:off x="8092440" y="960120"/>
            <a:ext cx="3200400" cy="1188720"/>
          </a:xfrm>
          <a:prstGeom prst="roundRect">
            <a:avLst>
              <a:gd name="adj" fmla="val 6154"/>
            </a:avLst>
          </a:prstGeom>
          <a:solidFill>
            <a:srgbClr val="24331C"/>
          </a:solidFill>
          <a:ln w="12700">
            <a:solidFill>
              <a:srgbClr val="3A4A2E"/>
            </a:solidFill>
            <a:prstDash val="solid"/>
          </a:ln>
        </p:spPr>
      </p:sp>
      <p:sp>
        <p:nvSpPr>
          <p:cNvPr id="14" name="Text 11"/>
          <p:cNvSpPr/>
          <p:nvPr/>
        </p:nvSpPr>
        <p:spPr>
          <a:xfrm>
            <a:off x="8275320" y="1051560"/>
            <a:ext cx="2834640" cy="502920"/>
          </a:xfrm>
          <a:prstGeom prst="rect">
            <a:avLst/>
          </a:prstGeom>
          <a:noFill/>
          <a:ln/>
        </p:spPr>
        <p:txBody>
          <a:bodyPr wrap="square" rtlCol="0" anchor="ctr"/>
          <a:lstStyle/>
          <a:p>
            <a:pPr indent="0" marL="0">
              <a:buNone/>
            </a:pPr>
            <a:r>
              <a:rPr lang="en-US" sz="2600" b="1" dirty="0">
                <a:solidFill>
                  <a:srgbClr val="D9B84F"/>
                </a:solidFill>
                <a:latin typeface="Cambria" pitchFamily="34" charset="0"/>
                <a:ea typeface="Cambria" pitchFamily="34" charset="-122"/>
                <a:cs typeface="Cambria" pitchFamily="34" charset="-120"/>
              </a:rPr>
              <a:t>2nd</a:t>
            </a:r>
            <a:endParaRPr lang="en-US" sz="2600" dirty="0"/>
          </a:p>
        </p:txBody>
      </p:sp>
      <p:sp>
        <p:nvSpPr>
          <p:cNvPr id="15" name="Text 12"/>
          <p:cNvSpPr/>
          <p:nvPr/>
        </p:nvSpPr>
        <p:spPr>
          <a:xfrm>
            <a:off x="8275320" y="1581912"/>
            <a:ext cx="2834640" cy="502920"/>
          </a:xfrm>
          <a:prstGeom prst="rect">
            <a:avLst/>
          </a:prstGeom>
          <a:noFill/>
          <a:ln/>
        </p:spPr>
        <p:txBody>
          <a:bodyPr wrap="square" rtlCol="0" anchor="ctr"/>
          <a:lstStyle/>
          <a:p>
            <a:pPr indent="0" marL="0">
              <a:lnSpc>
                <a:spcPct val="115000"/>
              </a:lnSpc>
              <a:buNone/>
            </a:pPr>
            <a:r>
              <a:rPr lang="en-US" sz="1000" dirty="0">
                <a:solidFill>
                  <a:srgbClr val="C9B896"/>
                </a:solidFill>
                <a:latin typeface="Calibri" pitchFamily="34" charset="0"/>
                <a:ea typeface="Calibri" pitchFamily="34" charset="-122"/>
                <a:cs typeface="Calibri" pitchFamily="34" charset="-120"/>
              </a:rPr>
              <a:t>Largest standing army in the world</a:t>
            </a:r>
            <a:endParaRPr lang="en-US" sz="1000" dirty="0"/>
          </a:p>
        </p:txBody>
      </p:sp>
      <p:sp>
        <p:nvSpPr>
          <p:cNvPr id="16" name="Shape 13"/>
          <p:cNvSpPr/>
          <p:nvPr/>
        </p:nvSpPr>
        <p:spPr>
          <a:xfrm>
            <a:off x="4663440" y="2377440"/>
            <a:ext cx="3200400" cy="1188720"/>
          </a:xfrm>
          <a:prstGeom prst="roundRect">
            <a:avLst>
              <a:gd name="adj" fmla="val 6154"/>
            </a:avLst>
          </a:prstGeom>
          <a:solidFill>
            <a:srgbClr val="24331C"/>
          </a:solidFill>
          <a:ln w="12700">
            <a:solidFill>
              <a:srgbClr val="3A4A2E"/>
            </a:solidFill>
            <a:prstDash val="solid"/>
          </a:ln>
        </p:spPr>
      </p:sp>
      <p:sp>
        <p:nvSpPr>
          <p:cNvPr id="17" name="Text 14"/>
          <p:cNvSpPr/>
          <p:nvPr/>
        </p:nvSpPr>
        <p:spPr>
          <a:xfrm>
            <a:off x="4846320" y="2468880"/>
            <a:ext cx="2834640" cy="502920"/>
          </a:xfrm>
          <a:prstGeom prst="rect">
            <a:avLst/>
          </a:prstGeom>
          <a:noFill/>
          <a:ln/>
        </p:spPr>
        <p:txBody>
          <a:bodyPr wrap="square" rtlCol="0" anchor="ctr"/>
          <a:lstStyle/>
          <a:p>
            <a:pPr indent="0" marL="0">
              <a:buNone/>
            </a:pPr>
            <a:r>
              <a:rPr lang="en-US" sz="2600" b="1" dirty="0">
                <a:solidFill>
                  <a:srgbClr val="D9B84F"/>
                </a:solidFill>
                <a:latin typeface="Cambria" pitchFamily="34" charset="0"/>
                <a:ea typeface="Cambria" pitchFamily="34" charset="-122"/>
                <a:cs typeface="Cambria" pitchFamily="34" charset="-120"/>
              </a:rPr>
              <a:t>4</a:t>
            </a:r>
            <a:endParaRPr lang="en-US" sz="2600" dirty="0"/>
          </a:p>
        </p:txBody>
      </p:sp>
      <p:sp>
        <p:nvSpPr>
          <p:cNvPr id="18" name="Text 15"/>
          <p:cNvSpPr/>
          <p:nvPr/>
        </p:nvSpPr>
        <p:spPr>
          <a:xfrm>
            <a:off x="4846320" y="2999232"/>
            <a:ext cx="2834640" cy="502920"/>
          </a:xfrm>
          <a:prstGeom prst="rect">
            <a:avLst/>
          </a:prstGeom>
          <a:noFill/>
          <a:ln/>
        </p:spPr>
        <p:txBody>
          <a:bodyPr wrap="square" rtlCol="0" anchor="ctr"/>
          <a:lstStyle/>
          <a:p>
            <a:pPr indent="0" marL="0">
              <a:lnSpc>
                <a:spcPct val="115000"/>
              </a:lnSpc>
              <a:buNone/>
            </a:pPr>
            <a:r>
              <a:rPr lang="en-US" sz="1000" dirty="0">
                <a:solidFill>
                  <a:srgbClr val="C9B896"/>
                </a:solidFill>
                <a:latin typeface="Calibri" pitchFamily="34" charset="0"/>
                <a:ea typeface="Calibri" pitchFamily="34" charset="-122"/>
                <a:cs typeface="Calibri" pitchFamily="34" charset="-120"/>
              </a:rPr>
              <a:t>Highest gallantry award — Param Vir Chakra recipients honoured since 1950</a:t>
            </a:r>
            <a:endParaRPr lang="en-US" sz="1000" dirty="0"/>
          </a:p>
        </p:txBody>
      </p:sp>
      <p:sp>
        <p:nvSpPr>
          <p:cNvPr id="19" name="Shape 16"/>
          <p:cNvSpPr/>
          <p:nvPr/>
        </p:nvSpPr>
        <p:spPr>
          <a:xfrm>
            <a:off x="8092440" y="2377440"/>
            <a:ext cx="3200400" cy="1188720"/>
          </a:xfrm>
          <a:prstGeom prst="roundRect">
            <a:avLst>
              <a:gd name="adj" fmla="val 6154"/>
            </a:avLst>
          </a:prstGeom>
          <a:solidFill>
            <a:srgbClr val="24331C"/>
          </a:solidFill>
          <a:ln w="12700">
            <a:solidFill>
              <a:srgbClr val="3A4A2E"/>
            </a:solidFill>
            <a:prstDash val="solid"/>
          </a:ln>
        </p:spPr>
      </p:sp>
      <p:sp>
        <p:nvSpPr>
          <p:cNvPr id="20" name="Text 17"/>
          <p:cNvSpPr/>
          <p:nvPr/>
        </p:nvSpPr>
        <p:spPr>
          <a:xfrm>
            <a:off x="8275320" y="2468880"/>
            <a:ext cx="2834640" cy="502920"/>
          </a:xfrm>
          <a:prstGeom prst="rect">
            <a:avLst/>
          </a:prstGeom>
          <a:noFill/>
          <a:ln/>
        </p:spPr>
        <p:txBody>
          <a:bodyPr wrap="square" rtlCol="0" anchor="ctr"/>
          <a:lstStyle/>
          <a:p>
            <a:pPr indent="0" marL="0">
              <a:buNone/>
            </a:pPr>
            <a:r>
              <a:rPr lang="en-US" sz="2600" b="1" dirty="0">
                <a:solidFill>
                  <a:srgbClr val="D9B84F"/>
                </a:solidFill>
                <a:latin typeface="Cambria" pitchFamily="34" charset="0"/>
                <a:ea typeface="Cambria" pitchFamily="34" charset="-122"/>
                <a:cs typeface="Cambria" pitchFamily="34" charset="-120"/>
              </a:rPr>
              <a:t>8</a:t>
            </a:r>
            <a:endParaRPr lang="en-US" sz="2600" dirty="0"/>
          </a:p>
        </p:txBody>
      </p:sp>
      <p:sp>
        <p:nvSpPr>
          <p:cNvPr id="21" name="Text 18"/>
          <p:cNvSpPr/>
          <p:nvPr/>
        </p:nvSpPr>
        <p:spPr>
          <a:xfrm>
            <a:off x="8275320" y="2999232"/>
            <a:ext cx="2834640" cy="502920"/>
          </a:xfrm>
          <a:prstGeom prst="rect">
            <a:avLst/>
          </a:prstGeom>
          <a:noFill/>
          <a:ln/>
        </p:spPr>
        <p:txBody>
          <a:bodyPr wrap="square" rtlCol="0" anchor="ctr"/>
          <a:lstStyle/>
          <a:p>
            <a:pPr indent="0" marL="0">
              <a:lnSpc>
                <a:spcPct val="115000"/>
              </a:lnSpc>
              <a:buNone/>
            </a:pPr>
            <a:r>
              <a:rPr lang="en-US" sz="1000" dirty="0">
                <a:solidFill>
                  <a:srgbClr val="C9B896"/>
                </a:solidFill>
                <a:latin typeface="Calibri" pitchFamily="34" charset="0"/>
                <a:ea typeface="Calibri" pitchFamily="34" charset="-122"/>
                <a:cs typeface="Calibri" pitchFamily="34" charset="-120"/>
              </a:rPr>
              <a:t>Major wars &amp; large-scale conflicts fought since 1947</a:t>
            </a:r>
            <a:endParaRPr lang="en-US" sz="1000" dirty="0"/>
          </a:p>
        </p:txBody>
      </p:sp>
      <p:sp>
        <p:nvSpPr>
          <p:cNvPr id="22" name="Shape 19"/>
          <p:cNvSpPr/>
          <p:nvPr/>
        </p:nvSpPr>
        <p:spPr>
          <a:xfrm>
            <a:off x="4663440" y="3977640"/>
            <a:ext cx="6949440" cy="0"/>
          </a:xfrm>
          <a:prstGeom prst="line">
            <a:avLst/>
          </a:prstGeom>
          <a:noFill/>
          <a:ln w="12700">
            <a:solidFill>
              <a:srgbClr val="44532F"/>
            </a:solidFill>
            <a:prstDash val="solid"/>
          </a:ln>
        </p:spPr>
      </p:sp>
      <p:sp>
        <p:nvSpPr>
          <p:cNvPr id="23" name="Text 20"/>
          <p:cNvSpPr/>
          <p:nvPr/>
        </p:nvSpPr>
        <p:spPr>
          <a:xfrm>
            <a:off x="4663440" y="4206240"/>
            <a:ext cx="6949440" cy="1280160"/>
          </a:xfrm>
          <a:prstGeom prst="rect">
            <a:avLst/>
          </a:prstGeom>
          <a:noFill/>
          <a:ln/>
        </p:spPr>
        <p:txBody>
          <a:bodyPr wrap="square" rtlCol="0" anchor="ctr"/>
          <a:lstStyle/>
          <a:p>
            <a:pPr indent="0" marL="0">
              <a:lnSpc>
                <a:spcPct val="135000"/>
              </a:lnSpc>
              <a:buNone/>
            </a:pPr>
            <a:r>
              <a:rPr lang="en-US" sz="1300" i="1" dirty="0">
                <a:solidFill>
                  <a:srgbClr val="F7F3E8"/>
                </a:solidFill>
                <a:latin typeface="Calibri" pitchFamily="34" charset="0"/>
                <a:ea typeface="Calibri" pitchFamily="34" charset="-122"/>
                <a:cs typeface="Calibri" pitchFamily="34" charset="-120"/>
              </a:rPr>
              <a:t>From the icy heights of Siachen to the seas of the Indian Ocean and the skies over the Himalayas, the Indian Armed Forces stand as one of the world's most experienced and battle-tested military institutions.</a:t>
            </a:r>
            <a:endParaRPr lang="en-US" sz="1300" dirty="0"/>
          </a:p>
        </p:txBody>
      </p:sp>
      <p:sp>
        <p:nvSpPr>
          <p:cNvPr id="24" name="Text 21"/>
          <p:cNvSpPr/>
          <p:nvPr/>
        </p:nvSpPr>
        <p:spPr>
          <a:xfrm>
            <a:off x="4663440" y="5806440"/>
            <a:ext cx="4572000" cy="548640"/>
          </a:xfrm>
          <a:prstGeom prst="rect">
            <a:avLst/>
          </a:prstGeom>
          <a:noFill/>
          <a:ln/>
        </p:spPr>
        <p:txBody>
          <a:bodyPr wrap="square" rtlCol="0" anchor="ctr"/>
          <a:lstStyle/>
          <a:p>
            <a:pPr indent="0" marL="0">
              <a:buNone/>
            </a:pPr>
            <a:r>
              <a:rPr lang="en-US" sz="2200" b="1" dirty="0">
                <a:solidFill>
                  <a:srgbClr val="F7F3E8"/>
                </a:solidFill>
                <a:latin typeface="Cambria" pitchFamily="34" charset="0"/>
                <a:ea typeface="Cambria" pitchFamily="34" charset="-122"/>
                <a:cs typeface="Cambria" pitchFamily="34" charset="-120"/>
              </a:rPr>
              <a:t>Thank You</a:t>
            </a:r>
            <a:endParaRPr lang="en-US" sz="2200" dirty="0"/>
          </a:p>
        </p:txBody>
      </p:sp>
      <p:sp>
        <p:nvSpPr>
          <p:cNvPr id="25" name="Text 22"/>
          <p:cNvSpPr/>
          <p:nvPr/>
        </p:nvSpPr>
        <p:spPr>
          <a:xfrm>
            <a:off x="457200" y="6473952"/>
            <a:ext cx="7315200" cy="274320"/>
          </a:xfrm>
          <a:prstGeom prst="rect">
            <a:avLst/>
          </a:prstGeom>
          <a:noFill/>
          <a:ln/>
        </p:spPr>
        <p:txBody>
          <a:bodyPr wrap="square" rtlCol="0" anchor="ctr"/>
          <a:lstStyle/>
          <a:p>
            <a:pPr indent="0" marL="0">
              <a:buNone/>
            </a:pPr>
            <a:r>
              <a:rPr lang="en-US" sz="1000" i="1" dirty="0">
                <a:solidFill>
                  <a:srgbClr val="C9B896"/>
                </a:solidFill>
                <a:latin typeface="Calibri" pitchFamily="34" charset="0"/>
                <a:ea typeface="Calibri" pitchFamily="34" charset="-122"/>
                <a:cs typeface="Calibri" pitchFamily="34" charset="-120"/>
              </a:rPr>
              <a:t>Indian Armed Forces  |  End of Briefing</a:t>
            </a:r>
            <a:endParaRPr lang="en-US" sz="1000" dirty="0"/>
          </a:p>
        </p:txBody>
      </p:sp>
      <p:sp>
        <p:nvSpPr>
          <p:cNvPr id="26" name="Text 23"/>
          <p:cNvSpPr/>
          <p:nvPr/>
        </p:nvSpPr>
        <p:spPr>
          <a:xfrm>
            <a:off x="11274552" y="6473952"/>
            <a:ext cx="457200" cy="274320"/>
          </a:xfrm>
          <a:prstGeom prst="rect">
            <a:avLst/>
          </a:prstGeom>
          <a:noFill/>
          <a:ln/>
        </p:spPr>
        <p:txBody>
          <a:bodyPr wrap="square" rtlCol="0" anchor="ctr"/>
          <a:lstStyle/>
          <a:p>
            <a:pPr algn="r" indent="0" marL="0">
              <a:buNone/>
            </a:pPr>
            <a:r>
              <a:rPr lang="en-US" sz="1000" dirty="0">
                <a:solidFill>
                  <a:srgbClr val="C9B896"/>
                </a:solidFill>
                <a:latin typeface="Calibri" pitchFamily="34" charset="0"/>
                <a:ea typeface="Calibri" pitchFamily="34" charset="-122"/>
                <a:cs typeface="Calibri" pitchFamily="34" charset="-120"/>
              </a:rPr>
              <a:t>19</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19</Slides>
  <Notes>19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vt:i4>
      </vt:variant>
    </vt:vector>
  </HeadingPairs>
  <TitlesOfParts>
    <vt:vector size="2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2026-07-24T04:16:22Z</dcterms:created>
  <dcterms:modified xsi:type="dcterms:W3CDTF">2026-07-24T04:16:22Z</dcterms:modified>
</cp:coreProperties>
</file>